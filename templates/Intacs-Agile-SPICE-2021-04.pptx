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2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</p:sldIdLst>
  <p:sldSz cx="5543994" cy="3996004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8.xml"/><Relationship Id="rId8" Type="http://schemas.openxmlformats.org/officeDocument/2006/relationships/slide" Target="slides/slide7.xml"/><Relationship Id="rId7" Type="http://schemas.openxmlformats.org/officeDocument/2006/relationships/slide" Target="slides/slide6.xml"/><Relationship Id="rId6" Type="http://schemas.openxmlformats.org/officeDocument/2006/relationships/slide" Target="slides/slide5.xml"/><Relationship Id="rId50" Type="http://schemas.openxmlformats.org/officeDocument/2006/relationships/viewProps" Target="viewProps.xml"/><Relationship Id="rId5" Type="http://schemas.openxmlformats.org/officeDocument/2006/relationships/slide" Target="slides/slide4.xml"/><Relationship Id="rId49" Type="http://schemas.openxmlformats.org/officeDocument/2006/relationships/tableStyles" Target="tableStyles.xml"/><Relationship Id="rId48" Type="http://schemas.openxmlformats.org/officeDocument/2006/relationships/presProps" Target="presProps.xml"/><Relationship Id="rId47" Type="http://schemas.openxmlformats.org/officeDocument/2006/relationships/slide" Target="slides/slide46.xml"/><Relationship Id="rId46" Type="http://schemas.openxmlformats.org/officeDocument/2006/relationships/slide" Target="slides/slide45.xml"/><Relationship Id="rId45" Type="http://schemas.openxmlformats.org/officeDocument/2006/relationships/slide" Target="slides/slide44.xml"/><Relationship Id="rId44" Type="http://schemas.openxmlformats.org/officeDocument/2006/relationships/slide" Target="slides/slide43.xml"/><Relationship Id="rId43" Type="http://schemas.openxmlformats.org/officeDocument/2006/relationships/slide" Target="slides/slide42.xml"/><Relationship Id="rId42" Type="http://schemas.openxmlformats.org/officeDocument/2006/relationships/slide" Target="slides/slide41.xml"/><Relationship Id="rId41" Type="http://schemas.openxmlformats.org/officeDocument/2006/relationships/slide" Target="slides/slide40.xml"/><Relationship Id="rId40" Type="http://schemas.openxmlformats.org/officeDocument/2006/relationships/slide" Target="slides/slide39.xml"/><Relationship Id="rId4" Type="http://schemas.openxmlformats.org/officeDocument/2006/relationships/slide" Target="slides/slide3.xml"/><Relationship Id="rId39" Type="http://schemas.openxmlformats.org/officeDocument/2006/relationships/slide" Target="slides/slide38.xml"/><Relationship Id="rId38" Type="http://schemas.openxmlformats.org/officeDocument/2006/relationships/slide" Target="slides/slide37.xml"/><Relationship Id="rId37" Type="http://schemas.openxmlformats.org/officeDocument/2006/relationships/slide" Target="slides/slide36.xml"/><Relationship Id="rId36" Type="http://schemas.openxmlformats.org/officeDocument/2006/relationships/slide" Target="slides/slide35.xml"/><Relationship Id="rId35" Type="http://schemas.openxmlformats.org/officeDocument/2006/relationships/slide" Target="slides/slide34.xml"/><Relationship Id="rId34" Type="http://schemas.openxmlformats.org/officeDocument/2006/relationships/slide" Target="slides/slide33.xml"/><Relationship Id="rId33" Type="http://schemas.openxmlformats.org/officeDocument/2006/relationships/slide" Target="slides/slide32.xml"/><Relationship Id="rId32" Type="http://schemas.openxmlformats.org/officeDocument/2006/relationships/slide" Target="slides/slide31.xml"/><Relationship Id="rId31" Type="http://schemas.openxmlformats.org/officeDocument/2006/relationships/slide" Target="slides/slide30.xml"/><Relationship Id="rId30" Type="http://schemas.openxmlformats.org/officeDocument/2006/relationships/slide" Target="slides/slide29.xml"/><Relationship Id="rId3" Type="http://schemas.openxmlformats.org/officeDocument/2006/relationships/slide" Target="slides/slide2.xml"/><Relationship Id="rId29" Type="http://schemas.openxmlformats.org/officeDocument/2006/relationships/slide" Target="slides/slide28.xml"/><Relationship Id="rId28" Type="http://schemas.openxmlformats.org/officeDocument/2006/relationships/slide" Target="slides/slide27.xml"/><Relationship Id="rId27" Type="http://schemas.openxmlformats.org/officeDocument/2006/relationships/slide" Target="slides/slide26.xml"/><Relationship Id="rId26" Type="http://schemas.openxmlformats.org/officeDocument/2006/relationships/slide" Target="slides/slide25.xml"/><Relationship Id="rId25" Type="http://schemas.openxmlformats.org/officeDocument/2006/relationships/slide" Target="slides/slide24.xml"/><Relationship Id="rId24" Type="http://schemas.openxmlformats.org/officeDocument/2006/relationships/slide" Target="slides/slide23.xml"/><Relationship Id="rId23" Type="http://schemas.openxmlformats.org/officeDocument/2006/relationships/slide" Target="slides/slide22.xml"/><Relationship Id="rId22" Type="http://schemas.openxmlformats.org/officeDocument/2006/relationships/slide" Target="slides/slide21.xml"/><Relationship Id="rId21" Type="http://schemas.openxmlformats.org/officeDocument/2006/relationships/slide" Target="slides/slide20.xml"/><Relationship Id="rId20" Type="http://schemas.openxmlformats.org/officeDocument/2006/relationships/slide" Target="slides/slide19.xml"/><Relationship Id="rId2" Type="http://schemas.openxmlformats.org/officeDocument/2006/relationships/slide" Target="slides/slide1.xml"/><Relationship Id="rId19" Type="http://schemas.openxmlformats.org/officeDocument/2006/relationships/slide" Target="slides/slide18.xml"/><Relationship Id="rId18" Type="http://schemas.openxmlformats.org/officeDocument/2006/relationships/slide" Target="slides/slide17.xml"/><Relationship Id="rId17" Type="http://schemas.openxmlformats.org/officeDocument/2006/relationships/slide" Target="slides/slide16.xml"/><Relationship Id="rId16" Type="http://schemas.openxmlformats.org/officeDocument/2006/relationships/slide" Target="slides/slide15.xml"/><Relationship Id="rId15" Type="http://schemas.openxmlformats.org/officeDocument/2006/relationships/slide" Target="slides/slide14.xml"/><Relationship Id="rId14" Type="http://schemas.openxmlformats.org/officeDocument/2006/relationships/slide" Target="slides/slide13.xml"/><Relationship Id="rId13" Type="http://schemas.openxmlformats.org/officeDocument/2006/relationships/slide" Target="slides/slide12.xml"/><Relationship Id="rId12" Type="http://schemas.openxmlformats.org/officeDocument/2006/relationships/slide" Target="slides/slide11.xml"/><Relationship Id="rId11" Type="http://schemas.openxmlformats.org/officeDocument/2006/relationships/slide" Target="slides/slide10.xml"/><Relationship Id="rId10" Type="http://schemas.openxmlformats.org/officeDocument/2006/relationships/slide" Target="slides/slide9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image" Target="../media/image8.png"/><Relationship Id="rId8" Type="http://schemas.openxmlformats.org/officeDocument/2006/relationships/image" Target="../media/image7.png"/><Relationship Id="rId7" Type="http://schemas.openxmlformats.org/officeDocument/2006/relationships/image" Target="../media/image6.png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0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6" Type="http://schemas.openxmlformats.org/officeDocument/2006/relationships/hyperlink" Target="http://agilemanifesto.org/principles.html" TargetMode="External"/><Relationship Id="rId5" Type="http://schemas.openxmlformats.org/officeDocument/2006/relationships/hyperlink" Target="http://www.automotivespice.com/fileadmin/software.download/AutomotiveSPICE_PAM_31.pdf" TargetMode="External"/><Relationship Id="rId4" Type="http://schemas.openxmlformats.org/officeDocument/2006/relationships/hyperlink" Target="https://www.intacs.info/index.php/download.forms/download.directory/newsletter/465.white.paper.spice.and.agile/file" TargetMode="External"/><Relationship Id="rId3" Type="http://schemas.openxmlformats.org/officeDocument/2006/relationships/hyperlink" Target="christian.hertneck@kuglermaag.com" TargetMode="External"/><Relationship Id="rId2" Type="http://schemas.openxmlformats.org/officeDocument/2006/relationships/hyperlink" Target="christian.knuevener@knuevenermackert.com" TargetMode="Externa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9" Type="http://schemas.openxmlformats.org/officeDocument/2006/relationships/hyperlink" Target="byintacs.info" TargetMode="External"/><Relationship Id="rId8" Type="http://schemas.openxmlformats.org/officeDocument/2006/relationships/hyperlink" Target="https://www.ecqa.org" TargetMode="External"/><Relationship Id="rId7" Type="http://schemas.openxmlformats.org/officeDocument/2006/relationships/hyperlink" Target="info@ecqa.org" TargetMode="External"/><Relationship Id="rId6" Type="http://schemas.openxmlformats.org/officeDocument/2006/relationships/hyperlink" Target="https://www.vda-qmc.de" TargetMode="External"/><Relationship Id="rId5" Type="http://schemas.openxmlformats.org/officeDocument/2006/relationships/hyperlink" Target="info@vda-qmc.de" TargetMode="External"/><Relationship Id="rId4" Type="http://schemas.openxmlformats.org/officeDocument/2006/relationships/image" Target="../media/image37.jpeg"/><Relationship Id="rId3" Type="http://schemas.openxmlformats.org/officeDocument/2006/relationships/hyperlink" Target="office@intacs.info" TargetMode="External"/><Relationship Id="rId2" Type="http://schemas.openxmlformats.org/officeDocument/2006/relationships/hyperlink" Target="https://www.intacs.info" TargetMode="External"/><Relationship Id="rId15" Type="http://schemas.openxmlformats.org/officeDocument/2006/relationships/image" Target="../media/image42.png"/><Relationship Id="rId14" Type="http://schemas.openxmlformats.org/officeDocument/2006/relationships/image" Target="../media/image41.png"/><Relationship Id="rId13" Type="http://schemas.openxmlformats.org/officeDocument/2006/relationships/image" Target="../media/image40.png"/><Relationship Id="rId12" Type="http://schemas.openxmlformats.org/officeDocument/2006/relationships/image" Target="../media/image39.png"/><Relationship Id="rId11" Type="http://schemas.openxmlformats.org/officeDocument/2006/relationships/image" Target="../media/image38.png"/><Relationship Id="rId10" Type="http://schemas.openxmlformats.org/officeDocument/2006/relationships/hyperlink" Target="Layout:SerifeKittelberger-www.lavora.de" TargetMode="Externa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/>
          <p:nvPr/>
        </p:nvSpPr>
        <p:spPr>
          <a:xfrm>
            <a:off x="275287" y="383304"/>
            <a:ext cx="2527300" cy="340931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07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5240" algn="l" rtl="0" eaLnBrk="0">
              <a:lnSpc>
                <a:spcPct val="76000"/>
              </a:lnSpc>
              <a:tabLst/>
            </a:pPr>
            <a:r>
              <a:rPr sz="1100" b="1" kern="0" spc="5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TABLE OF</a:t>
            </a:r>
            <a:r>
              <a:rPr sz="1100" b="1" kern="0" spc="6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1100" b="1" kern="0" spc="5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C</a:t>
            </a:r>
            <a:r>
              <a:rPr sz="1100" b="1" kern="0" spc="4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ONTENTS</a:t>
            </a:r>
            <a:endParaRPr sz="1100" dirty="0">
              <a:latin typeface="Arial Narrow"/>
              <a:ea typeface="Arial Narrow"/>
              <a:cs typeface="Arial Narrow"/>
            </a:endParaRPr>
          </a:p>
          <a:p>
            <a:pPr marL="19685" algn="l" rtl="0" eaLnBrk="0">
              <a:lnSpc>
                <a:spcPct val="83000"/>
              </a:lnSpc>
              <a:spcBef>
                <a:spcPts val="847"/>
              </a:spcBef>
              <a:tabLst/>
            </a:pPr>
            <a:r>
              <a:rPr sz="900" b="1" kern="0" spc="1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How to</a:t>
            </a:r>
            <a:r>
              <a:rPr sz="900" b="1" kern="0" spc="15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900" b="1" kern="0" spc="1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use this</a:t>
            </a:r>
            <a:r>
              <a:rPr sz="900" b="1" kern="0" spc="6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900" b="1" kern="0" spc="1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booklet</a:t>
            </a:r>
            <a:endParaRPr sz="900" dirty="0">
              <a:latin typeface="Arial Narrow"/>
              <a:ea typeface="Arial Narrow"/>
              <a:cs typeface="Arial Narrow"/>
            </a:endParaRPr>
          </a:p>
          <a:p>
            <a:pPr marL="12700" algn="l" rtl="0" eaLnBrk="0">
              <a:lnSpc>
                <a:spcPct val="142000"/>
              </a:lnSpc>
              <a:spcBef>
                <a:spcPts val="156"/>
              </a:spcBef>
              <a:tabLst/>
            </a:pPr>
            <a:r>
              <a:rPr sz="900" b="1" kern="0" spc="2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Agile SPICE™</a:t>
            </a:r>
            <a:r>
              <a:rPr sz="900" b="1" kern="0" spc="12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900" b="1" kern="0" spc="2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is a bridge to Automotive SPICE™</a:t>
            </a:r>
            <a:r>
              <a:rPr sz="900" b="1" kern="0" spc="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    </a:t>
            </a:r>
            <a:r>
              <a:rPr sz="900" b="1" kern="0" spc="2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Why Agile SPICE?</a:t>
            </a:r>
            <a:endParaRPr sz="900" dirty="0">
              <a:latin typeface="Arial Narrow"/>
              <a:ea typeface="Arial Narrow"/>
              <a:cs typeface="Arial Narrow"/>
            </a:endParaRPr>
          </a:p>
          <a:p>
            <a:pPr marL="12700" algn="l" rtl="0" eaLnBrk="0">
              <a:lnSpc>
                <a:spcPct val="83000"/>
              </a:lnSpc>
              <a:spcBef>
                <a:spcPts val="679"/>
              </a:spcBef>
              <a:tabLst/>
            </a:pPr>
            <a:r>
              <a:rPr sz="900" b="1" kern="0" spc="2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Agile SPICE Assumptions</a:t>
            </a:r>
            <a:endParaRPr sz="900" dirty="0">
              <a:latin typeface="Arial Narrow"/>
              <a:ea typeface="Arial Narrow"/>
              <a:cs typeface="Arial Narrow"/>
            </a:endParaRPr>
          </a:p>
          <a:p>
            <a:pPr marL="12700" algn="l" rtl="0" eaLnBrk="0">
              <a:lnSpc>
                <a:spcPct val="83000"/>
              </a:lnSpc>
              <a:spcBef>
                <a:spcPts val="702"/>
              </a:spcBef>
              <a:tabLst/>
            </a:pPr>
            <a:r>
              <a:rPr sz="900" b="1" kern="0" spc="2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Agile</a:t>
            </a:r>
            <a:r>
              <a:rPr sz="900" b="1" kern="0" spc="6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900" b="1" kern="0" spc="2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Principles for</a:t>
            </a:r>
            <a:r>
              <a:rPr sz="900" b="1" kern="0" spc="-2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900" b="1" kern="0" spc="2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Automotive</a:t>
            </a:r>
            <a:endParaRPr sz="900" dirty="0">
              <a:latin typeface="Arial Narrow"/>
              <a:ea typeface="Arial Narrow"/>
              <a:cs typeface="Arial Narrow"/>
            </a:endParaRPr>
          </a:p>
          <a:p>
            <a:pPr marL="12700" algn="l" rtl="0" eaLnBrk="0">
              <a:lnSpc>
                <a:spcPct val="83000"/>
              </a:lnSpc>
              <a:spcBef>
                <a:spcPts val="698"/>
              </a:spcBef>
              <a:tabLst/>
            </a:pPr>
            <a:r>
              <a:rPr sz="900" b="1" kern="0" spc="2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Agile Work</a:t>
            </a:r>
            <a:r>
              <a:rPr sz="900" b="1" kern="0" spc="11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900" b="1" kern="0" spc="2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Management – Assumptions</a:t>
            </a:r>
            <a:endParaRPr sz="900" dirty="0">
              <a:latin typeface="Arial Narrow"/>
              <a:ea typeface="Arial Narrow"/>
              <a:cs typeface="Arial Narrow"/>
            </a:endParaRPr>
          </a:p>
          <a:p>
            <a:pPr marL="12700" algn="l" rtl="0" eaLnBrk="0">
              <a:lnSpc>
                <a:spcPts val="1598"/>
              </a:lnSpc>
              <a:tabLst/>
            </a:pPr>
            <a:r>
              <a:rPr sz="900" b="1" kern="0" spc="2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Agile SPICE™</a:t>
            </a:r>
            <a:endParaRPr sz="900" dirty="0">
              <a:latin typeface="Arial Narrow"/>
              <a:ea typeface="Arial Narrow"/>
              <a:cs typeface="Arial Narrow"/>
            </a:endParaRPr>
          </a:p>
          <a:p>
            <a:pPr marL="270510" algn="l" rtl="0" eaLnBrk="0">
              <a:lnSpc>
                <a:spcPct val="83000"/>
              </a:lnSpc>
              <a:spcBef>
                <a:spcPts val="705"/>
              </a:spcBef>
              <a:tabLst/>
            </a:pPr>
            <a:r>
              <a:rPr sz="900" kern="0" spc="2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AGL.1</a:t>
            </a:r>
            <a:r>
              <a:rPr sz="900" kern="0" spc="-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900" kern="0" spc="2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Agile Work</a:t>
            </a:r>
            <a:r>
              <a:rPr sz="900" kern="0" spc="8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900" kern="0" spc="2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Management</a:t>
            </a:r>
            <a:endParaRPr sz="900" dirty="0">
              <a:latin typeface="Arial Narrow"/>
              <a:ea typeface="Arial Narrow"/>
              <a:cs typeface="Arial Narrow"/>
            </a:endParaRPr>
          </a:p>
          <a:p>
            <a:pPr marL="278130" algn="l" rtl="0" eaLnBrk="0">
              <a:lnSpc>
                <a:spcPct val="83000"/>
              </a:lnSpc>
              <a:spcBef>
                <a:spcPts val="698"/>
              </a:spcBef>
              <a:tabLst/>
            </a:pPr>
            <a:r>
              <a:rPr sz="900" kern="0" spc="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Base</a:t>
            </a:r>
            <a:r>
              <a:rPr sz="900" kern="0" spc="7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900" kern="0" spc="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practices</a:t>
            </a:r>
            <a:r>
              <a:rPr sz="900" kern="0" spc="7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900" kern="0" spc="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BP</a:t>
            </a:r>
            <a:r>
              <a:rPr sz="9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1 -</a:t>
            </a:r>
            <a:r>
              <a:rPr sz="900" kern="0" spc="8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900" kern="0" spc="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BP</a:t>
            </a:r>
            <a:r>
              <a:rPr sz="9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11</a:t>
            </a:r>
            <a:endParaRPr sz="900" dirty="0">
              <a:latin typeface="Arial Narrow"/>
              <a:ea typeface="Arial Narrow"/>
              <a:cs typeface="Arial Narrow"/>
            </a:endParaRPr>
          </a:p>
          <a:p>
            <a:pPr marL="277495" indent="-6985" algn="l" rtl="0" eaLnBrk="0">
              <a:lnSpc>
                <a:spcPct val="143000"/>
              </a:lnSpc>
              <a:spcBef>
                <a:spcPts val="145"/>
              </a:spcBef>
              <a:tabLst/>
            </a:pPr>
            <a:r>
              <a:rPr sz="900" kern="0" spc="2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AGL.2</a:t>
            </a:r>
            <a:r>
              <a:rPr sz="900" kern="0" spc="6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900" kern="0" spc="2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Partner Collaboration</a:t>
            </a:r>
            <a:r>
              <a:rPr sz="900" kern="0" spc="8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900" kern="0" spc="2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Man</a:t>
            </a:r>
            <a:r>
              <a:rPr sz="900" kern="0" spc="1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agement</a:t>
            </a:r>
            <a:r>
              <a:rPr sz="900" kern="0" spc="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             </a:t>
            </a:r>
            <a:r>
              <a:rPr sz="900" kern="0" spc="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Base</a:t>
            </a:r>
            <a:r>
              <a:rPr sz="900" kern="0" spc="7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900" kern="0" spc="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practices</a:t>
            </a:r>
            <a:r>
              <a:rPr sz="900" kern="0" spc="7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900" kern="0" spc="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BP</a:t>
            </a:r>
            <a:r>
              <a:rPr sz="9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1 -</a:t>
            </a:r>
            <a:r>
              <a:rPr sz="900" kern="0" spc="8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900" kern="0" spc="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BP</a:t>
            </a:r>
            <a:r>
              <a:rPr sz="9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11</a:t>
            </a:r>
            <a:endParaRPr sz="900" dirty="0">
              <a:latin typeface="Arial Narrow"/>
              <a:ea typeface="Arial Narrow"/>
              <a:cs typeface="Arial Narrow"/>
            </a:endParaRPr>
          </a:p>
          <a:p>
            <a:pPr marL="270510" algn="l" rtl="0" eaLnBrk="0">
              <a:lnSpc>
                <a:spcPct val="83000"/>
              </a:lnSpc>
              <a:spcBef>
                <a:spcPts val="668"/>
              </a:spcBef>
              <a:tabLst/>
            </a:pPr>
            <a:r>
              <a:rPr sz="900" kern="0" spc="2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AGL.3</a:t>
            </a:r>
            <a:r>
              <a:rPr sz="900" kern="0" spc="-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900" kern="0" spc="2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Agile Quality</a:t>
            </a:r>
            <a:r>
              <a:rPr sz="900" kern="0" spc="-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900" kern="0" spc="2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Assurance</a:t>
            </a:r>
            <a:endParaRPr sz="900" dirty="0">
              <a:latin typeface="Arial Narrow"/>
              <a:ea typeface="Arial Narrow"/>
              <a:cs typeface="Arial Narrow"/>
            </a:endParaRPr>
          </a:p>
          <a:p>
            <a:pPr marL="278130" algn="l" rtl="0" eaLnBrk="0">
              <a:lnSpc>
                <a:spcPct val="83000"/>
              </a:lnSpc>
              <a:spcBef>
                <a:spcPts val="698"/>
              </a:spcBef>
              <a:tabLst/>
            </a:pPr>
            <a:r>
              <a:rPr sz="900" kern="0" spc="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Base</a:t>
            </a:r>
            <a:r>
              <a:rPr sz="900" kern="0" spc="7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900" kern="0" spc="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practices</a:t>
            </a:r>
            <a:r>
              <a:rPr sz="900" kern="0" spc="7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900" kern="0" spc="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BP</a:t>
            </a:r>
            <a:r>
              <a:rPr sz="9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1 -</a:t>
            </a:r>
            <a:r>
              <a:rPr sz="900" kern="0" spc="8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900" kern="0" spc="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BP</a:t>
            </a:r>
            <a:r>
              <a:rPr sz="9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11</a:t>
            </a:r>
            <a:endParaRPr sz="900" dirty="0">
              <a:latin typeface="Arial Narrow"/>
              <a:ea typeface="Arial Narrow"/>
              <a:cs typeface="Arial Narrow"/>
            </a:endParaRPr>
          </a:p>
          <a:p>
            <a:pPr marL="19050" algn="l" rtl="0" eaLnBrk="0">
              <a:lnSpc>
                <a:spcPct val="83000"/>
              </a:lnSpc>
              <a:spcBef>
                <a:spcPts val="702"/>
              </a:spcBef>
              <a:tabLst/>
            </a:pPr>
            <a:r>
              <a:rPr sz="900" b="1" kern="0" spc="2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Intacs™ working group Agile SPICE™</a:t>
            </a:r>
            <a:endParaRPr sz="900" dirty="0">
              <a:latin typeface="Arial Narrow"/>
              <a:ea typeface="Arial Narrow"/>
              <a:cs typeface="Arial Narrow"/>
            </a:endParaRPr>
          </a:p>
          <a:p>
            <a:pPr marL="12700" algn="l" rtl="0" eaLnBrk="0">
              <a:lnSpc>
                <a:spcPts val="1598"/>
              </a:lnSpc>
              <a:tabLst/>
            </a:pPr>
            <a:r>
              <a:rPr sz="900" b="1" kern="0" spc="2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About</a:t>
            </a:r>
            <a:r>
              <a:rPr sz="900" b="1" kern="0" spc="7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900" b="1" kern="0" spc="2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intac</a:t>
            </a:r>
            <a:r>
              <a:rPr sz="900" b="1" kern="0" spc="1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s™</a:t>
            </a:r>
            <a:endParaRPr sz="900" dirty="0">
              <a:latin typeface="Arial Narrow"/>
              <a:ea typeface="Arial Narrow"/>
              <a:cs typeface="Arial Narrow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800" dirty="0">
              <a:latin typeface="Arial"/>
              <a:ea typeface="Arial"/>
              <a:cs typeface="Arial"/>
            </a:endParaRPr>
          </a:p>
          <a:p>
            <a:pPr marL="2481580" algn="l" rtl="0" eaLnBrk="0">
              <a:lnSpc>
                <a:spcPct val="94000"/>
              </a:lnSpc>
              <a:spcBef>
                <a:spcPts val="6"/>
              </a:spcBef>
              <a:tabLst/>
            </a:pPr>
            <a:r>
              <a:rPr sz="500" b="1" kern="0" spc="1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3</a:t>
            </a:r>
            <a:endParaRPr sz="500" dirty="0">
              <a:latin typeface="Arial Narrow"/>
              <a:ea typeface="Arial Narrow"/>
              <a:cs typeface="Arial Narrow"/>
            </a:endParaRPr>
          </a:p>
        </p:txBody>
      </p:sp>
      <p:sp>
        <p:nvSpPr>
          <p:cNvPr id="4" name="textbox 4"/>
          <p:cNvSpPr/>
          <p:nvPr/>
        </p:nvSpPr>
        <p:spPr>
          <a:xfrm>
            <a:off x="3540993" y="617312"/>
            <a:ext cx="334010" cy="29806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95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5240" algn="l" rtl="0" eaLnBrk="0">
              <a:lnSpc>
                <a:spcPct val="83000"/>
              </a:lnSpc>
              <a:tabLst/>
            </a:pPr>
            <a:r>
              <a:rPr sz="900" b="1" kern="0" spc="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04</a:t>
            </a:r>
            <a:endParaRPr sz="900" dirty="0">
              <a:latin typeface="Arial Narrow"/>
              <a:ea typeface="Arial Narrow"/>
              <a:cs typeface="Arial Narrow"/>
            </a:endParaRPr>
          </a:p>
          <a:p>
            <a:pPr marL="15240" algn="l" rtl="0" eaLnBrk="0">
              <a:lnSpc>
                <a:spcPct val="83000"/>
              </a:lnSpc>
              <a:spcBef>
                <a:spcPts val="702"/>
              </a:spcBef>
              <a:tabLst/>
            </a:pPr>
            <a:r>
              <a:rPr sz="900" b="1" kern="0" spc="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05</a:t>
            </a:r>
            <a:endParaRPr sz="900" dirty="0">
              <a:latin typeface="Arial Narrow"/>
              <a:ea typeface="Arial Narrow"/>
              <a:cs typeface="Arial Narrow"/>
            </a:endParaRPr>
          </a:p>
          <a:p>
            <a:pPr marL="15240" algn="l" rtl="0" eaLnBrk="0">
              <a:lnSpc>
                <a:spcPct val="83000"/>
              </a:lnSpc>
              <a:spcBef>
                <a:spcPts val="702"/>
              </a:spcBef>
              <a:tabLst/>
            </a:pPr>
            <a:r>
              <a:rPr sz="900" b="1" kern="0" spc="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06</a:t>
            </a:r>
            <a:endParaRPr sz="900" dirty="0">
              <a:latin typeface="Arial Narrow"/>
              <a:ea typeface="Arial Narrow"/>
              <a:cs typeface="Arial Narrow"/>
            </a:endParaRPr>
          </a:p>
          <a:p>
            <a:pPr marL="15240" algn="l" rtl="0" eaLnBrk="0">
              <a:lnSpc>
                <a:spcPct val="83000"/>
              </a:lnSpc>
              <a:spcBef>
                <a:spcPts val="702"/>
              </a:spcBef>
              <a:tabLst/>
            </a:pPr>
            <a:r>
              <a:rPr sz="900" b="1" kern="0" spc="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07</a:t>
            </a:r>
            <a:endParaRPr sz="900" dirty="0">
              <a:latin typeface="Arial Narrow"/>
              <a:ea typeface="Arial Narrow"/>
              <a:cs typeface="Arial Narrow"/>
            </a:endParaRPr>
          </a:p>
          <a:p>
            <a:pPr marL="15240" algn="l" rtl="0" eaLnBrk="0">
              <a:lnSpc>
                <a:spcPct val="83000"/>
              </a:lnSpc>
              <a:spcBef>
                <a:spcPts val="702"/>
              </a:spcBef>
              <a:tabLst/>
            </a:pPr>
            <a:r>
              <a:rPr sz="900" b="1" kern="0" spc="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08</a:t>
            </a:r>
            <a:endParaRPr sz="900" dirty="0">
              <a:latin typeface="Arial Narrow"/>
              <a:ea typeface="Arial Narrow"/>
              <a:cs typeface="Arial Narrow"/>
            </a:endParaRPr>
          </a:p>
          <a:p>
            <a:pPr marL="15240" algn="l" rtl="0" eaLnBrk="0">
              <a:lnSpc>
                <a:spcPct val="83000"/>
              </a:lnSpc>
              <a:spcBef>
                <a:spcPts val="702"/>
              </a:spcBef>
              <a:tabLst/>
            </a:pPr>
            <a:r>
              <a:rPr sz="900" b="1" kern="0" spc="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09</a:t>
            </a:r>
            <a:endParaRPr sz="900" dirty="0">
              <a:latin typeface="Arial Narrow"/>
              <a:ea typeface="Arial Narrow"/>
              <a:cs typeface="Arial Narrow"/>
            </a:endParaRPr>
          </a:p>
          <a:p>
            <a:pPr algn="l" rtl="0" eaLnBrk="0">
              <a:lnSpc>
                <a:spcPct val="16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8415" algn="l" rtl="0" eaLnBrk="0">
              <a:lnSpc>
                <a:spcPct val="83000"/>
              </a:lnSpc>
              <a:spcBef>
                <a:spcPts val="272"/>
              </a:spcBef>
              <a:tabLst/>
            </a:pPr>
            <a:r>
              <a:rPr sz="900" b="1" kern="0" spc="-1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10</a:t>
            </a:r>
            <a:endParaRPr sz="900" dirty="0">
              <a:latin typeface="Arial Narrow"/>
              <a:ea typeface="Arial Narrow"/>
              <a:cs typeface="Arial Narrow"/>
            </a:endParaRPr>
          </a:p>
          <a:p>
            <a:pPr marL="18415" algn="l" rtl="0" eaLnBrk="0">
              <a:lnSpc>
                <a:spcPct val="83000"/>
              </a:lnSpc>
              <a:spcBef>
                <a:spcPts val="702"/>
              </a:spcBef>
              <a:tabLst/>
            </a:pPr>
            <a:r>
              <a:rPr sz="900" b="1" kern="0" spc="-1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12</a:t>
            </a:r>
            <a:r>
              <a:rPr sz="900" b="1" kern="0" spc="7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900" b="1" kern="0" spc="-1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-</a:t>
            </a:r>
            <a:r>
              <a:rPr sz="900" b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900" b="1" kern="0" spc="-1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22</a:t>
            </a:r>
            <a:endParaRPr sz="900" dirty="0">
              <a:latin typeface="Arial Narrow"/>
              <a:ea typeface="Arial Narrow"/>
              <a:cs typeface="Arial Narrow"/>
            </a:endParaRPr>
          </a:p>
          <a:p>
            <a:pPr marL="13334" algn="l" rtl="0" eaLnBrk="0">
              <a:lnSpc>
                <a:spcPct val="83000"/>
              </a:lnSpc>
              <a:spcBef>
                <a:spcPts val="702"/>
              </a:spcBef>
              <a:tabLst/>
            </a:pPr>
            <a:r>
              <a:rPr sz="900" b="1" kern="0" spc="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24</a:t>
            </a:r>
            <a:endParaRPr sz="900" dirty="0">
              <a:latin typeface="Arial Narrow"/>
              <a:ea typeface="Arial Narrow"/>
              <a:cs typeface="Arial Narrow"/>
            </a:endParaRPr>
          </a:p>
          <a:p>
            <a:pPr marL="13334" algn="l" rtl="0" eaLnBrk="0">
              <a:lnSpc>
                <a:spcPct val="83000"/>
              </a:lnSpc>
              <a:spcBef>
                <a:spcPts val="702"/>
              </a:spcBef>
              <a:tabLst/>
            </a:pPr>
            <a:r>
              <a:rPr sz="900" b="1" kern="0" spc="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26</a:t>
            </a:r>
            <a:r>
              <a:rPr sz="900" b="1" kern="0" spc="5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900" b="1" kern="0" spc="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-</a:t>
            </a:r>
            <a:r>
              <a:rPr sz="900" b="1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900" b="1" kern="0" spc="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31</a:t>
            </a:r>
            <a:endParaRPr sz="900" dirty="0">
              <a:latin typeface="Arial Narrow"/>
              <a:ea typeface="Arial Narrow"/>
              <a:cs typeface="Arial Narrow"/>
            </a:endParaRPr>
          </a:p>
          <a:p>
            <a:pPr marL="14605" algn="l" rtl="0" eaLnBrk="0">
              <a:lnSpc>
                <a:spcPct val="83000"/>
              </a:lnSpc>
              <a:spcBef>
                <a:spcPts val="702"/>
              </a:spcBef>
              <a:tabLst/>
            </a:pPr>
            <a:r>
              <a:rPr sz="900" b="1" kern="0" spc="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32</a:t>
            </a:r>
            <a:endParaRPr sz="900" dirty="0">
              <a:latin typeface="Arial Narrow"/>
              <a:ea typeface="Arial Narrow"/>
              <a:cs typeface="Arial Narrow"/>
            </a:endParaRPr>
          </a:p>
          <a:p>
            <a:pPr marL="14605" algn="l" rtl="0" eaLnBrk="0">
              <a:lnSpc>
                <a:spcPct val="83000"/>
              </a:lnSpc>
              <a:spcBef>
                <a:spcPts val="702"/>
              </a:spcBef>
              <a:tabLst/>
            </a:pPr>
            <a:r>
              <a:rPr sz="900" b="1" kern="0" spc="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34</a:t>
            </a:r>
            <a:r>
              <a:rPr sz="900" b="1" kern="0" spc="5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900" b="1" kern="0" spc="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-</a:t>
            </a:r>
            <a:r>
              <a:rPr sz="900" b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900" b="1" kern="0" spc="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41</a:t>
            </a:r>
            <a:endParaRPr sz="900" dirty="0">
              <a:latin typeface="Arial Narrow"/>
              <a:ea typeface="Arial Narrow"/>
              <a:cs typeface="Arial Narrow"/>
            </a:endParaRPr>
          </a:p>
          <a:p>
            <a:pPr marL="12700" algn="l" rtl="0" eaLnBrk="0">
              <a:lnSpc>
                <a:spcPct val="83000"/>
              </a:lnSpc>
              <a:spcBef>
                <a:spcPts val="702"/>
              </a:spcBef>
              <a:tabLst/>
            </a:pPr>
            <a:r>
              <a:rPr sz="900" b="1" kern="0" spc="1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42</a:t>
            </a:r>
            <a:endParaRPr sz="900" dirty="0">
              <a:latin typeface="Arial Narrow"/>
              <a:ea typeface="Arial Narrow"/>
              <a:cs typeface="Arial Narrow"/>
            </a:endParaRPr>
          </a:p>
          <a:p>
            <a:pPr algn="l" rtl="0" eaLnBrk="0">
              <a:lnSpc>
                <a:spcPct val="116000"/>
              </a:lnSpc>
              <a:tabLst/>
            </a:pPr>
            <a:endParaRPr sz="5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3000"/>
              </a:lnSpc>
              <a:spcBef>
                <a:spcPts val="6"/>
              </a:spcBef>
              <a:tabLst/>
            </a:pPr>
            <a:r>
              <a:rPr sz="900" b="1" kern="0" spc="1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43</a:t>
            </a:r>
            <a:endParaRPr sz="900" dirty="0">
              <a:latin typeface="Arial Narrow"/>
              <a:ea typeface="Arial Narrow"/>
              <a:cs typeface="Arial Narrow"/>
            </a:endParaR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4866010" y="1160937"/>
            <a:ext cx="395386" cy="461558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4880110" y="2758943"/>
            <a:ext cx="381286" cy="431505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4971690" y="2207517"/>
            <a:ext cx="289706" cy="528852"/>
          </a:xfrm>
          <a:prstGeom prst="rect">
            <a:avLst/>
          </a:prstGeom>
        </p:spPr>
      </p:pic>
      <p:sp>
        <p:nvSpPr>
          <p:cNvPr id="12" name="textbox 12"/>
          <p:cNvSpPr/>
          <p:nvPr/>
        </p:nvSpPr>
        <p:spPr>
          <a:xfrm>
            <a:off x="4465500" y="3644904"/>
            <a:ext cx="803275" cy="18859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44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1000"/>
              </a:lnSpc>
              <a:tabLst/>
            </a:pPr>
            <a:r>
              <a:rPr sz="900" kern="0" spc="0" dirty="0">
                <a:solidFill>
                  <a:srgbClr val="0E3654">
                    <a:alpha val="100000"/>
                  </a:srgbClr>
                </a:solidFill>
                <a:latin typeface="Arial"/>
                <a:ea typeface="Arial"/>
                <a:cs typeface="Arial"/>
              </a:rPr>
              <a:t>intacs</a:t>
            </a:r>
            <a:r>
              <a:rPr sz="900" kern="0" spc="0" dirty="0">
                <a:solidFill>
                  <a:srgbClr val="0E3653">
                    <a:alpha val="100000"/>
                  </a:srgbClr>
                </a:solidFill>
                <a:latin typeface="Arial"/>
                <a:ea typeface="Arial"/>
                <a:cs typeface="Arial"/>
              </a:rPr>
              <a:t>.</a:t>
            </a:r>
            <a:r>
              <a:rPr sz="900" kern="0" spc="-140" dirty="0">
                <a:solidFill>
                  <a:srgbClr val="0E3653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0E3554">
                    <a:alpha val="100000"/>
                  </a:srgbClr>
                </a:solidFill>
                <a:latin typeface="Arial"/>
                <a:ea typeface="Arial"/>
                <a:cs typeface="Arial"/>
              </a:rPr>
              <a:t>infomnli</a:t>
            </a:r>
            <a:endParaRPr sz="9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3000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773430" algn="l" rtl="0" eaLnBrk="0">
              <a:lnSpc>
                <a:spcPts val="126"/>
              </a:lnSpc>
              <a:tabLst/>
            </a:pPr>
            <a:r>
              <a:rPr sz="100" kern="0" spc="20" dirty="0">
                <a:solidFill>
                  <a:srgbClr val="0E3654">
                    <a:alpha val="100000"/>
                  </a:srgbClr>
                </a:solidFill>
                <a:latin typeface="Arial"/>
                <a:ea typeface="Arial"/>
                <a:cs typeface="Arial"/>
              </a:rPr>
              <a:t>M</a:t>
            </a:r>
            <a:endParaRPr sz="100" dirty="0">
              <a:latin typeface="Arial"/>
              <a:ea typeface="Arial"/>
              <a:cs typeface="Arial"/>
            </a:endParaR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4481109" y="3788264"/>
            <a:ext cx="755282" cy="31932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5227242" y="3670534"/>
            <a:ext cx="26336" cy="95131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4971715" y="3216905"/>
            <a:ext cx="283421" cy="252628"/>
          </a:xfrm>
          <a:prstGeom prst="rect">
            <a:avLst/>
          </a:prstGeom>
        </p:spPr>
      </p:pic>
      <p:pic>
        <p:nvPicPr>
          <p:cNvPr id="20" name="picture 2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4971715" y="1647118"/>
            <a:ext cx="283421" cy="252624"/>
          </a:xfrm>
          <a:prstGeom prst="rect">
            <a:avLst/>
          </a:prstGeom>
        </p:spPr>
      </p:pic>
      <p:sp>
        <p:nvSpPr>
          <p:cNvPr id="22" name="rect 22"/>
          <p:cNvSpPr/>
          <p:nvPr/>
        </p:nvSpPr>
        <p:spPr>
          <a:xfrm>
            <a:off x="4808317" y="697713"/>
            <a:ext cx="447675" cy="109132"/>
          </a:xfrm>
          <a:prstGeom prst="rect">
            <a:avLst/>
          </a:prstGeom>
          <a:solidFill>
            <a:srgbClr val="EE2831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4" name="rect 24"/>
          <p:cNvSpPr/>
          <p:nvPr/>
        </p:nvSpPr>
        <p:spPr>
          <a:xfrm>
            <a:off x="4861919" y="387006"/>
            <a:ext cx="394073" cy="109132"/>
          </a:xfrm>
          <a:prstGeom prst="rect">
            <a:avLst/>
          </a:prstGeom>
          <a:solidFill>
            <a:srgbClr val="EE2831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6" name="rect 26"/>
          <p:cNvSpPr/>
          <p:nvPr/>
        </p:nvSpPr>
        <p:spPr>
          <a:xfrm>
            <a:off x="4937687" y="542356"/>
            <a:ext cx="318301" cy="109132"/>
          </a:xfrm>
          <a:prstGeom prst="rect">
            <a:avLst/>
          </a:prstGeom>
          <a:solidFill>
            <a:srgbClr val="EE2831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8" name="rect 28"/>
          <p:cNvSpPr/>
          <p:nvPr/>
        </p:nvSpPr>
        <p:spPr>
          <a:xfrm>
            <a:off x="4937687" y="1008438"/>
            <a:ext cx="318301" cy="109132"/>
          </a:xfrm>
          <a:prstGeom prst="rect">
            <a:avLst/>
          </a:prstGeom>
          <a:solidFill>
            <a:srgbClr val="EE2831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0" name="rect 30"/>
          <p:cNvSpPr/>
          <p:nvPr/>
        </p:nvSpPr>
        <p:spPr>
          <a:xfrm>
            <a:off x="4975720" y="853063"/>
            <a:ext cx="280273" cy="109132"/>
          </a:xfrm>
          <a:prstGeom prst="rect">
            <a:avLst/>
          </a:prstGeom>
          <a:solidFill>
            <a:srgbClr val="EE2831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32" name="picture 3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600000">
            <a:off x="4872539" y="3526541"/>
            <a:ext cx="382596" cy="73342"/>
          </a:xfrm>
          <a:prstGeom prst="rect">
            <a:avLst/>
          </a:prstGeom>
        </p:spPr>
      </p:pic>
      <p:pic>
        <p:nvPicPr>
          <p:cNvPr id="34" name="picture 34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21600000">
            <a:off x="4872539" y="1956770"/>
            <a:ext cx="382596" cy="73318"/>
          </a:xfrm>
          <a:prstGeom prst="rect">
            <a:avLst/>
          </a:prstGeom>
        </p:spPr>
      </p:pic>
      <p:sp>
        <p:nvSpPr>
          <p:cNvPr id="36" name="rect 36"/>
          <p:cNvSpPr/>
          <p:nvPr/>
        </p:nvSpPr>
        <p:spPr>
          <a:xfrm>
            <a:off x="5181814" y="2087625"/>
            <a:ext cx="73318" cy="73342"/>
          </a:xfrm>
          <a:prstGeom prst="rect">
            <a:avLst/>
          </a:prstGeom>
          <a:solidFill>
            <a:srgbClr val="0E3654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21600000">
            <a:off x="288012" y="396004"/>
            <a:ext cx="4976981" cy="2533486"/>
            <a:chOff x="0" y="0"/>
            <a:chExt cx="4976981" cy="2533486"/>
          </a:xfrm>
        </p:grpSpPr>
        <p:pic>
          <p:nvPicPr>
            <p:cNvPr id="38" name="picture 3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21600000">
              <a:off x="0" y="0"/>
              <a:ext cx="4976981" cy="2533485"/>
            </a:xfrm>
            <a:prstGeom prst="rect">
              <a:avLst/>
            </a:prstGeom>
          </p:spPr>
        </p:pic>
        <p:sp>
          <p:nvSpPr>
            <p:cNvPr id="40" name="textbox 40"/>
            <p:cNvSpPr/>
            <p:nvPr/>
          </p:nvSpPr>
          <p:spPr>
            <a:xfrm>
              <a:off x="240186" y="1226726"/>
              <a:ext cx="2853690" cy="129667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1347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6510" algn="l" rtl="0" eaLnBrk="0">
                <a:lnSpc>
                  <a:spcPct val="85000"/>
                </a:lnSpc>
                <a:tabLst/>
              </a:pPr>
              <a:r>
                <a:rPr sz="500" b="1" kern="0" spc="20" dirty="0">
                  <a:solidFill>
                    <a:srgbClr val="015AAA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Identify</a:t>
              </a:r>
              <a:r>
                <a:rPr sz="500" b="1" kern="0" spc="40" dirty="0">
                  <a:solidFill>
                    <a:srgbClr val="015AAA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 </a:t>
              </a:r>
              <a:r>
                <a:rPr sz="500" b="1" kern="0" spc="20" dirty="0">
                  <a:solidFill>
                    <a:srgbClr val="015AAA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De</a:t>
              </a:r>
              <a:r>
                <a:rPr sz="500" b="1" kern="0" spc="10" dirty="0">
                  <a:solidFill>
                    <a:srgbClr val="015AAA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mand and Work</a:t>
              </a:r>
              <a:r>
                <a:rPr sz="500" b="1" kern="0" spc="40" dirty="0">
                  <a:solidFill>
                    <a:srgbClr val="015AAA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 </a:t>
              </a:r>
              <a:r>
                <a:rPr sz="500" b="1" kern="0" spc="10" dirty="0">
                  <a:solidFill>
                    <a:srgbClr val="015AAA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Boundaries.</a:t>
              </a:r>
              <a:endParaRPr sz="500" dirty="0">
                <a:latin typeface="Arial Narrow"/>
                <a:ea typeface="Arial Narrow"/>
                <a:cs typeface="Arial Narrow"/>
              </a:endParaRPr>
            </a:p>
            <a:p>
              <a:pPr marL="14605" indent="3175" algn="l" rtl="0" eaLnBrk="0">
                <a:lnSpc>
                  <a:spcPct val="108000"/>
                </a:lnSpc>
                <a:spcBef>
                  <a:spcPts val="78"/>
                </a:spcBef>
                <a:tabLst/>
              </a:pPr>
              <a:r>
                <a:rPr sz="500" kern="0" spc="20" dirty="0">
                  <a:solidFill>
                    <a:srgbClr val="231F20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Identify the customer demand</a:t>
              </a:r>
              <a:r>
                <a:rPr sz="500" kern="0" spc="10" dirty="0">
                  <a:solidFill>
                    <a:srgbClr val="231F20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 and work boundaries collaborating closely</a:t>
              </a:r>
              <a:r>
                <a:rPr sz="500" kern="0" spc="0" dirty="0">
                  <a:solidFill>
                    <a:srgbClr val="231F20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 </a:t>
              </a:r>
              <a:r>
                <a:rPr sz="500" kern="0" spc="10" dirty="0">
                  <a:solidFill>
                    <a:srgbClr val="231F20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with</a:t>
              </a:r>
              <a:r>
                <a:rPr sz="500" kern="0" spc="20" dirty="0">
                  <a:solidFill>
                    <a:srgbClr val="231F20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 </a:t>
              </a:r>
              <a:r>
                <a:rPr sz="500" kern="0" spc="10" dirty="0">
                  <a:solidFill>
                    <a:srgbClr val="231F20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stakeholders.</a:t>
              </a:r>
              <a:r>
                <a:rPr sz="500" kern="0" spc="50" dirty="0">
                  <a:solidFill>
                    <a:srgbClr val="231F20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 </a:t>
              </a:r>
              <a:r>
                <a:rPr sz="500" kern="0" spc="10" dirty="0">
                  <a:solidFill>
                    <a:srgbClr val="231F20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Derive the</a:t>
              </a:r>
              <a:r>
                <a:rPr sz="500" kern="0" spc="20" dirty="0">
                  <a:solidFill>
                    <a:srgbClr val="231F20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 </a:t>
              </a:r>
              <a:r>
                <a:rPr sz="500" kern="0" spc="10" dirty="0">
                  <a:solidFill>
                    <a:srgbClr val="231F20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vision</a:t>
              </a:r>
              <a:r>
                <a:rPr sz="500" kern="0" spc="20" dirty="0">
                  <a:solidFill>
                    <a:srgbClr val="231F20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 </a:t>
              </a:r>
              <a:r>
                <a:rPr sz="500" kern="0" spc="10" dirty="0">
                  <a:solidFill>
                    <a:srgbClr val="231F20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and</a:t>
              </a:r>
              <a:r>
                <a:rPr sz="500" kern="0" spc="0" dirty="0">
                  <a:solidFill>
                    <a:srgbClr val="231F20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  </a:t>
              </a:r>
              <a:r>
                <a:rPr sz="500" kern="0" spc="20" dirty="0">
                  <a:solidFill>
                    <a:srgbClr val="231F20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strategic themes linked to bus</a:t>
              </a:r>
              <a:r>
                <a:rPr sz="500" kern="0" spc="10" dirty="0">
                  <a:solidFill>
                    <a:srgbClr val="231F20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iness and customer value.</a:t>
              </a:r>
              <a:r>
                <a:rPr sz="500" kern="0" spc="40" dirty="0">
                  <a:solidFill>
                    <a:srgbClr val="231F20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 </a:t>
              </a:r>
              <a:r>
                <a:rPr sz="500" kern="0" spc="10" dirty="0">
                  <a:solidFill>
                    <a:srgbClr val="231F20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Keep</a:t>
              </a:r>
              <a:r>
                <a:rPr sz="500" kern="0" spc="20" dirty="0">
                  <a:solidFill>
                    <a:srgbClr val="231F20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 </a:t>
              </a:r>
              <a:r>
                <a:rPr sz="500" kern="0" spc="10" dirty="0">
                  <a:solidFill>
                    <a:srgbClr val="231F20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demand,</a:t>
              </a:r>
              <a:r>
                <a:rPr sz="500" kern="0" spc="30" dirty="0">
                  <a:solidFill>
                    <a:srgbClr val="231F20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 </a:t>
              </a:r>
              <a:r>
                <a:rPr sz="500" kern="0" spc="10" dirty="0">
                  <a:solidFill>
                    <a:srgbClr val="231F20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boundaries, vision,</a:t>
              </a:r>
              <a:r>
                <a:rPr sz="500" kern="0" spc="30" dirty="0">
                  <a:solidFill>
                    <a:srgbClr val="231F20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 </a:t>
              </a:r>
              <a:r>
                <a:rPr sz="500" kern="0" spc="10" dirty="0">
                  <a:solidFill>
                    <a:srgbClr val="231F20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and</a:t>
              </a:r>
              <a:r>
                <a:rPr sz="500" kern="0" spc="20" dirty="0">
                  <a:solidFill>
                    <a:srgbClr val="231F20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 </a:t>
              </a:r>
              <a:r>
                <a:rPr sz="500" kern="0" spc="10" dirty="0">
                  <a:solidFill>
                    <a:srgbClr val="231F20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strategic</a:t>
              </a:r>
              <a:r>
                <a:rPr sz="500" kern="0" spc="20" dirty="0">
                  <a:solidFill>
                    <a:srgbClr val="231F20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 </a:t>
              </a:r>
              <a:r>
                <a:rPr sz="500" kern="0" spc="10" dirty="0">
                  <a:solidFill>
                    <a:srgbClr val="231F20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themes</a:t>
              </a:r>
              <a:r>
                <a:rPr sz="500" kern="0" spc="0" dirty="0">
                  <a:solidFill>
                    <a:srgbClr val="231F20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  </a:t>
              </a:r>
              <a:r>
                <a:rPr sz="500" kern="0" spc="0" dirty="0">
                  <a:solidFill>
                    <a:srgbClr val="231F20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up</a:t>
              </a:r>
              <a:r>
                <a:rPr sz="500" kern="0" spc="30" dirty="0">
                  <a:solidFill>
                    <a:srgbClr val="231F20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 </a:t>
              </a:r>
              <a:r>
                <a:rPr sz="500" kern="0" spc="0" dirty="0">
                  <a:solidFill>
                    <a:srgbClr val="231F20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to</a:t>
              </a:r>
              <a:r>
                <a:rPr sz="500" kern="0" spc="30" dirty="0">
                  <a:solidFill>
                    <a:srgbClr val="231F20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 </a:t>
              </a:r>
              <a:r>
                <a:rPr sz="500" kern="0" spc="0" dirty="0">
                  <a:solidFill>
                    <a:srgbClr val="231F20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date</a:t>
              </a:r>
              <a:r>
                <a:rPr sz="500" kern="0" spc="30" dirty="0">
                  <a:solidFill>
                    <a:srgbClr val="231F20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.</a:t>
              </a:r>
              <a:r>
                <a:rPr sz="500" kern="0" spc="70" dirty="0">
                  <a:solidFill>
                    <a:srgbClr val="231F20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 </a:t>
              </a:r>
              <a:r>
                <a:rPr sz="500" kern="0" spc="30" dirty="0">
                  <a:solidFill>
                    <a:srgbClr val="015AAA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[</a:t>
              </a:r>
              <a:r>
                <a:rPr sz="500" kern="0" spc="0" dirty="0">
                  <a:solidFill>
                    <a:srgbClr val="015AAA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OUTCOME</a:t>
              </a:r>
              <a:r>
                <a:rPr sz="500" kern="0" spc="50" dirty="0">
                  <a:solidFill>
                    <a:srgbClr val="015AAA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 </a:t>
              </a:r>
              <a:r>
                <a:rPr sz="500" kern="0" spc="30" dirty="0">
                  <a:solidFill>
                    <a:srgbClr val="015AAA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1]</a:t>
              </a:r>
              <a:endParaRPr sz="500" dirty="0">
                <a:latin typeface="Arial Narrow"/>
                <a:ea typeface="Arial Narrow"/>
                <a:cs typeface="Arial Narrow"/>
              </a:endParaRPr>
            </a:p>
            <a:p>
              <a:pPr marL="15875" algn="l" rtl="0" eaLnBrk="0">
                <a:lnSpc>
                  <a:spcPts val="700"/>
                </a:lnSpc>
                <a:tabLst/>
              </a:pPr>
              <a:r>
                <a:rPr sz="500" i="1" kern="0" spc="10" dirty="0">
                  <a:solidFill>
                    <a:srgbClr val="231F20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Notes</a:t>
              </a:r>
              <a:r>
                <a:rPr sz="500" i="1" kern="0" spc="40" dirty="0">
                  <a:solidFill>
                    <a:srgbClr val="231F20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 </a:t>
              </a:r>
              <a:r>
                <a:rPr sz="500" i="1" kern="0" spc="10" dirty="0">
                  <a:solidFill>
                    <a:srgbClr val="231F20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&amp; Definitions</a:t>
              </a:r>
              <a:r>
                <a:rPr sz="500" i="1" kern="0" spc="0" dirty="0">
                  <a:solidFill>
                    <a:srgbClr val="231F20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:</a:t>
              </a:r>
              <a:endParaRPr sz="500" dirty="0">
                <a:latin typeface="Arial Narrow"/>
                <a:ea typeface="Arial Narrow"/>
                <a:cs typeface="Arial Narrow"/>
              </a:endParaRPr>
            </a:p>
            <a:p>
              <a:pPr marL="120015" indent="-78740" algn="l" rtl="0" eaLnBrk="0">
                <a:lnSpc>
                  <a:spcPct val="112000"/>
                </a:lnSpc>
                <a:spcBef>
                  <a:spcPts val="6"/>
                </a:spcBef>
                <a:tabLst/>
              </a:pPr>
              <a:r>
                <a:rPr sz="400" kern="0" spc="20" dirty="0">
                  <a:solidFill>
                    <a:srgbClr val="FFFFFF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1    </a:t>
              </a:r>
              <a:r>
                <a:rPr sz="500" i="1" kern="0" spc="20" dirty="0">
                  <a:solidFill>
                    <a:srgbClr val="231F20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Collaboration can </a:t>
              </a:r>
              <a:r>
                <a:rPr sz="500" i="1" kern="0" spc="10" dirty="0">
                  <a:solidFill>
                    <a:srgbClr val="231F20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be</a:t>
              </a:r>
              <a:r>
                <a:rPr sz="500" i="1" kern="0" spc="20" dirty="0">
                  <a:solidFill>
                    <a:srgbClr val="231F20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 </a:t>
              </a:r>
              <a:r>
                <a:rPr sz="500" i="1" kern="0" spc="10" dirty="0">
                  <a:solidFill>
                    <a:srgbClr val="231F20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internal and external;</a:t>
              </a:r>
              <a:r>
                <a:rPr sz="500" i="1" kern="0" spc="30" dirty="0">
                  <a:solidFill>
                    <a:srgbClr val="231F20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 </a:t>
              </a:r>
              <a:r>
                <a:rPr sz="500" i="1" kern="0" spc="10" dirty="0">
                  <a:solidFill>
                    <a:srgbClr val="231F20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e.g.,</a:t>
              </a:r>
              <a:r>
                <a:rPr sz="500" i="1" kern="0" spc="40" dirty="0">
                  <a:solidFill>
                    <a:srgbClr val="231F20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 </a:t>
              </a:r>
              <a:r>
                <a:rPr sz="500" i="1" kern="0" spc="10" dirty="0">
                  <a:solidFill>
                    <a:srgbClr val="231F20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within</a:t>
              </a:r>
              <a:r>
                <a:rPr sz="500" i="1" kern="0" spc="30" dirty="0">
                  <a:solidFill>
                    <a:srgbClr val="231F20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 </a:t>
              </a:r>
              <a:r>
                <a:rPr sz="500" i="1" kern="0" spc="10" dirty="0">
                  <a:solidFill>
                    <a:srgbClr val="231F20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a program, product line</a:t>
              </a:r>
              <a:r>
                <a:rPr sz="500" i="1" kern="0" spc="30" dirty="0">
                  <a:solidFill>
                    <a:srgbClr val="231F20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 </a:t>
              </a:r>
              <a:r>
                <a:rPr sz="500" i="1" kern="0" spc="10" dirty="0">
                  <a:solidFill>
                    <a:srgbClr val="231F20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or organization, and together</a:t>
              </a:r>
              <a:r>
                <a:rPr sz="500" i="1" kern="0" spc="0" dirty="0">
                  <a:solidFill>
                    <a:srgbClr val="231F20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   </a:t>
              </a:r>
              <a:r>
                <a:rPr sz="500" i="1" kern="0" spc="10" dirty="0">
                  <a:solidFill>
                    <a:srgbClr val="231F20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with</a:t>
              </a:r>
              <a:r>
                <a:rPr sz="500" i="1" kern="0" spc="100" dirty="0">
                  <a:solidFill>
                    <a:srgbClr val="231F20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 </a:t>
              </a:r>
              <a:r>
                <a:rPr sz="500" i="1" kern="0" spc="10" dirty="0">
                  <a:solidFill>
                    <a:srgbClr val="231F20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(multiple) customers and suppliers.</a:t>
              </a:r>
              <a:endParaRPr sz="500" dirty="0">
                <a:latin typeface="Arial Narrow"/>
                <a:ea typeface="Arial Narrow"/>
                <a:cs typeface="Arial Narrow"/>
              </a:endParaRPr>
            </a:p>
            <a:p>
              <a:pPr marL="36830" algn="l" rtl="0" eaLnBrk="0">
                <a:lnSpc>
                  <a:spcPts val="675"/>
                </a:lnSpc>
                <a:tabLst/>
              </a:pPr>
              <a:r>
                <a:rPr sz="400" kern="0" spc="20" dirty="0">
                  <a:solidFill>
                    <a:srgbClr val="FFFFFF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2    </a:t>
              </a:r>
              <a:r>
                <a:rPr sz="500" i="1" kern="0" spc="20" dirty="0">
                  <a:solidFill>
                    <a:srgbClr val="231F20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A customer demand is a recorde</a:t>
              </a:r>
              <a:r>
                <a:rPr sz="500" i="1" kern="0" spc="10" dirty="0">
                  <a:solidFill>
                    <a:srgbClr val="231F20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d customer</a:t>
              </a:r>
              <a:r>
                <a:rPr sz="500" i="1" kern="0" spc="-20" dirty="0">
                  <a:solidFill>
                    <a:srgbClr val="231F20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 </a:t>
              </a:r>
              <a:r>
                <a:rPr sz="500" i="1" kern="0" spc="10" dirty="0">
                  <a:solidFill>
                    <a:srgbClr val="231F20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statement on the problem to be solved.</a:t>
              </a:r>
              <a:endParaRPr sz="500" dirty="0">
                <a:latin typeface="Arial Narrow"/>
                <a:ea typeface="Arial Narrow"/>
                <a:cs typeface="Arial Narrow"/>
              </a:endParaRPr>
            </a:p>
            <a:p>
              <a:pPr marL="36195" algn="l" rtl="0" eaLnBrk="0">
                <a:lnSpc>
                  <a:spcPts val="674"/>
                </a:lnSpc>
                <a:tabLst/>
              </a:pPr>
              <a:r>
                <a:rPr sz="400" kern="0" spc="20" dirty="0">
                  <a:solidFill>
                    <a:srgbClr val="FFFFFF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3    </a:t>
              </a:r>
              <a:r>
                <a:rPr sz="500" i="1" kern="0" spc="20" dirty="0">
                  <a:solidFill>
                    <a:srgbClr val="231F20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A vision defines </a:t>
              </a:r>
              <a:r>
                <a:rPr sz="500" i="1" kern="0" spc="10" dirty="0">
                  <a:solidFill>
                    <a:srgbClr val="231F20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the product capabilities potentially leading to a</a:t>
              </a:r>
              <a:r>
                <a:rPr sz="500" i="1" kern="0" spc="20" dirty="0">
                  <a:solidFill>
                    <a:srgbClr val="231F20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 </a:t>
              </a:r>
              <a:r>
                <a:rPr sz="500" i="1" kern="0" spc="10" dirty="0">
                  <a:solidFill>
                    <a:srgbClr val="231F20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successful solution.</a:t>
              </a:r>
              <a:endParaRPr sz="500" dirty="0">
                <a:latin typeface="Arial Narrow"/>
                <a:ea typeface="Arial Narrow"/>
                <a:cs typeface="Arial Narrow"/>
              </a:endParaRPr>
            </a:p>
            <a:p>
              <a:pPr marL="116840" indent="-80645" algn="l" rtl="0" eaLnBrk="0">
                <a:lnSpc>
                  <a:spcPct val="116000"/>
                </a:lnSpc>
                <a:spcBef>
                  <a:spcPts val="2"/>
                </a:spcBef>
                <a:tabLst/>
              </a:pPr>
              <a:r>
                <a:rPr sz="400" kern="0" spc="20" dirty="0">
                  <a:solidFill>
                    <a:srgbClr val="FFFFFF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4    </a:t>
              </a:r>
              <a:r>
                <a:rPr sz="500" i="1" kern="0" spc="20" dirty="0">
                  <a:solidFill>
                    <a:srgbClr val="231F20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Strategic themes are</a:t>
              </a:r>
              <a:r>
                <a:rPr sz="500" i="1" kern="0" spc="30" dirty="0">
                  <a:solidFill>
                    <a:srgbClr val="231F20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 </a:t>
              </a:r>
              <a:r>
                <a:rPr sz="500" i="1" kern="0" spc="20" dirty="0">
                  <a:solidFill>
                    <a:srgbClr val="231F20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u</a:t>
              </a:r>
              <a:r>
                <a:rPr sz="500" i="1" kern="0" spc="10" dirty="0">
                  <a:solidFill>
                    <a:srgbClr val="231F20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nique</a:t>
              </a:r>
              <a:r>
                <a:rPr sz="500" i="1" kern="0" spc="30" dirty="0">
                  <a:solidFill>
                    <a:srgbClr val="231F20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 </a:t>
              </a:r>
              <a:r>
                <a:rPr sz="500" i="1" kern="0" spc="10" dirty="0">
                  <a:solidFill>
                    <a:srgbClr val="231F20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selling proposition.</a:t>
              </a:r>
              <a:r>
                <a:rPr sz="500" i="1" kern="0" spc="50" dirty="0">
                  <a:solidFill>
                    <a:srgbClr val="231F20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 </a:t>
              </a:r>
              <a:r>
                <a:rPr sz="500" i="1" kern="0" spc="10" dirty="0">
                  <a:solidFill>
                    <a:srgbClr val="231F20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They typically run across iterations</a:t>
              </a:r>
              <a:r>
                <a:rPr sz="500" i="1" kern="0" spc="30" dirty="0">
                  <a:solidFill>
                    <a:srgbClr val="231F20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 </a:t>
              </a:r>
              <a:r>
                <a:rPr sz="500" i="1" kern="0" spc="10" dirty="0">
                  <a:solidFill>
                    <a:srgbClr val="231F20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and address</a:t>
              </a:r>
              <a:r>
                <a:rPr sz="500" i="1" kern="0" spc="20" dirty="0">
                  <a:solidFill>
                    <a:srgbClr val="231F20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 </a:t>
              </a:r>
              <a:r>
                <a:rPr sz="500" i="1" kern="0" spc="10" dirty="0">
                  <a:solidFill>
                    <a:srgbClr val="231F20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a</a:t>
              </a:r>
              <a:r>
                <a:rPr sz="500" i="1" kern="0" spc="30" dirty="0">
                  <a:solidFill>
                    <a:srgbClr val="231F20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 </a:t>
              </a:r>
              <a:r>
                <a:rPr sz="500" i="1" kern="0" spc="10" dirty="0">
                  <a:solidFill>
                    <a:srgbClr val="231F20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mid and</a:t>
              </a:r>
              <a:r>
                <a:rPr sz="500" i="1" kern="0" spc="0" dirty="0">
                  <a:solidFill>
                    <a:srgbClr val="231F20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      </a:t>
              </a:r>
              <a:r>
                <a:rPr sz="500" i="1" kern="0" spc="10" dirty="0">
                  <a:solidFill>
                    <a:srgbClr val="231F20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long-term perspective.</a:t>
              </a:r>
              <a:endParaRPr sz="500" dirty="0">
                <a:latin typeface="Arial Narrow"/>
                <a:ea typeface="Arial Narrow"/>
                <a:cs typeface="Arial Narrow"/>
              </a:endParaRPr>
            </a:p>
            <a:p>
              <a:pPr marL="36195" algn="l" rtl="0" eaLnBrk="0">
                <a:lnSpc>
                  <a:spcPct val="92000"/>
                </a:lnSpc>
                <a:spcBef>
                  <a:spcPts val="125"/>
                </a:spcBef>
                <a:tabLst>
                  <a:tab pos="178435" algn="l"/>
                </a:tabLst>
              </a:pPr>
              <a:r>
                <a:rPr sz="400" kern="0" spc="0" dirty="0">
                  <a:solidFill>
                    <a:srgbClr val="FFFFFF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5</a:t>
              </a:r>
              <a:r>
                <a:rPr sz="400" kern="0" spc="-10" dirty="0">
                  <a:solidFill>
                    <a:srgbClr val="FFFFFF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     </a:t>
              </a:r>
              <a:r>
                <a:rPr sz="400" u="dotted" kern="0" spc="0" dirty="0">
                  <a:solidFill>
                    <a:srgbClr val="FFFFFF">
                      <a:alpha val="100000"/>
                    </a:srgbClr>
                  </a:solidFill>
                  <a:uFill>
                    <a:solidFill>
                      <a:srgbClr val="231F20"/>
                    </a:solidFill>
                  </a:uFill>
                  <a:latin typeface="Arial Narrow"/>
                  <a:ea typeface="Arial Narrow"/>
                  <a:cs typeface="Arial Narrow"/>
                </a:rPr>
                <a:t>	</a:t>
              </a:r>
              <a:endParaRPr sz="400" dirty="0">
                <a:latin typeface="Arial Narrow"/>
                <a:ea typeface="Arial Narrow"/>
                <a:cs typeface="Arial Narrow"/>
              </a:endParaRPr>
            </a:p>
            <a:p>
              <a:pPr marL="13334" indent="-635" algn="l" rtl="0" eaLnBrk="0">
                <a:lnSpc>
                  <a:spcPct val="105000"/>
                </a:lnSpc>
                <a:spcBef>
                  <a:spcPts val="128"/>
                </a:spcBef>
                <a:tabLst/>
              </a:pPr>
              <a:r>
                <a:rPr sz="500" b="1" i="1" kern="0" spc="20" dirty="0">
                  <a:solidFill>
                    <a:srgbClr val="015AAA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Agile</a:t>
              </a:r>
              <a:r>
                <a:rPr sz="500" b="1" i="1" kern="0" spc="50" dirty="0">
                  <a:solidFill>
                    <a:srgbClr val="015AAA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 </a:t>
              </a:r>
              <a:r>
                <a:rPr sz="500" b="1" i="1" kern="0" spc="20" dirty="0">
                  <a:solidFill>
                    <a:srgbClr val="015AAA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Work Products:</a:t>
              </a:r>
              <a:r>
                <a:rPr sz="500" b="1" i="1" kern="0" spc="50" dirty="0">
                  <a:solidFill>
                    <a:srgbClr val="015AAA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 </a:t>
              </a:r>
              <a:r>
                <a:rPr sz="500" kern="0" spc="20" dirty="0">
                  <a:solidFill>
                    <a:srgbClr val="015AAA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Product ba</a:t>
              </a:r>
              <a:r>
                <a:rPr sz="500" kern="0" spc="10" dirty="0">
                  <a:solidFill>
                    <a:srgbClr val="015AAA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cklog, demand statement (e.g. includes</a:t>
              </a:r>
              <a:r>
                <a:rPr sz="500" kern="0" spc="20" dirty="0">
                  <a:solidFill>
                    <a:srgbClr val="015AAA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 </a:t>
              </a:r>
              <a:r>
                <a:rPr sz="500" kern="0" spc="10" dirty="0">
                  <a:solidFill>
                    <a:srgbClr val="015AAA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agreed</a:t>
              </a:r>
              <a:r>
                <a:rPr sz="500" kern="0" spc="20" dirty="0">
                  <a:solidFill>
                    <a:srgbClr val="015AAA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 </a:t>
              </a:r>
              <a:r>
                <a:rPr sz="500" kern="0" spc="10" dirty="0">
                  <a:solidFill>
                    <a:srgbClr val="015AAA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stakeholder goals),</a:t>
              </a:r>
              <a:r>
                <a:rPr sz="500" kern="0" spc="40" dirty="0">
                  <a:solidFill>
                    <a:srgbClr val="015AAA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 </a:t>
              </a:r>
              <a:r>
                <a:rPr sz="500" kern="0" spc="10" dirty="0">
                  <a:solidFill>
                    <a:srgbClr val="015AAA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boundaries,</a:t>
              </a:r>
              <a:r>
                <a:rPr sz="500" kern="0" spc="0" dirty="0">
                  <a:solidFill>
                    <a:srgbClr val="015AAA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 </a:t>
              </a:r>
              <a:r>
                <a:rPr sz="500" kern="0" spc="10" dirty="0">
                  <a:solidFill>
                    <a:srgbClr val="015AAA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vision and strategic themes</a:t>
              </a:r>
              <a:endParaRPr sz="500" dirty="0">
                <a:latin typeface="Arial Narrow"/>
                <a:ea typeface="Arial Narrow"/>
                <a:cs typeface="Arial Narrow"/>
              </a:endParaRPr>
            </a:p>
            <a:p>
              <a:pPr marL="16510" algn="l" rtl="0" eaLnBrk="0">
                <a:lnSpc>
                  <a:spcPts val="728"/>
                </a:lnSpc>
                <a:tabLst/>
              </a:pPr>
              <a:r>
                <a:rPr sz="500" b="1" i="1" kern="0" spc="0" dirty="0">
                  <a:solidFill>
                    <a:srgbClr val="015AAA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Supporting</a:t>
              </a:r>
              <a:r>
                <a:rPr sz="500" b="1" i="1" kern="0" spc="20" dirty="0">
                  <a:solidFill>
                    <a:srgbClr val="015AAA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 </a:t>
              </a:r>
              <a:r>
                <a:rPr sz="500" i="1" kern="0" spc="0" dirty="0">
                  <a:solidFill>
                    <a:srgbClr val="015AAA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Agile</a:t>
              </a:r>
              <a:r>
                <a:rPr sz="500" i="1" kern="0" spc="20" dirty="0">
                  <a:solidFill>
                    <a:srgbClr val="015AAA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 </a:t>
              </a:r>
              <a:r>
                <a:rPr sz="500" i="1" kern="0" spc="0" dirty="0">
                  <a:solidFill>
                    <a:srgbClr val="015AAA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Principles</a:t>
              </a:r>
              <a:r>
                <a:rPr sz="500" i="1" kern="0" spc="70" dirty="0">
                  <a:solidFill>
                    <a:srgbClr val="015AAA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 </a:t>
              </a:r>
              <a:r>
                <a:rPr sz="500" i="1" kern="0" spc="20" dirty="0">
                  <a:solidFill>
                    <a:srgbClr val="015AAA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1, 2,</a:t>
              </a:r>
              <a:r>
                <a:rPr sz="500" i="1" kern="0" spc="30" dirty="0">
                  <a:solidFill>
                    <a:srgbClr val="015AAA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 </a:t>
              </a:r>
              <a:r>
                <a:rPr sz="500" i="1" kern="0" spc="20" dirty="0">
                  <a:solidFill>
                    <a:srgbClr val="015AAA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4,</a:t>
              </a:r>
              <a:r>
                <a:rPr sz="500" i="1" kern="0" spc="70" dirty="0">
                  <a:solidFill>
                    <a:srgbClr val="015AAA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 </a:t>
              </a:r>
              <a:r>
                <a:rPr sz="500" i="1" kern="0" spc="20" dirty="0">
                  <a:solidFill>
                    <a:srgbClr val="015AAA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10,</a:t>
              </a:r>
              <a:r>
                <a:rPr sz="500" i="1" kern="0" spc="80" dirty="0">
                  <a:solidFill>
                    <a:srgbClr val="015AAA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 </a:t>
              </a:r>
              <a:r>
                <a:rPr sz="500" i="1" kern="0" spc="20" dirty="0">
                  <a:solidFill>
                    <a:srgbClr val="015AAA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1</a:t>
              </a:r>
              <a:r>
                <a:rPr sz="500" i="1" kern="0" spc="10" dirty="0">
                  <a:solidFill>
                    <a:srgbClr val="015AAA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1</a:t>
              </a:r>
              <a:endParaRPr sz="500" dirty="0">
                <a:latin typeface="Arial Narrow"/>
                <a:ea typeface="Arial Narrow"/>
                <a:cs typeface="Arial Narrow"/>
              </a:endParaRPr>
            </a:p>
          </p:txBody>
        </p:sp>
        <p:sp>
          <p:nvSpPr>
            <p:cNvPr id="42" name="textbox 42"/>
            <p:cNvSpPr/>
            <p:nvPr/>
          </p:nvSpPr>
          <p:spPr>
            <a:xfrm>
              <a:off x="3504595" y="31000"/>
              <a:ext cx="1430655" cy="236728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4978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53339" algn="l" rtl="0" eaLnBrk="0">
                <a:lnSpc>
                  <a:spcPct val="92000"/>
                </a:lnSpc>
                <a:tabLst/>
              </a:pPr>
              <a:r>
                <a:rPr sz="600" b="1" kern="0" spc="40" dirty="0">
                  <a:solidFill>
                    <a:srgbClr val="FFFFFF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Purpose: </a:t>
              </a:r>
              <a:r>
                <a:rPr sz="600" kern="0" spc="40" dirty="0">
                  <a:solidFill>
                    <a:srgbClr val="FFFFFF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What bene</a:t>
              </a:r>
              <a:r>
                <a:rPr sz="600" kern="0" spc="30" dirty="0">
                  <a:solidFill>
                    <a:srgbClr val="FFFFFF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fit does this</a:t>
              </a:r>
              <a:r>
                <a:rPr sz="600" kern="0" spc="60" dirty="0">
                  <a:solidFill>
                    <a:srgbClr val="FFFFFF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 </a:t>
              </a:r>
              <a:r>
                <a:rPr sz="600" kern="0" spc="30" dirty="0">
                  <a:solidFill>
                    <a:srgbClr val="FFFFFF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process</a:t>
              </a:r>
              <a:endParaRPr sz="600" dirty="0">
                <a:latin typeface="Arial Narrow"/>
                <a:ea typeface="Arial Narrow"/>
                <a:cs typeface="Arial Narrow"/>
              </a:endParaRPr>
            </a:p>
            <a:p>
              <a:pPr marL="624205" algn="l" rtl="0" eaLnBrk="0">
                <a:lnSpc>
                  <a:spcPct val="91000"/>
                </a:lnSpc>
                <a:spcBef>
                  <a:spcPts val="45"/>
                </a:spcBef>
                <a:tabLst/>
              </a:pPr>
              <a:r>
                <a:rPr sz="600" kern="0" spc="20" dirty="0">
                  <a:solidFill>
                    <a:srgbClr val="FFFFFF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offer?</a:t>
              </a:r>
              <a:endParaRPr sz="600" dirty="0">
                <a:latin typeface="Arial Narrow"/>
                <a:ea typeface="Arial Narrow"/>
                <a:cs typeface="Arial Narrow"/>
              </a:endParaRPr>
            </a:p>
            <a:p>
              <a:pPr marL="51435" algn="l" rtl="0" eaLnBrk="0">
                <a:lnSpc>
                  <a:spcPct val="91000"/>
                </a:lnSpc>
                <a:spcBef>
                  <a:spcPts val="1196"/>
                </a:spcBef>
                <a:tabLst/>
              </a:pPr>
              <a:r>
                <a:rPr sz="600" b="1" kern="0" spc="40" dirty="0">
                  <a:solidFill>
                    <a:srgbClr val="FFFFFF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Process outcomes: </a:t>
              </a:r>
              <a:r>
                <a:rPr sz="600" kern="0" spc="40" dirty="0">
                  <a:solidFill>
                    <a:srgbClr val="FFFFFF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What are</a:t>
              </a:r>
              <a:r>
                <a:rPr sz="600" kern="0" spc="30" dirty="0">
                  <a:solidFill>
                    <a:srgbClr val="FFFFFF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 the typical</a:t>
              </a:r>
              <a:endParaRPr sz="600" dirty="0">
                <a:latin typeface="Arial Narrow"/>
                <a:ea typeface="Arial Narrow"/>
                <a:cs typeface="Arial Narrow"/>
              </a:endParaRPr>
            </a:p>
            <a:p>
              <a:pPr marL="454025" algn="l" rtl="0" eaLnBrk="0">
                <a:lnSpc>
                  <a:spcPct val="91000"/>
                </a:lnSpc>
                <a:spcBef>
                  <a:spcPts val="45"/>
                </a:spcBef>
                <a:tabLst/>
              </a:pPr>
              <a:r>
                <a:rPr sz="600" kern="0" spc="30" dirty="0">
                  <a:solidFill>
                    <a:srgbClr val="FFFFFF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process</a:t>
              </a:r>
              <a:r>
                <a:rPr sz="600" kern="0" spc="50" dirty="0">
                  <a:solidFill>
                    <a:srgbClr val="FFFFFF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 </a:t>
              </a:r>
              <a:r>
                <a:rPr sz="600" kern="0" spc="30" dirty="0">
                  <a:solidFill>
                    <a:srgbClr val="FFFFFF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results?</a:t>
              </a:r>
              <a:endParaRPr sz="600" dirty="0">
                <a:latin typeface="Arial Narrow"/>
                <a:ea typeface="Arial Narrow"/>
                <a:cs typeface="Arial Narrow"/>
              </a:endParaRPr>
            </a:p>
            <a:p>
              <a:pPr algn="l" rtl="0" eaLnBrk="0">
                <a:lnSpc>
                  <a:spcPct val="108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77470" algn="l" rtl="0" eaLnBrk="0">
                <a:lnSpc>
                  <a:spcPct val="91000"/>
                </a:lnSpc>
                <a:spcBef>
                  <a:spcPts val="184"/>
                </a:spcBef>
                <a:tabLst/>
              </a:pPr>
              <a:r>
                <a:rPr sz="600" b="1" kern="0" spc="30" dirty="0">
                  <a:solidFill>
                    <a:srgbClr val="FFFFFF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[Outcome</a:t>
              </a:r>
              <a:r>
                <a:rPr sz="600" b="1" kern="0" spc="130" dirty="0">
                  <a:solidFill>
                    <a:srgbClr val="FFFFFF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 </a:t>
              </a:r>
              <a:r>
                <a:rPr sz="600" b="1" kern="0" spc="30" dirty="0">
                  <a:solidFill>
                    <a:srgbClr val="FFFFFF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1]</a:t>
              </a:r>
              <a:r>
                <a:rPr sz="600" b="1" kern="0" spc="60" dirty="0">
                  <a:solidFill>
                    <a:srgbClr val="FFFFFF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 </a:t>
              </a:r>
              <a:r>
                <a:rPr sz="600" kern="0" spc="30" dirty="0">
                  <a:solidFill>
                    <a:srgbClr val="FFFFFF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refers to the agile</a:t>
              </a:r>
              <a:r>
                <a:rPr sz="600" kern="0" spc="50" dirty="0">
                  <a:solidFill>
                    <a:srgbClr val="FFFFFF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 </a:t>
              </a:r>
              <a:r>
                <a:rPr sz="600" kern="0" spc="30" dirty="0">
                  <a:solidFill>
                    <a:srgbClr val="FFFFFF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process</a:t>
              </a:r>
              <a:endParaRPr sz="600" dirty="0">
                <a:latin typeface="Arial Narrow"/>
                <a:ea typeface="Arial Narrow"/>
                <a:cs typeface="Arial Narrow"/>
              </a:endParaRPr>
            </a:p>
            <a:p>
              <a:pPr marL="480060" algn="l" rtl="0" eaLnBrk="0">
                <a:lnSpc>
                  <a:spcPct val="91000"/>
                </a:lnSpc>
                <a:spcBef>
                  <a:spcPts val="45"/>
                </a:spcBef>
                <a:tabLst/>
              </a:pPr>
              <a:r>
                <a:rPr sz="600" kern="0" spc="30" dirty="0">
                  <a:solidFill>
                    <a:srgbClr val="FFFFFF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outcome</a:t>
              </a:r>
              <a:r>
                <a:rPr sz="600" kern="0" spc="80" dirty="0">
                  <a:solidFill>
                    <a:srgbClr val="FFFFFF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 </a:t>
              </a:r>
              <a:r>
                <a:rPr sz="600" kern="0" spc="30" dirty="0">
                  <a:solidFill>
                    <a:srgbClr val="FFFFFF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No.</a:t>
              </a:r>
              <a:r>
                <a:rPr sz="600" kern="0" spc="80" dirty="0">
                  <a:solidFill>
                    <a:srgbClr val="FFFFFF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 </a:t>
              </a:r>
              <a:r>
                <a:rPr sz="600" kern="0" spc="30" dirty="0">
                  <a:solidFill>
                    <a:srgbClr val="FFFFFF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1</a:t>
              </a:r>
              <a:endParaRPr sz="600" dirty="0">
                <a:latin typeface="Arial Narrow"/>
                <a:ea typeface="Arial Narrow"/>
                <a:cs typeface="Arial Narrow"/>
              </a:endParaRPr>
            </a:p>
            <a:p>
              <a:pPr marL="45720" indent="41910" algn="l" rtl="0" eaLnBrk="0">
                <a:lnSpc>
                  <a:spcPct val="94000"/>
                </a:lnSpc>
                <a:spcBef>
                  <a:spcPts val="1162"/>
                </a:spcBef>
                <a:tabLst/>
              </a:pPr>
              <a:r>
                <a:rPr sz="600" b="1" kern="0" spc="40" dirty="0">
                  <a:solidFill>
                    <a:srgbClr val="FFFFFF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Base Practic</a:t>
              </a:r>
              <a:r>
                <a:rPr sz="600" b="1" kern="0" spc="30" dirty="0">
                  <a:solidFill>
                    <a:srgbClr val="FFFFFF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es: </a:t>
              </a:r>
              <a:r>
                <a:rPr sz="600" kern="0" spc="30" dirty="0">
                  <a:solidFill>
                    <a:srgbClr val="FFFFFF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What are the</a:t>
              </a:r>
              <a:r>
                <a:rPr sz="600" kern="0" spc="40" dirty="0">
                  <a:solidFill>
                    <a:srgbClr val="FFFFFF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 </a:t>
              </a:r>
              <a:r>
                <a:rPr sz="600" kern="0" spc="30" dirty="0">
                  <a:solidFill>
                    <a:srgbClr val="FFFFFF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expected</a:t>
              </a:r>
              <a:r>
                <a:rPr sz="600" kern="0" spc="0" dirty="0">
                  <a:solidFill>
                    <a:srgbClr val="FFFFFF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   </a:t>
              </a:r>
              <a:r>
                <a:rPr sz="600" kern="0" spc="40" dirty="0">
                  <a:solidFill>
                    <a:srgbClr val="FFFFFF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practices to</a:t>
              </a:r>
              <a:r>
                <a:rPr sz="600" kern="0" spc="30" dirty="0">
                  <a:solidFill>
                    <a:srgbClr val="FFFFFF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 achieve the</a:t>
              </a:r>
              <a:r>
                <a:rPr sz="600" kern="0" spc="50" dirty="0">
                  <a:solidFill>
                    <a:srgbClr val="FFFFFF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 </a:t>
              </a:r>
              <a:r>
                <a:rPr sz="600" kern="0" spc="30" dirty="0">
                  <a:solidFill>
                    <a:srgbClr val="FFFFFF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process</a:t>
              </a:r>
              <a:r>
                <a:rPr sz="600" kern="0" spc="60" dirty="0">
                  <a:solidFill>
                    <a:srgbClr val="FFFFFF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 </a:t>
              </a:r>
              <a:r>
                <a:rPr sz="600" kern="0" spc="30" dirty="0">
                  <a:solidFill>
                    <a:srgbClr val="FFFFFF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purpose?</a:t>
              </a:r>
              <a:endParaRPr sz="600" dirty="0">
                <a:latin typeface="Arial Narrow"/>
                <a:ea typeface="Arial Narrow"/>
                <a:cs typeface="Arial Narrow"/>
              </a:endParaRPr>
            </a:p>
            <a:p>
              <a:pPr marL="140970" indent="-36830" algn="l" rtl="0" eaLnBrk="0">
                <a:lnSpc>
                  <a:spcPct val="95000"/>
                </a:lnSpc>
                <a:spcBef>
                  <a:spcPts val="935"/>
                </a:spcBef>
                <a:tabLst/>
              </a:pPr>
              <a:r>
                <a:rPr sz="600" b="1" kern="0" spc="40" dirty="0">
                  <a:solidFill>
                    <a:srgbClr val="FFFFFF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Notes &amp;</a:t>
              </a:r>
              <a:r>
                <a:rPr sz="600" b="1" kern="0" spc="60" dirty="0">
                  <a:solidFill>
                    <a:srgbClr val="FFFFFF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 </a:t>
              </a:r>
              <a:r>
                <a:rPr sz="600" b="1" kern="0" spc="40" dirty="0">
                  <a:solidFill>
                    <a:srgbClr val="FFFFFF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De</a:t>
              </a:r>
              <a:r>
                <a:rPr sz="600" b="1" kern="0" spc="30" dirty="0">
                  <a:solidFill>
                    <a:srgbClr val="FFFFFF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finitions:</a:t>
              </a:r>
              <a:r>
                <a:rPr sz="600" b="1" kern="0" spc="60" dirty="0">
                  <a:solidFill>
                    <a:srgbClr val="FFFFFF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 </a:t>
              </a:r>
              <a:r>
                <a:rPr sz="600" kern="0" spc="30" dirty="0">
                  <a:solidFill>
                    <a:srgbClr val="FFFFFF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How to</a:t>
              </a:r>
              <a:r>
                <a:rPr sz="600" kern="0" spc="60" dirty="0">
                  <a:solidFill>
                    <a:srgbClr val="FFFFFF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 </a:t>
              </a:r>
              <a:r>
                <a:rPr sz="600" kern="0" spc="30" dirty="0">
                  <a:solidFill>
                    <a:srgbClr val="FFFFFF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interpret</a:t>
              </a:r>
              <a:r>
                <a:rPr sz="600" kern="0" spc="0" dirty="0">
                  <a:solidFill>
                    <a:srgbClr val="FFFFFF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     </a:t>
              </a:r>
              <a:r>
                <a:rPr sz="600" kern="0" spc="30" dirty="0">
                  <a:solidFill>
                    <a:srgbClr val="FFFFFF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and apply the</a:t>
              </a:r>
              <a:r>
                <a:rPr sz="600" kern="0" spc="100" dirty="0">
                  <a:solidFill>
                    <a:srgbClr val="FFFFFF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 </a:t>
              </a:r>
              <a:r>
                <a:rPr sz="600" kern="0" spc="30" dirty="0">
                  <a:solidFill>
                    <a:srgbClr val="FFFFFF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related</a:t>
              </a:r>
              <a:r>
                <a:rPr sz="600" kern="0" spc="70" dirty="0">
                  <a:solidFill>
                    <a:srgbClr val="FFFFFF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 </a:t>
              </a:r>
              <a:r>
                <a:rPr sz="600" kern="0" spc="30" dirty="0">
                  <a:solidFill>
                    <a:srgbClr val="FFFFFF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Base</a:t>
              </a:r>
              <a:r>
                <a:rPr sz="600" kern="0" spc="70" dirty="0">
                  <a:solidFill>
                    <a:srgbClr val="FFFFFF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 </a:t>
              </a:r>
              <a:r>
                <a:rPr sz="600" kern="0" spc="30" dirty="0">
                  <a:solidFill>
                    <a:srgbClr val="FFFFFF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Practice</a:t>
              </a:r>
              <a:endParaRPr sz="600" dirty="0">
                <a:latin typeface="Arial Narrow"/>
                <a:ea typeface="Arial Narrow"/>
                <a:cs typeface="Arial Narrow"/>
              </a:endParaRPr>
            </a:p>
            <a:p>
              <a:pPr marL="12700" algn="l" rtl="0" eaLnBrk="0">
                <a:lnSpc>
                  <a:spcPct val="91000"/>
                </a:lnSpc>
                <a:spcBef>
                  <a:spcPts val="1196"/>
                </a:spcBef>
                <a:tabLst/>
              </a:pPr>
              <a:r>
                <a:rPr sz="600" b="1" kern="0" spc="40" dirty="0">
                  <a:solidFill>
                    <a:srgbClr val="FFFFFF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Agile Work</a:t>
              </a:r>
              <a:r>
                <a:rPr sz="600" b="1" kern="0" spc="60" dirty="0">
                  <a:solidFill>
                    <a:srgbClr val="FFFFFF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 </a:t>
              </a:r>
              <a:r>
                <a:rPr sz="600" b="1" kern="0" spc="40" dirty="0">
                  <a:solidFill>
                    <a:srgbClr val="FFFFFF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Products: </a:t>
              </a:r>
              <a:r>
                <a:rPr sz="600" kern="0" spc="40" dirty="0">
                  <a:solidFill>
                    <a:srgbClr val="FFFFFF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What </a:t>
              </a:r>
              <a:r>
                <a:rPr sz="600" kern="0" spc="30" dirty="0">
                  <a:solidFill>
                    <a:srgbClr val="FFFFFF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are the typical</a:t>
              </a:r>
              <a:endParaRPr sz="600" dirty="0">
                <a:latin typeface="Arial Narrow"/>
                <a:ea typeface="Arial Narrow"/>
                <a:cs typeface="Arial Narrow"/>
              </a:endParaRPr>
            </a:p>
            <a:p>
              <a:pPr marL="469900" algn="l" rtl="0" eaLnBrk="0">
                <a:lnSpc>
                  <a:spcPct val="91000"/>
                </a:lnSpc>
                <a:spcBef>
                  <a:spcPts val="45"/>
                </a:spcBef>
                <a:tabLst/>
              </a:pPr>
              <a:r>
                <a:rPr sz="600" kern="0" spc="30" dirty="0">
                  <a:solidFill>
                    <a:srgbClr val="FFFFFF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agile artefacts?</a:t>
              </a:r>
              <a:endParaRPr sz="600" dirty="0">
                <a:latin typeface="Arial Narrow"/>
                <a:ea typeface="Arial Narrow"/>
                <a:cs typeface="Arial Narrow"/>
              </a:endParaRPr>
            </a:p>
            <a:p>
              <a:pPr algn="l" rtl="0" eaLnBrk="0">
                <a:lnSpc>
                  <a:spcPct val="150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14605" algn="l" rtl="0" eaLnBrk="0">
                <a:lnSpc>
                  <a:spcPct val="91000"/>
                </a:lnSpc>
                <a:spcBef>
                  <a:spcPts val="181"/>
                </a:spcBef>
                <a:tabLst/>
              </a:pPr>
              <a:r>
                <a:rPr sz="600" b="1" kern="0" spc="40" dirty="0">
                  <a:solidFill>
                    <a:srgbClr val="FFFFFF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Supporting:</a:t>
              </a:r>
              <a:r>
                <a:rPr sz="600" b="1" kern="0" spc="60" dirty="0">
                  <a:solidFill>
                    <a:srgbClr val="FFFFFF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 </a:t>
              </a:r>
              <a:r>
                <a:rPr sz="600" b="1" kern="0" spc="40" dirty="0">
                  <a:solidFill>
                    <a:srgbClr val="FFFFFF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How does the</a:t>
              </a:r>
              <a:r>
                <a:rPr sz="600" b="1" kern="0" spc="60" dirty="0">
                  <a:solidFill>
                    <a:srgbClr val="FFFFFF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 </a:t>
              </a:r>
              <a:r>
                <a:rPr sz="600" b="1" kern="0" spc="40" dirty="0">
                  <a:solidFill>
                    <a:srgbClr val="FFFFFF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Base</a:t>
              </a:r>
              <a:r>
                <a:rPr sz="600" b="1" kern="0" spc="70" dirty="0">
                  <a:solidFill>
                    <a:srgbClr val="FFFFFF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 </a:t>
              </a:r>
              <a:r>
                <a:rPr sz="600" b="1" kern="0" spc="40" dirty="0">
                  <a:solidFill>
                    <a:srgbClr val="FFFFFF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P</a:t>
              </a:r>
              <a:r>
                <a:rPr sz="600" b="1" kern="0" spc="30" dirty="0">
                  <a:solidFill>
                    <a:srgbClr val="FFFFFF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ractice</a:t>
              </a:r>
              <a:endParaRPr sz="600" dirty="0">
                <a:latin typeface="Arial Narrow"/>
                <a:ea typeface="Arial Narrow"/>
                <a:cs typeface="Arial Narrow"/>
              </a:endParaRPr>
            </a:p>
            <a:p>
              <a:pPr marL="173355" algn="l" rtl="0" eaLnBrk="0">
                <a:lnSpc>
                  <a:spcPct val="91000"/>
                </a:lnSpc>
                <a:spcBef>
                  <a:spcPts val="45"/>
                </a:spcBef>
                <a:tabLst/>
              </a:pPr>
              <a:r>
                <a:rPr sz="600" b="1" kern="0" spc="40" dirty="0">
                  <a:solidFill>
                    <a:srgbClr val="FFFFFF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(including artefact</a:t>
              </a:r>
              <a:r>
                <a:rPr sz="600" b="1" kern="0" spc="30" dirty="0">
                  <a:solidFill>
                    <a:srgbClr val="FFFFFF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s) maps</a:t>
              </a:r>
              <a:r>
                <a:rPr sz="600" b="1" kern="0" spc="20" dirty="0">
                  <a:solidFill>
                    <a:srgbClr val="FFFFFF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 </a:t>
              </a:r>
              <a:r>
                <a:rPr sz="600" b="1" kern="0" spc="30" dirty="0">
                  <a:solidFill>
                    <a:srgbClr val="FFFFFF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to</a:t>
              </a:r>
              <a:r>
                <a:rPr sz="600" b="1" kern="0" spc="80" dirty="0">
                  <a:solidFill>
                    <a:srgbClr val="FFFFFF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 </a:t>
              </a:r>
              <a:r>
                <a:rPr sz="600" b="1" kern="0" spc="30" dirty="0">
                  <a:solidFill>
                    <a:srgbClr val="FFFFFF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…</a:t>
              </a:r>
              <a:endParaRPr sz="600" dirty="0">
                <a:latin typeface="Arial Narrow"/>
                <a:ea typeface="Arial Narrow"/>
                <a:cs typeface="Arial Narrow"/>
              </a:endParaRPr>
            </a:p>
            <a:p>
              <a:pPr algn="l" rtl="0" eaLnBrk="0">
                <a:lnSpc>
                  <a:spcPct val="136000"/>
                </a:lnSpc>
                <a:tabLst/>
              </a:pPr>
              <a:endParaRPr sz="200" dirty="0">
                <a:latin typeface="Arial"/>
                <a:ea typeface="Arial"/>
                <a:cs typeface="Arial"/>
              </a:endParaRPr>
            </a:p>
            <a:p>
              <a:pPr marL="119379" algn="l" rtl="0" eaLnBrk="0">
                <a:lnSpc>
                  <a:spcPct val="91000"/>
                </a:lnSpc>
                <a:spcBef>
                  <a:spcPts val="2"/>
                </a:spcBef>
                <a:tabLst/>
              </a:pPr>
              <a:r>
                <a:rPr sz="600" kern="0" spc="30" dirty="0">
                  <a:solidFill>
                    <a:srgbClr val="FFFFFF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The agile</a:t>
              </a:r>
              <a:r>
                <a:rPr sz="600" kern="0" spc="60" dirty="0">
                  <a:solidFill>
                    <a:srgbClr val="FFFFFF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 </a:t>
              </a:r>
              <a:r>
                <a:rPr sz="600" kern="0" spc="30" dirty="0">
                  <a:solidFill>
                    <a:srgbClr val="FFFFFF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principles</a:t>
              </a:r>
              <a:r>
                <a:rPr sz="600" kern="0" spc="50" dirty="0">
                  <a:solidFill>
                    <a:srgbClr val="FFFFFF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 </a:t>
              </a:r>
              <a:r>
                <a:rPr sz="600" kern="0" spc="30" dirty="0">
                  <a:solidFill>
                    <a:srgbClr val="FFFFFF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(page</a:t>
              </a:r>
              <a:r>
                <a:rPr sz="600" kern="0" spc="90" dirty="0">
                  <a:solidFill>
                    <a:srgbClr val="FFFFFF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 </a:t>
              </a:r>
              <a:r>
                <a:rPr sz="600" kern="0" spc="30" dirty="0">
                  <a:solidFill>
                    <a:srgbClr val="FFFFFF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….)</a:t>
              </a:r>
              <a:endParaRPr sz="600" dirty="0">
                <a:latin typeface="Arial Narrow"/>
                <a:ea typeface="Arial Narrow"/>
                <a:cs typeface="Arial Narrow"/>
              </a:endParaRPr>
            </a:p>
          </p:txBody>
        </p:sp>
        <p:sp>
          <p:nvSpPr>
            <p:cNvPr id="44" name="textbox 44"/>
            <p:cNvSpPr/>
            <p:nvPr/>
          </p:nvSpPr>
          <p:spPr>
            <a:xfrm>
              <a:off x="-5842" y="-12700"/>
              <a:ext cx="2764155" cy="120142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2907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88000"/>
                </a:lnSpc>
                <a:tabLst/>
              </a:pPr>
              <a:r>
                <a:rPr sz="800" b="1" kern="0" spc="40" dirty="0">
                  <a:solidFill>
                    <a:srgbClr val="015AAA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How to us</a:t>
              </a:r>
              <a:r>
                <a:rPr sz="800" b="1" kern="0" spc="30" dirty="0">
                  <a:solidFill>
                    <a:srgbClr val="015AAA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e this</a:t>
              </a:r>
              <a:r>
                <a:rPr sz="800" b="1" kern="0" spc="60" dirty="0">
                  <a:solidFill>
                    <a:srgbClr val="015AAA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 </a:t>
              </a:r>
              <a:r>
                <a:rPr sz="800" b="1" kern="0" spc="30" dirty="0">
                  <a:solidFill>
                    <a:srgbClr val="015AAA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booklet</a:t>
              </a:r>
              <a:endParaRPr sz="800" dirty="0">
                <a:latin typeface="Arial Narrow"/>
                <a:ea typeface="Arial Narrow"/>
                <a:cs typeface="Arial Narrow"/>
              </a:endParaRPr>
            </a:p>
            <a:p>
              <a:pPr marL="12700" algn="l" rtl="0" eaLnBrk="0">
                <a:lnSpc>
                  <a:spcPct val="80000"/>
                </a:lnSpc>
                <a:spcBef>
                  <a:spcPts val="929"/>
                </a:spcBef>
                <a:tabLst/>
              </a:pPr>
              <a:r>
                <a:rPr sz="600" b="1" kern="0" spc="0" dirty="0">
                  <a:solidFill>
                    <a:srgbClr val="015AAA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AGL</a:t>
              </a:r>
              <a:r>
                <a:rPr sz="600" b="1" kern="0" spc="30" dirty="0">
                  <a:solidFill>
                    <a:srgbClr val="015AAA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.1 </a:t>
              </a:r>
              <a:r>
                <a:rPr sz="600" b="1" kern="0" spc="0" dirty="0">
                  <a:solidFill>
                    <a:srgbClr val="015AAA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Agile</a:t>
              </a:r>
              <a:r>
                <a:rPr sz="600" b="1" kern="0" spc="30" dirty="0">
                  <a:solidFill>
                    <a:srgbClr val="015AAA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 </a:t>
              </a:r>
              <a:r>
                <a:rPr sz="600" b="1" kern="0" spc="0" dirty="0">
                  <a:solidFill>
                    <a:srgbClr val="015AAA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Work</a:t>
              </a:r>
              <a:r>
                <a:rPr sz="600" b="1" kern="0" spc="60" dirty="0">
                  <a:solidFill>
                    <a:srgbClr val="015AAA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 </a:t>
              </a:r>
              <a:r>
                <a:rPr sz="600" b="1" kern="0" spc="0" dirty="0">
                  <a:solidFill>
                    <a:srgbClr val="015AAA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Management</a:t>
              </a:r>
              <a:endParaRPr sz="600" dirty="0">
                <a:latin typeface="Arial Narrow"/>
                <a:ea typeface="Arial Narrow"/>
                <a:cs typeface="Arial Narrow"/>
              </a:endParaRPr>
            </a:p>
            <a:p>
              <a:pPr marL="16510" indent="-1905" algn="l" rtl="0" eaLnBrk="0">
                <a:lnSpc>
                  <a:spcPct val="107000"/>
                </a:lnSpc>
                <a:spcBef>
                  <a:spcPts val="216"/>
                </a:spcBef>
                <a:tabLst/>
              </a:pPr>
              <a:r>
                <a:rPr sz="500" kern="0" spc="20" dirty="0">
                  <a:solidFill>
                    <a:srgbClr val="231F20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The purpose of</a:t>
              </a:r>
              <a:r>
                <a:rPr sz="500" kern="0" spc="-40" dirty="0">
                  <a:solidFill>
                    <a:srgbClr val="231F20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 </a:t>
              </a:r>
              <a:r>
                <a:rPr sz="500" kern="0" spc="20" dirty="0">
                  <a:solidFill>
                    <a:srgbClr val="231F20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Agile Work</a:t>
              </a:r>
              <a:r>
                <a:rPr sz="500" kern="0" spc="40" dirty="0">
                  <a:solidFill>
                    <a:srgbClr val="231F20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 </a:t>
              </a:r>
              <a:r>
                <a:rPr sz="500" kern="0" spc="20" dirty="0">
                  <a:solidFill>
                    <a:srgbClr val="231F20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Manag</a:t>
              </a:r>
              <a:r>
                <a:rPr sz="500" kern="0" spc="10" dirty="0">
                  <a:solidFill>
                    <a:srgbClr val="231F20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ement is to collaboratively</a:t>
              </a:r>
              <a:r>
                <a:rPr sz="500" kern="0" spc="40" dirty="0">
                  <a:solidFill>
                    <a:srgbClr val="231F20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 </a:t>
              </a:r>
              <a:r>
                <a:rPr sz="500" kern="0" spc="10" dirty="0">
                  <a:solidFill>
                    <a:srgbClr val="231F20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manage the work</a:t>
              </a:r>
              <a:r>
                <a:rPr sz="500" kern="0" spc="20" dirty="0">
                  <a:solidFill>
                    <a:srgbClr val="231F20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 </a:t>
              </a:r>
              <a:r>
                <a:rPr sz="500" kern="0" spc="10" dirty="0">
                  <a:solidFill>
                    <a:srgbClr val="231F20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of a</a:t>
              </a:r>
              <a:r>
                <a:rPr sz="500" kern="0" spc="20" dirty="0">
                  <a:solidFill>
                    <a:srgbClr val="231F20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 </a:t>
              </a:r>
              <a:r>
                <a:rPr sz="500" kern="0" spc="10" dirty="0">
                  <a:solidFill>
                    <a:srgbClr val="231F20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team</a:t>
              </a:r>
              <a:r>
                <a:rPr sz="500" kern="0" spc="30" dirty="0">
                  <a:solidFill>
                    <a:srgbClr val="231F20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 </a:t>
              </a:r>
              <a:r>
                <a:rPr sz="500" kern="0" spc="10" dirty="0">
                  <a:solidFill>
                    <a:srgbClr val="231F20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(of teams)</a:t>
              </a:r>
              <a:r>
                <a:rPr sz="500" kern="0" spc="20" dirty="0">
                  <a:solidFill>
                    <a:srgbClr val="231F20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 </a:t>
              </a:r>
              <a:r>
                <a:rPr sz="500" kern="0" spc="10" dirty="0">
                  <a:solidFill>
                    <a:srgbClr val="231F20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to</a:t>
              </a:r>
              <a:r>
                <a:rPr sz="500" kern="0" spc="20" dirty="0">
                  <a:solidFill>
                    <a:srgbClr val="231F20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 </a:t>
              </a:r>
              <a:r>
                <a:rPr sz="500" kern="0" spc="10" dirty="0">
                  <a:solidFill>
                    <a:srgbClr val="231F20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develop</a:t>
              </a:r>
              <a:r>
                <a:rPr sz="500" kern="0" spc="0" dirty="0">
                  <a:solidFill>
                    <a:srgbClr val="231F20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 </a:t>
              </a:r>
              <a:r>
                <a:rPr sz="500" kern="0" spc="20" dirty="0">
                  <a:solidFill>
                    <a:srgbClr val="231F20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iteratively within work boun</a:t>
              </a:r>
              <a:r>
                <a:rPr sz="500" kern="0" spc="10" dirty="0">
                  <a:solidFill>
                    <a:srgbClr val="231F20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daries, vision and strategic themes to generate</a:t>
              </a:r>
              <a:r>
                <a:rPr sz="500" kern="0" spc="30" dirty="0">
                  <a:solidFill>
                    <a:srgbClr val="231F20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 </a:t>
              </a:r>
              <a:r>
                <a:rPr sz="500" kern="0" spc="10" dirty="0">
                  <a:solidFill>
                    <a:srgbClr val="231F20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business and</a:t>
              </a:r>
              <a:r>
                <a:rPr sz="500" kern="0" spc="20" dirty="0">
                  <a:solidFill>
                    <a:srgbClr val="231F20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 </a:t>
              </a:r>
              <a:r>
                <a:rPr sz="500" kern="0" spc="10" dirty="0">
                  <a:solidFill>
                    <a:srgbClr val="231F20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customer value.</a:t>
              </a:r>
              <a:endParaRPr sz="500" dirty="0">
                <a:latin typeface="Arial Narrow"/>
                <a:ea typeface="Arial Narrow"/>
                <a:cs typeface="Arial Narrow"/>
              </a:endParaRPr>
            </a:p>
            <a:p>
              <a:pPr marL="29844" algn="l" rtl="0" eaLnBrk="0">
                <a:lnSpc>
                  <a:spcPct val="85000"/>
                </a:lnSpc>
                <a:spcBef>
                  <a:spcPts val="480"/>
                </a:spcBef>
                <a:tabLst/>
              </a:pPr>
              <a:r>
                <a:rPr sz="500" kern="0" spc="10" dirty="0">
                  <a:solidFill>
                    <a:srgbClr val="FFFFFF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Agile</a:t>
              </a:r>
              <a:r>
                <a:rPr sz="500" kern="0" spc="110" dirty="0">
                  <a:solidFill>
                    <a:srgbClr val="FFFFFF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 </a:t>
              </a:r>
              <a:r>
                <a:rPr sz="500" kern="0" spc="10" dirty="0">
                  <a:solidFill>
                    <a:srgbClr val="FFFFFF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Process Outcomes</a:t>
              </a:r>
              <a:endParaRPr sz="500" dirty="0">
                <a:latin typeface="Arial Narrow"/>
                <a:ea typeface="Arial Narrow"/>
                <a:cs typeface="Arial Narrow"/>
              </a:endParaRPr>
            </a:p>
            <a:p>
              <a:pPr marL="22225" algn="l" rtl="0" eaLnBrk="0">
                <a:lnSpc>
                  <a:spcPct val="84000"/>
                </a:lnSpc>
                <a:spcBef>
                  <a:spcPts val="259"/>
                </a:spcBef>
                <a:tabLst/>
              </a:pPr>
              <a:r>
                <a:rPr sz="500" kern="0" spc="10" dirty="0">
                  <a:solidFill>
                    <a:srgbClr val="231F20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[1]  the scope of the work is</a:t>
              </a:r>
              <a:r>
                <a:rPr sz="500" kern="0" spc="40" dirty="0">
                  <a:solidFill>
                    <a:srgbClr val="231F20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 </a:t>
              </a:r>
              <a:r>
                <a:rPr sz="500" kern="0" spc="10" dirty="0">
                  <a:solidFill>
                    <a:srgbClr val="231F20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defined</a:t>
              </a:r>
              <a:r>
                <a:rPr sz="500" kern="0" spc="20" dirty="0">
                  <a:solidFill>
                    <a:srgbClr val="231F20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 </a:t>
              </a:r>
              <a:r>
                <a:rPr sz="500" kern="0" spc="10" dirty="0">
                  <a:solidFill>
                    <a:srgbClr val="231F20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and</a:t>
              </a:r>
              <a:r>
                <a:rPr sz="500" kern="0" spc="40" dirty="0">
                  <a:solidFill>
                    <a:srgbClr val="231F20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 </a:t>
              </a:r>
              <a:r>
                <a:rPr sz="500" kern="0" spc="10" dirty="0">
                  <a:solidFill>
                    <a:srgbClr val="231F20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kept</a:t>
              </a:r>
              <a:r>
                <a:rPr sz="500" kern="0" spc="30" dirty="0">
                  <a:solidFill>
                    <a:srgbClr val="231F20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 </a:t>
              </a:r>
              <a:r>
                <a:rPr sz="500" kern="0" spc="10" dirty="0">
                  <a:solidFill>
                    <a:srgbClr val="231F20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up to</a:t>
              </a:r>
              <a:r>
                <a:rPr sz="500" kern="0" spc="30" dirty="0">
                  <a:solidFill>
                    <a:srgbClr val="231F20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 </a:t>
              </a:r>
              <a:r>
                <a:rPr sz="500" kern="0" spc="10" dirty="0">
                  <a:solidFill>
                    <a:srgbClr val="231F20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date.</a:t>
              </a:r>
              <a:endParaRPr sz="500" dirty="0">
                <a:latin typeface="Arial Narrow"/>
                <a:ea typeface="Arial Narrow"/>
                <a:cs typeface="Arial Narrow"/>
              </a:endParaRPr>
            </a:p>
            <a:p>
              <a:pPr marL="22225" algn="l" rtl="0" eaLnBrk="0">
                <a:lnSpc>
                  <a:spcPct val="85000"/>
                </a:lnSpc>
                <a:spcBef>
                  <a:spcPts val="172"/>
                </a:spcBef>
                <a:tabLst/>
              </a:pPr>
              <a:r>
                <a:rPr sz="500" kern="0" spc="20" dirty="0">
                  <a:solidFill>
                    <a:srgbClr val="231F20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[2]  the right s</a:t>
              </a:r>
              <a:r>
                <a:rPr sz="500" kern="0" spc="10" dirty="0">
                  <a:solidFill>
                    <a:srgbClr val="231F20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et of competencies and adequate</a:t>
              </a:r>
              <a:r>
                <a:rPr sz="500" kern="0" spc="30" dirty="0">
                  <a:solidFill>
                    <a:srgbClr val="231F20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 </a:t>
              </a:r>
              <a:r>
                <a:rPr sz="500" kern="0" spc="10" dirty="0">
                  <a:solidFill>
                    <a:srgbClr val="231F20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resources</a:t>
              </a:r>
              <a:r>
                <a:rPr sz="500" kern="0" spc="20" dirty="0">
                  <a:solidFill>
                    <a:srgbClr val="231F20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 </a:t>
              </a:r>
              <a:r>
                <a:rPr sz="500" kern="0" spc="10" dirty="0">
                  <a:solidFill>
                    <a:srgbClr val="231F20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are</a:t>
              </a:r>
              <a:r>
                <a:rPr sz="500" kern="0" spc="40" dirty="0">
                  <a:solidFill>
                    <a:srgbClr val="231F20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 </a:t>
              </a:r>
              <a:r>
                <a:rPr sz="500" kern="0" spc="10" dirty="0">
                  <a:solidFill>
                    <a:srgbClr val="231F20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planned</a:t>
              </a:r>
              <a:r>
                <a:rPr sz="500" kern="0" spc="20" dirty="0">
                  <a:solidFill>
                    <a:srgbClr val="231F20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 </a:t>
              </a:r>
              <a:r>
                <a:rPr sz="500" kern="0" spc="10" dirty="0">
                  <a:solidFill>
                    <a:srgbClr val="231F20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and</a:t>
              </a:r>
              <a:r>
                <a:rPr sz="500" kern="0" spc="20" dirty="0">
                  <a:solidFill>
                    <a:srgbClr val="231F20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 </a:t>
              </a:r>
              <a:r>
                <a:rPr sz="500" kern="0" spc="10" dirty="0">
                  <a:solidFill>
                    <a:srgbClr val="231F20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adapted</a:t>
              </a:r>
              <a:r>
                <a:rPr sz="500" kern="0" spc="30" dirty="0">
                  <a:solidFill>
                    <a:srgbClr val="231F20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 </a:t>
              </a:r>
              <a:r>
                <a:rPr sz="500" kern="0" spc="10" dirty="0">
                  <a:solidFill>
                    <a:srgbClr val="231F20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as</a:t>
              </a:r>
              <a:r>
                <a:rPr sz="500" kern="0" spc="30" dirty="0">
                  <a:solidFill>
                    <a:srgbClr val="231F20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 </a:t>
              </a:r>
              <a:r>
                <a:rPr sz="500" kern="0" spc="10" dirty="0">
                  <a:solidFill>
                    <a:srgbClr val="231F20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needed.</a:t>
              </a:r>
              <a:endParaRPr sz="500" dirty="0">
                <a:latin typeface="Arial Narrow"/>
                <a:ea typeface="Arial Narrow"/>
                <a:cs typeface="Arial Narrow"/>
              </a:endParaRPr>
            </a:p>
            <a:p>
              <a:pPr marL="22225" algn="l" rtl="0" eaLnBrk="0">
                <a:lnSpc>
                  <a:spcPct val="85000"/>
                </a:lnSpc>
                <a:spcBef>
                  <a:spcPts val="165"/>
                </a:spcBef>
                <a:tabLst/>
              </a:pPr>
              <a:r>
                <a:rPr sz="500" kern="0" spc="20" dirty="0">
                  <a:solidFill>
                    <a:srgbClr val="231F20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[3]  a wor</a:t>
              </a:r>
              <a:r>
                <a:rPr sz="500" kern="0" spc="10" dirty="0">
                  <a:solidFill>
                    <a:srgbClr val="231F20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k approach is defined</a:t>
              </a:r>
              <a:r>
                <a:rPr sz="500" kern="0" spc="20" dirty="0">
                  <a:solidFill>
                    <a:srgbClr val="231F20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 </a:t>
              </a:r>
              <a:r>
                <a:rPr sz="500" kern="0" spc="10" dirty="0">
                  <a:solidFill>
                    <a:srgbClr val="231F20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and</a:t>
              </a:r>
              <a:r>
                <a:rPr sz="500" kern="0" spc="30" dirty="0">
                  <a:solidFill>
                    <a:srgbClr val="231F20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 </a:t>
              </a:r>
              <a:r>
                <a:rPr sz="500" kern="0" spc="10" dirty="0">
                  <a:solidFill>
                    <a:srgbClr val="231F20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continuously</a:t>
              </a:r>
              <a:r>
                <a:rPr sz="500" kern="0" spc="40" dirty="0">
                  <a:solidFill>
                    <a:srgbClr val="231F20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 </a:t>
              </a:r>
              <a:r>
                <a:rPr sz="500" kern="0" spc="10" dirty="0">
                  <a:solidFill>
                    <a:srgbClr val="231F20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improved.</a:t>
              </a:r>
              <a:endParaRPr sz="500" dirty="0">
                <a:latin typeface="Arial Narrow"/>
                <a:ea typeface="Arial Narrow"/>
                <a:cs typeface="Arial Narrow"/>
              </a:endParaRPr>
            </a:p>
            <a:p>
              <a:pPr marL="22225" algn="l" rtl="0" eaLnBrk="0">
                <a:lnSpc>
                  <a:spcPct val="85000"/>
                </a:lnSpc>
                <a:spcBef>
                  <a:spcPts val="166"/>
                </a:spcBef>
                <a:tabLst/>
              </a:pPr>
              <a:r>
                <a:rPr sz="500" kern="0" spc="20" dirty="0">
                  <a:solidFill>
                    <a:srgbClr val="231F20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[4]  dependencies, inter</a:t>
              </a:r>
              <a:r>
                <a:rPr sz="500" kern="0" spc="10" dirty="0">
                  <a:solidFill>
                    <a:srgbClr val="231F20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faces, stakeholders and their commitment are</a:t>
              </a:r>
              <a:r>
                <a:rPr sz="500" kern="0" spc="30" dirty="0">
                  <a:solidFill>
                    <a:srgbClr val="231F20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 </a:t>
              </a:r>
              <a:r>
                <a:rPr sz="500" kern="0" spc="10" dirty="0">
                  <a:solidFill>
                    <a:srgbClr val="231F20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planned for</a:t>
              </a:r>
              <a:r>
                <a:rPr sz="500" kern="0" spc="20" dirty="0">
                  <a:solidFill>
                    <a:srgbClr val="231F20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 </a:t>
              </a:r>
              <a:r>
                <a:rPr sz="500" kern="0" spc="10" dirty="0">
                  <a:solidFill>
                    <a:srgbClr val="231F20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and</a:t>
              </a:r>
              <a:r>
                <a:rPr sz="500" kern="0" spc="40" dirty="0">
                  <a:solidFill>
                    <a:srgbClr val="231F20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 </a:t>
              </a:r>
              <a:r>
                <a:rPr sz="500" kern="0" spc="10" dirty="0">
                  <a:solidFill>
                    <a:srgbClr val="231F20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monitored.</a:t>
              </a:r>
              <a:endParaRPr sz="500" dirty="0">
                <a:latin typeface="Arial Narrow"/>
                <a:ea typeface="Arial Narrow"/>
                <a:cs typeface="Arial Narrow"/>
              </a:endParaRPr>
            </a:p>
            <a:p>
              <a:pPr marL="22225" algn="l" rtl="0" eaLnBrk="0">
                <a:lnSpc>
                  <a:spcPct val="85000"/>
                </a:lnSpc>
                <a:spcBef>
                  <a:spcPts val="165"/>
                </a:spcBef>
                <a:tabLst/>
              </a:pPr>
              <a:r>
                <a:rPr sz="500" kern="0" spc="0" dirty="0">
                  <a:solidFill>
                    <a:srgbClr val="231F20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[5]</a:t>
              </a:r>
              <a:r>
                <a:rPr sz="500" kern="0" spc="20" dirty="0">
                  <a:solidFill>
                    <a:srgbClr val="231F20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   </a:t>
              </a:r>
              <a:r>
                <a:rPr sz="500" kern="0" spc="0" dirty="0">
                  <a:solidFill>
                    <a:srgbClr val="231F20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..,</a:t>
              </a:r>
              <a:endParaRPr sz="500" dirty="0">
                <a:latin typeface="Arial Narrow"/>
                <a:ea typeface="Arial Narrow"/>
                <a:cs typeface="Arial Narrow"/>
              </a:endParaRPr>
            </a:p>
            <a:p>
              <a:pPr algn="l" rtl="0" eaLnBrk="0">
                <a:lnSpc>
                  <a:spcPct val="123000"/>
                </a:lnSpc>
                <a:tabLst/>
              </a:pPr>
              <a:endParaRPr sz="300" dirty="0">
                <a:latin typeface="Arial"/>
                <a:ea typeface="Arial"/>
                <a:cs typeface="Arial"/>
              </a:endParaRPr>
            </a:p>
            <a:p>
              <a:pPr marL="38100" algn="l" rtl="0" eaLnBrk="0">
                <a:lnSpc>
                  <a:spcPct val="84000"/>
                </a:lnSpc>
                <a:spcBef>
                  <a:spcPts val="2"/>
                </a:spcBef>
                <a:tabLst/>
              </a:pPr>
              <a:r>
                <a:rPr sz="500" b="1" kern="0" spc="10" dirty="0">
                  <a:solidFill>
                    <a:srgbClr val="FFFFFF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Base</a:t>
              </a:r>
              <a:r>
                <a:rPr sz="500" b="1" kern="0" spc="30" dirty="0">
                  <a:solidFill>
                    <a:srgbClr val="FFFFFF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 </a:t>
              </a:r>
              <a:r>
                <a:rPr sz="500" b="1" kern="0" spc="10" dirty="0">
                  <a:solidFill>
                    <a:srgbClr val="FFFFFF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practice</a:t>
              </a:r>
              <a:r>
                <a:rPr sz="500" b="1" kern="0" spc="0" dirty="0">
                  <a:solidFill>
                    <a:srgbClr val="FFFFFF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s</a:t>
              </a:r>
              <a:endParaRPr sz="500" dirty="0">
                <a:latin typeface="Arial Narrow"/>
                <a:ea typeface="Arial Narrow"/>
                <a:cs typeface="Arial Narrow"/>
              </a:endParaRPr>
            </a:p>
          </p:txBody>
        </p:sp>
        <p:sp>
          <p:nvSpPr>
            <p:cNvPr id="46" name="textbox 46"/>
            <p:cNvSpPr/>
            <p:nvPr/>
          </p:nvSpPr>
          <p:spPr>
            <a:xfrm>
              <a:off x="34262" y="1272286"/>
              <a:ext cx="118110" cy="8191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4713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92000"/>
                </a:lnSpc>
                <a:tabLst/>
              </a:pPr>
              <a:r>
                <a:rPr sz="400" b="1" kern="0" spc="20" dirty="0">
                  <a:solidFill>
                    <a:srgbClr val="FFFFFF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BP1</a:t>
              </a:r>
              <a:endParaRPr sz="400" dirty="0">
                <a:latin typeface="Arial Narrow"/>
                <a:ea typeface="Arial Narrow"/>
                <a:cs typeface="Arial Narrow"/>
              </a:endParaRPr>
            </a:p>
          </p:txBody>
        </p:sp>
      </p:grpSp>
      <p:sp>
        <p:nvSpPr>
          <p:cNvPr id="48" name="textbox 48"/>
          <p:cNvSpPr/>
          <p:nvPr/>
        </p:nvSpPr>
        <p:spPr>
          <a:xfrm>
            <a:off x="2743068" y="3644904"/>
            <a:ext cx="2525395" cy="18859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10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9000"/>
              </a:lnSpc>
              <a:tabLst/>
            </a:pPr>
            <a:r>
              <a:rPr sz="900" b="1" kern="0" spc="40" baseline="-17362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4</a:t>
            </a:r>
            <a:r>
              <a:rPr sz="500" b="1" kern="0" spc="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                                                                                                                  </a:t>
            </a:r>
            <a:r>
              <a:rPr sz="900" kern="0" spc="40" dirty="0">
                <a:solidFill>
                  <a:srgbClr val="0E3654">
                    <a:alpha val="100000"/>
                  </a:srgbClr>
                </a:solidFill>
                <a:latin typeface="Arial"/>
                <a:ea typeface="Arial"/>
                <a:cs typeface="Arial"/>
              </a:rPr>
              <a:t>intacs.</a:t>
            </a:r>
            <a:r>
              <a:rPr sz="900" kern="0" spc="-80" dirty="0">
                <a:solidFill>
                  <a:srgbClr val="0E365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40" dirty="0">
                <a:solidFill>
                  <a:srgbClr val="0E3654">
                    <a:alpha val="100000"/>
                  </a:srgbClr>
                </a:solidFill>
                <a:latin typeface="Arial"/>
                <a:ea typeface="Arial"/>
                <a:cs typeface="Arial"/>
              </a:rPr>
              <a:t>i</a:t>
            </a:r>
            <a:r>
              <a:rPr sz="900" kern="0" spc="30" dirty="0">
                <a:solidFill>
                  <a:srgbClr val="0E3654">
                    <a:alpha val="100000"/>
                  </a:srgbClr>
                </a:solidFill>
                <a:latin typeface="Arial"/>
                <a:ea typeface="Arial"/>
                <a:cs typeface="Arial"/>
              </a:rPr>
              <a:t>nfoulal</a:t>
            </a:r>
            <a:endParaRPr sz="9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5766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495550" algn="l" rtl="0" eaLnBrk="0">
              <a:lnSpc>
                <a:spcPts val="126"/>
              </a:lnSpc>
              <a:tabLst/>
            </a:pPr>
            <a:r>
              <a:rPr sz="100" kern="0" spc="20" dirty="0">
                <a:solidFill>
                  <a:srgbClr val="0E3654">
                    <a:alpha val="100000"/>
                  </a:srgbClr>
                </a:solidFill>
                <a:latin typeface="Arial"/>
                <a:ea typeface="Arial"/>
                <a:cs typeface="Arial"/>
              </a:rPr>
              <a:t>M</a:t>
            </a:r>
            <a:endParaRPr sz="100" dirty="0">
              <a:latin typeface="Arial"/>
              <a:ea typeface="Arial"/>
              <a:cs typeface="Arial"/>
            </a:endParaRPr>
          </a:p>
        </p:txBody>
      </p:sp>
      <p:pic>
        <p:nvPicPr>
          <p:cNvPr id="50" name="picture 5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4481109" y="3788264"/>
            <a:ext cx="755282" cy="3193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picture 5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2580504" y="568808"/>
            <a:ext cx="2768236" cy="2746870"/>
          </a:xfrm>
          <a:prstGeom prst="rect">
            <a:avLst/>
          </a:prstGeom>
        </p:spPr>
      </p:pic>
      <p:sp>
        <p:nvSpPr>
          <p:cNvPr id="54" name="textbox 54"/>
          <p:cNvSpPr/>
          <p:nvPr/>
        </p:nvSpPr>
        <p:spPr>
          <a:xfrm>
            <a:off x="353790" y="670184"/>
            <a:ext cx="2247265" cy="215201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40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0000"/>
              </a:lnSpc>
              <a:tabLst/>
            </a:pP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▪ Growing comp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lexity and faster changes</a:t>
            </a: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during</a:t>
            </a:r>
            <a:endParaRPr sz="700" dirty="0">
              <a:latin typeface="Arial Narrow"/>
              <a:ea typeface="Arial Narrow"/>
              <a:cs typeface="Arial Narrow"/>
            </a:endParaRPr>
          </a:p>
          <a:p>
            <a:pPr marL="76200" algn="l" rtl="0" eaLnBrk="0">
              <a:lnSpc>
                <a:spcPct val="89000"/>
              </a:lnSpc>
              <a:spcBef>
                <a:spcPts val="253"/>
              </a:spcBef>
              <a:tabLst/>
            </a:pP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development drive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increased use</a:t>
            </a: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of agile</a:t>
            </a: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approaches.</a:t>
            </a:r>
            <a:endParaRPr sz="700" dirty="0">
              <a:latin typeface="Arial Narrow"/>
              <a:ea typeface="Arial Narrow"/>
              <a:cs typeface="Arial Narrow"/>
            </a:endParaRPr>
          </a:p>
          <a:p>
            <a:pPr marL="74930" indent="-62230" algn="l" rtl="0" eaLnBrk="0">
              <a:lnSpc>
                <a:spcPct val="116000"/>
              </a:lnSpc>
              <a:spcBef>
                <a:spcPts val="389"/>
              </a:spcBef>
              <a:tabLst/>
            </a:pP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▪ OEMs ens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ure the overall quality</a:t>
            </a: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and</a:t>
            </a: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safety/security</a:t>
            </a: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of</a:t>
            </a:r>
            <a:r>
              <a:rPr sz="700" kern="0" spc="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        </a:t>
            </a: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those prod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ucts, leading to</a:t>
            </a:r>
            <a:r>
              <a:rPr sz="700" kern="0" spc="6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increased</a:t>
            </a:r>
            <a:r>
              <a:rPr sz="700" kern="0" spc="6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pressure to</a:t>
            </a: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show</a:t>
            </a:r>
            <a:r>
              <a:rPr sz="700" kern="0" spc="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     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SPICE capabilities.</a:t>
            </a:r>
            <a:endParaRPr sz="700" dirty="0">
              <a:latin typeface="Arial Narrow"/>
              <a:ea typeface="Arial Narrow"/>
              <a:cs typeface="Arial Narrow"/>
            </a:endParaRPr>
          </a:p>
          <a:p>
            <a:pPr marL="76200" indent="-63500" algn="l" rtl="0" eaLnBrk="0">
              <a:lnSpc>
                <a:spcPct val="114000"/>
              </a:lnSpc>
              <a:spcBef>
                <a:spcPts val="368"/>
              </a:spcBef>
              <a:tabLst/>
            </a:pP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▪ SPICE as is</a:t>
            </a: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can</a:t>
            </a:r>
            <a:r>
              <a:rPr sz="700" kern="0" spc="6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be</a:t>
            </a: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applied</a:t>
            </a:r>
            <a:r>
              <a:rPr sz="700" kern="0" spc="5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and</a:t>
            </a:r>
            <a:r>
              <a:rPr sz="700" kern="0" spc="6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interpreted for any</a:t>
            </a:r>
            <a:r>
              <a:rPr sz="700" kern="0" spc="7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k</a:t>
            </a:r>
            <a:r>
              <a:rPr sz="700" kern="0" spc="2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ind</a:t>
            </a:r>
            <a:r>
              <a:rPr sz="700" kern="0" spc="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   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of development.</a:t>
            </a:r>
            <a:endParaRPr sz="700" dirty="0">
              <a:latin typeface="Arial Narrow"/>
              <a:ea typeface="Arial Narrow"/>
              <a:cs typeface="Arial Narrow"/>
            </a:endParaRPr>
          </a:p>
          <a:p>
            <a:pPr marL="12700" algn="l" rtl="0" eaLnBrk="0">
              <a:lnSpc>
                <a:spcPct val="89000"/>
              </a:lnSpc>
              <a:spcBef>
                <a:spcPts val="506"/>
              </a:spcBef>
              <a:tabLst/>
            </a:pP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▪</a:t>
            </a:r>
            <a:r>
              <a:rPr sz="700" kern="0" spc="6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However, both agile organizations and those</a:t>
            </a:r>
            <a:r>
              <a:rPr sz="700" kern="0" spc="7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in</a:t>
            </a: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an</a:t>
            </a: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agi</a:t>
            </a:r>
            <a:r>
              <a:rPr sz="700" kern="0" spc="2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le</a:t>
            </a:r>
            <a:endParaRPr sz="700" dirty="0">
              <a:latin typeface="Arial Narrow"/>
              <a:ea typeface="Arial Narrow"/>
              <a:cs typeface="Arial Narrow"/>
            </a:endParaRPr>
          </a:p>
          <a:p>
            <a:pPr marL="74930" algn="l" rtl="0" eaLnBrk="0">
              <a:lnSpc>
                <a:spcPct val="89000"/>
              </a:lnSpc>
              <a:spcBef>
                <a:spcPts val="253"/>
              </a:spcBef>
              <a:tabLst/>
            </a:pP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transitio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n struggle in implementing and</a:t>
            </a:r>
            <a:r>
              <a:rPr sz="700" kern="0" spc="6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interpreting</a:t>
            </a: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SPICE.</a:t>
            </a:r>
            <a:endParaRPr sz="700" dirty="0">
              <a:latin typeface="Arial Narrow"/>
              <a:ea typeface="Arial Narrow"/>
              <a:cs typeface="Arial Narrow"/>
            </a:endParaRPr>
          </a:p>
          <a:p>
            <a:pPr marL="74930" indent="-62230" algn="l" rtl="0" eaLnBrk="0">
              <a:lnSpc>
                <a:spcPct val="113000"/>
              </a:lnSpc>
              <a:spcBef>
                <a:spcPts val="406"/>
              </a:spcBef>
              <a:tabLst/>
            </a:pP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▪ There</a:t>
            </a:r>
            <a:r>
              <a:rPr sz="700" kern="0" spc="9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is a need to</a:t>
            </a:r>
            <a:r>
              <a:rPr sz="700" kern="0" spc="6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reduce</a:t>
            </a:r>
            <a:r>
              <a:rPr sz="700" kern="0" spc="6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misunderstandings and</a:t>
            </a:r>
            <a:r>
              <a:rPr sz="700" kern="0" spc="6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help</a:t>
            </a:r>
            <a:r>
              <a:rPr sz="700" kern="0" spc="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      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to interpret the terminology for</a:t>
            </a:r>
            <a:r>
              <a:rPr sz="700" kern="0" spc="5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both</a:t>
            </a: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sides.</a:t>
            </a:r>
            <a:endParaRPr sz="700" dirty="0">
              <a:latin typeface="Arial Narrow"/>
              <a:ea typeface="Arial Narrow"/>
              <a:cs typeface="Arial Narrow"/>
            </a:endParaRPr>
          </a:p>
          <a:p>
            <a:pPr marL="12700" algn="l" rtl="0" eaLnBrk="0">
              <a:lnSpc>
                <a:spcPct val="89000"/>
              </a:lnSpc>
              <a:spcBef>
                <a:spcPts val="514"/>
              </a:spcBef>
              <a:tabLst/>
            </a:pP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▪ This</a:t>
            </a:r>
            <a:r>
              <a:rPr sz="700" kern="0" spc="6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brid</a:t>
            </a:r>
            <a:r>
              <a:rPr sz="700" kern="0" spc="2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ge shall</a:t>
            </a:r>
            <a:r>
              <a:rPr sz="700" kern="0" spc="9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2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…</a:t>
            </a:r>
            <a:endParaRPr sz="700" dirty="0">
              <a:latin typeface="Arial Narrow"/>
              <a:ea typeface="Arial Narrow"/>
              <a:cs typeface="Arial Narrow"/>
            </a:endParaRPr>
          </a:p>
          <a:p>
            <a:pPr marL="76200" algn="l" rtl="0" eaLnBrk="0">
              <a:lnSpc>
                <a:spcPct val="147000"/>
              </a:lnSpc>
              <a:spcBef>
                <a:spcPts val="119"/>
              </a:spcBef>
              <a:tabLst/>
            </a:pP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- reduce the variation in</a:t>
            </a:r>
            <a:r>
              <a:rPr sz="700" kern="0" spc="7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interpretation</a:t>
            </a: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of assessors,</a:t>
            </a:r>
            <a:r>
              <a:rPr sz="700" kern="0" spc="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           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- increase the acceptance</a:t>
            </a:r>
            <a:r>
              <a:rPr sz="700" kern="0" spc="10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of SPICE</a:t>
            </a:r>
            <a:r>
              <a:rPr sz="700" kern="0" spc="6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in the</a:t>
            </a:r>
            <a:r>
              <a:rPr sz="700" kern="0" spc="5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agile</a:t>
            </a:r>
            <a:endParaRPr sz="700" dirty="0">
              <a:latin typeface="Arial Narrow"/>
              <a:ea typeface="Arial Narrow"/>
              <a:cs typeface="Arial Narrow"/>
            </a:endParaRPr>
          </a:p>
          <a:p>
            <a:pPr algn="l" rtl="0" eaLnBrk="0">
              <a:lnSpc>
                <a:spcPct val="19300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3190" algn="l" rtl="0" eaLnBrk="0">
              <a:lnSpc>
                <a:spcPct val="89000"/>
              </a:lnSpc>
              <a:tabLst/>
            </a:pP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community.</a:t>
            </a:r>
            <a:endParaRPr sz="700" dirty="0">
              <a:latin typeface="Arial Narrow"/>
              <a:ea typeface="Arial Narrow"/>
              <a:cs typeface="Arial Narrow"/>
            </a:endParaRPr>
          </a:p>
        </p:txBody>
      </p:sp>
      <p:sp>
        <p:nvSpPr>
          <p:cNvPr id="56" name="textbox 56"/>
          <p:cNvSpPr/>
          <p:nvPr/>
        </p:nvSpPr>
        <p:spPr>
          <a:xfrm>
            <a:off x="2568926" y="3373029"/>
            <a:ext cx="2767965" cy="17716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3611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indent="1270" algn="l" rtl="0" eaLnBrk="0">
              <a:lnSpc>
                <a:spcPct val="104000"/>
              </a:lnSpc>
              <a:tabLst/>
            </a:pPr>
            <a:r>
              <a:rPr sz="500" kern="0" spc="2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Stacey</a:t>
            </a:r>
            <a:r>
              <a:rPr sz="5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500" kern="0" spc="2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Matrix, developed by</a:t>
            </a:r>
            <a:r>
              <a:rPr sz="500" kern="0" spc="5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500" kern="0" spc="2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Ralph Stacey, Stacey</a:t>
            </a:r>
            <a:r>
              <a:rPr sz="5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500" kern="0" spc="2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RD. Strategi</a:t>
            </a:r>
            <a:r>
              <a:rPr sz="500" kern="0" spc="1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c</a:t>
            </a:r>
            <a:r>
              <a:rPr sz="5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500" kern="0" spc="1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management</a:t>
            </a:r>
            <a:r>
              <a:rPr sz="5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500" kern="0" spc="1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and</a:t>
            </a:r>
            <a:r>
              <a:rPr sz="500" kern="0" spc="2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500" kern="0" spc="1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organisational</a:t>
            </a:r>
            <a:r>
              <a:rPr sz="5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500" kern="0" spc="1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dynamics:</a:t>
            </a:r>
            <a:r>
              <a:rPr sz="500" kern="0" spc="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500" kern="0" spc="2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the challenge of complexity. 3rd ed.</a:t>
            </a:r>
            <a:r>
              <a:rPr sz="5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500" kern="0" spc="2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Harlow:</a:t>
            </a:r>
            <a:r>
              <a:rPr sz="500" kern="0" spc="5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500" kern="0" spc="1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Prentice</a:t>
            </a:r>
            <a:r>
              <a:rPr sz="5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500" kern="0" spc="1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Hall, 2002.</a:t>
            </a:r>
            <a:r>
              <a:rPr sz="500" kern="0" spc="5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500" kern="0" spc="1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Picture</a:t>
            </a:r>
            <a:r>
              <a:rPr sz="5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500" kern="0" spc="1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by</a:t>
            </a:r>
            <a:r>
              <a:rPr sz="5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500" kern="0" spc="1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Kugler</a:t>
            </a:r>
            <a:r>
              <a:rPr sz="5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500" kern="0" spc="1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Maag Cie</a:t>
            </a:r>
            <a:r>
              <a:rPr sz="5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500" kern="0" spc="1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GmbH</a:t>
            </a:r>
            <a:r>
              <a:rPr sz="500" kern="0" spc="2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500" kern="0" spc="1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2019</a:t>
            </a:r>
            <a:endParaRPr sz="500" dirty="0">
              <a:latin typeface="Arial Narrow"/>
              <a:ea typeface="Arial Narrow"/>
              <a:cs typeface="Arial Narrow"/>
            </a:endParaRPr>
          </a:p>
        </p:txBody>
      </p:sp>
      <p:sp>
        <p:nvSpPr>
          <p:cNvPr id="58" name="textbox 58"/>
          <p:cNvSpPr/>
          <p:nvPr/>
        </p:nvSpPr>
        <p:spPr>
          <a:xfrm>
            <a:off x="2744744" y="3644904"/>
            <a:ext cx="2524125" cy="1727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09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tabLst/>
            </a:pPr>
            <a:r>
              <a:rPr sz="500" b="1" kern="0" spc="1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5                    </a:t>
            </a:r>
            <a:r>
              <a:rPr sz="500" b="1" kern="0" spc="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                                                                                             </a:t>
            </a:r>
            <a:r>
              <a:rPr sz="1000" u="sng" kern="0" spc="0" dirty="0">
                <a:solidFill>
                  <a:srgbClr val="0E3654">
                    <a:alpha val="100000"/>
                  </a:srgbClr>
                </a:solidFill>
                <a:latin typeface="Arial"/>
                <a:ea typeface="Arial"/>
                <a:cs typeface="Arial"/>
              </a:rPr>
              <a:t>intacs</a:t>
            </a:r>
            <a:r>
              <a:rPr sz="1000" u="sng" kern="0" spc="0" dirty="0">
                <a:solidFill>
                  <a:srgbClr val="0E3654">
                    <a:alpha val="100000"/>
                  </a:srgbClr>
                </a:solidFill>
                <a:latin typeface="Arial"/>
                <a:ea typeface="Arial"/>
                <a:cs typeface="Arial"/>
              </a:rPr>
              <a:t>.</a:t>
            </a:r>
            <a:r>
              <a:rPr sz="1000" u="sng" kern="0" spc="-170" dirty="0">
                <a:solidFill>
                  <a:srgbClr val="0E365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u="sng" kern="0" spc="0" dirty="0">
                <a:solidFill>
                  <a:srgbClr val="0E3654">
                    <a:alpha val="100000"/>
                  </a:srgbClr>
                </a:solidFill>
                <a:latin typeface="Arial"/>
                <a:ea typeface="Arial"/>
                <a:cs typeface="Arial"/>
              </a:rPr>
              <a:t>infoul</a:t>
            </a:r>
            <a:r>
              <a:rPr sz="1000" kern="0" spc="0" dirty="0">
                <a:solidFill>
                  <a:srgbClr val="0E3654">
                    <a:alpha val="100000"/>
                  </a:srgbClr>
                </a:solidFill>
                <a:latin typeface="Arial"/>
                <a:ea typeface="Arial"/>
                <a:cs typeface="Arial"/>
              </a:rPr>
              <a:t>al</a:t>
            </a:r>
            <a:endParaRPr sz="1000" dirty="0">
              <a:latin typeface="Arial"/>
              <a:ea typeface="Arial"/>
              <a:cs typeface="Arial"/>
            </a:endParaRPr>
          </a:p>
        </p:txBody>
      </p:sp>
      <p:sp>
        <p:nvSpPr>
          <p:cNvPr id="60" name="textbox 60"/>
          <p:cNvSpPr/>
          <p:nvPr/>
        </p:nvSpPr>
        <p:spPr>
          <a:xfrm>
            <a:off x="275311" y="383304"/>
            <a:ext cx="2204720" cy="13271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90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tabLst/>
            </a:pPr>
            <a:r>
              <a:rPr sz="800" b="1" kern="0" spc="4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Agile SPICE™ is a</a:t>
            </a:r>
            <a:r>
              <a:rPr sz="800" b="1" kern="0" spc="6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800" b="1" kern="0" spc="4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bridge to Automotive S</a:t>
            </a:r>
            <a:r>
              <a:rPr sz="800" b="1" kern="0" spc="3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PICE™</a:t>
            </a:r>
            <a:endParaRPr sz="800" dirty="0">
              <a:latin typeface="Arial Narrow"/>
              <a:ea typeface="Arial Narrow"/>
              <a:cs typeface="Arial Narrow"/>
            </a:endParaRPr>
          </a:p>
        </p:txBody>
      </p:sp>
      <p:sp>
        <p:nvSpPr>
          <p:cNvPr id="62" name="textbox 62"/>
          <p:cNvSpPr/>
          <p:nvPr/>
        </p:nvSpPr>
        <p:spPr>
          <a:xfrm>
            <a:off x="5226288" y="3775564"/>
            <a:ext cx="41275" cy="419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26"/>
              </a:lnSpc>
              <a:tabLst/>
            </a:pPr>
            <a:r>
              <a:rPr sz="100" kern="0" spc="20" dirty="0">
                <a:solidFill>
                  <a:srgbClr val="0E3654">
                    <a:alpha val="100000"/>
                  </a:srgbClr>
                </a:solidFill>
                <a:latin typeface="Arial"/>
                <a:ea typeface="Arial"/>
                <a:cs typeface="Arial"/>
              </a:rPr>
              <a:t>M</a:t>
            </a:r>
            <a:endParaRPr sz="100" dirty="0"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textbox 64"/>
          <p:cNvSpPr/>
          <p:nvPr/>
        </p:nvSpPr>
        <p:spPr>
          <a:xfrm>
            <a:off x="2975320" y="689102"/>
            <a:ext cx="2201545" cy="213550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73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9000"/>
              </a:lnSpc>
              <a:tabLst/>
            </a:pPr>
            <a:r>
              <a:rPr sz="700" b="1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Viewpoint form a transforming organ</a:t>
            </a:r>
            <a:r>
              <a:rPr sz="700" b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ization</a:t>
            </a:r>
            <a:endParaRPr sz="700" dirty="0">
              <a:latin typeface="Arial Narrow"/>
              <a:ea typeface="Arial Narrow"/>
              <a:cs typeface="Arial Narrow"/>
            </a:endParaRPr>
          </a:p>
          <a:p>
            <a:pPr marL="78740" indent="-59689" algn="l" rtl="0" eaLnBrk="0">
              <a:lnSpc>
                <a:spcPct val="113000"/>
              </a:lnSpc>
              <a:spcBef>
                <a:spcPts val="414"/>
              </a:spcBef>
              <a:tabLst/>
            </a:pP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▪</a:t>
            </a:r>
            <a:r>
              <a:rPr sz="700" kern="0" spc="1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How to keep existing capability while</a:t>
            </a:r>
            <a:r>
              <a:rPr sz="700" kern="0" spc="6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moving toward</a:t>
            </a:r>
            <a:r>
              <a:rPr sz="700" kern="0" spc="5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agile</a:t>
            </a:r>
            <a:r>
              <a:rPr sz="700" kern="0" spc="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approaches?</a:t>
            </a:r>
            <a:endParaRPr sz="700" dirty="0">
              <a:latin typeface="Arial Narrow"/>
              <a:ea typeface="Arial Narrow"/>
              <a:cs typeface="Arial Narrow"/>
            </a:endParaRPr>
          </a:p>
          <a:p>
            <a:pPr marL="19050" algn="l" rtl="0" eaLnBrk="0">
              <a:lnSpc>
                <a:spcPct val="89000"/>
              </a:lnSpc>
              <a:spcBef>
                <a:spcPts val="506"/>
              </a:spcBef>
              <a:tabLst/>
            </a:pP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▪</a:t>
            </a:r>
            <a:r>
              <a:rPr sz="700" kern="0" spc="8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Learning about agile terminology</a:t>
            </a:r>
            <a:endParaRPr sz="700" dirty="0">
              <a:latin typeface="Arial Narrow"/>
              <a:ea typeface="Arial Narrow"/>
              <a:cs typeface="Arial Narrow"/>
            </a:endParaRPr>
          </a:p>
          <a:p>
            <a:pPr marL="80645" indent="-61595" algn="l" rtl="0" eaLnBrk="0">
              <a:lnSpc>
                <a:spcPct val="113000"/>
              </a:lnSpc>
              <a:spcBef>
                <a:spcPts val="406"/>
              </a:spcBef>
              <a:tabLst/>
            </a:pP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▪</a:t>
            </a:r>
            <a:r>
              <a:rPr sz="700" kern="0" spc="-2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Avoiding typical pitfalls in</a:t>
            </a: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an</a:t>
            </a: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agile transformati</a:t>
            </a:r>
            <a:r>
              <a:rPr sz="700" kern="0" spc="2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on</a:t>
            </a:r>
            <a:r>
              <a:rPr sz="700" kern="0" spc="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               </a:t>
            </a: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(e.g., how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to ensure</a:t>
            </a: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a</a:t>
            </a:r>
            <a:r>
              <a:rPr sz="700" kern="0" spc="6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minimum</a:t>
            </a: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of governance)</a:t>
            </a:r>
            <a:endParaRPr sz="700" dirty="0">
              <a:latin typeface="Arial Narrow"/>
              <a:ea typeface="Arial Narrow"/>
              <a:cs typeface="Arial Narrow"/>
            </a:endParaRPr>
          </a:p>
          <a:p>
            <a:pPr marL="12700" algn="l" rtl="0" eaLnBrk="0">
              <a:lnSpc>
                <a:spcPct val="89000"/>
              </a:lnSpc>
              <a:spcBef>
                <a:spcPts val="1082"/>
              </a:spcBef>
              <a:tabLst/>
            </a:pPr>
            <a:r>
              <a:rPr sz="700" b="1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Viewpoint of an as</a:t>
            </a:r>
            <a:r>
              <a:rPr sz="700" b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sessor</a:t>
            </a:r>
            <a:endParaRPr sz="700" dirty="0">
              <a:latin typeface="Arial Narrow"/>
              <a:ea typeface="Arial Narrow"/>
              <a:cs typeface="Arial Narrow"/>
            </a:endParaRPr>
          </a:p>
          <a:p>
            <a:pPr marL="78740" indent="-59689" algn="l" rtl="0" eaLnBrk="0">
              <a:lnSpc>
                <a:spcPct val="113000"/>
              </a:lnSpc>
              <a:spcBef>
                <a:spcPts val="405"/>
              </a:spcBef>
              <a:tabLst/>
            </a:pP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▪ Very broad interpretations of existing</a:t>
            </a:r>
            <a:r>
              <a:rPr sz="700" kern="0" spc="7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SPICE</a:t>
            </a:r>
            <a:r>
              <a:rPr sz="700" kern="0" spc="6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processes</a:t>
            </a:r>
            <a:r>
              <a:rPr sz="700" kern="0" spc="6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in</a:t>
            </a:r>
            <a:r>
              <a:rPr sz="700" kern="0" spc="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agile organizations</a:t>
            </a:r>
            <a:endParaRPr sz="700" dirty="0">
              <a:latin typeface="Arial Narrow"/>
              <a:ea typeface="Arial Narrow"/>
              <a:cs typeface="Arial Narrow"/>
            </a:endParaRPr>
          </a:p>
          <a:p>
            <a:pPr marL="19050" algn="l" rtl="0" eaLnBrk="0">
              <a:lnSpc>
                <a:spcPct val="90000"/>
              </a:lnSpc>
              <a:spcBef>
                <a:spcPts val="506"/>
              </a:spcBef>
              <a:tabLst/>
            </a:pP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▪</a:t>
            </a:r>
            <a:r>
              <a:rPr sz="700" kern="0" spc="6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Lack of comm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on terminology for assessing agile</a:t>
            </a:r>
            <a:endParaRPr sz="700" dirty="0">
              <a:latin typeface="Arial Narrow"/>
              <a:ea typeface="Arial Narrow"/>
              <a:cs typeface="Arial Narrow"/>
            </a:endParaRPr>
          </a:p>
          <a:p>
            <a:pPr marL="78740" indent="-59689" algn="l" rtl="0" eaLnBrk="0">
              <a:lnSpc>
                <a:spcPct val="114000"/>
              </a:lnSpc>
              <a:spcBef>
                <a:spcPts val="398"/>
              </a:spcBef>
              <a:tabLst/>
            </a:pP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▪</a:t>
            </a:r>
            <a:r>
              <a:rPr sz="700" kern="0" spc="10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Need a</a:t>
            </a:r>
            <a:r>
              <a:rPr sz="700" kern="0" spc="7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mapping of ratings between</a:t>
            </a: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classical</a:t>
            </a: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and</a:t>
            </a:r>
            <a:r>
              <a:rPr sz="700" kern="0" spc="5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agile</a:t>
            </a:r>
            <a:r>
              <a:rPr sz="700" kern="0" spc="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  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approaches</a:t>
            </a:r>
            <a:endParaRPr sz="700" dirty="0">
              <a:latin typeface="Arial Narrow"/>
              <a:ea typeface="Arial Narrow"/>
              <a:cs typeface="Arial Narrow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78740" indent="-59689" algn="l" rtl="0" eaLnBrk="0">
              <a:lnSpc>
                <a:spcPct val="114000"/>
              </a:lnSpc>
              <a:spcBef>
                <a:spcPts val="1"/>
              </a:spcBef>
              <a:tabLst/>
            </a:pP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▪</a:t>
            </a:r>
            <a:r>
              <a:rPr sz="700" kern="0" spc="9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Requires comparability of ratings of agile and</a:t>
            </a:r>
            <a:r>
              <a:rPr sz="700" kern="0" spc="5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classical</a:t>
            </a:r>
            <a:r>
              <a:rPr sz="700" kern="0" spc="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    </a:t>
            </a: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approaches to de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velopment work</a:t>
            </a:r>
            <a:endParaRPr sz="700" dirty="0">
              <a:latin typeface="Arial Narrow"/>
              <a:ea typeface="Arial Narrow"/>
              <a:cs typeface="Arial Narrow"/>
            </a:endParaRPr>
          </a:p>
        </p:txBody>
      </p:sp>
      <p:sp>
        <p:nvSpPr>
          <p:cNvPr id="66" name="textbox 66"/>
          <p:cNvSpPr/>
          <p:nvPr/>
        </p:nvSpPr>
        <p:spPr>
          <a:xfrm>
            <a:off x="275311" y="383304"/>
            <a:ext cx="2372360" cy="194881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90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3970" algn="l" rtl="0" eaLnBrk="0">
              <a:lnSpc>
                <a:spcPct val="88000"/>
              </a:lnSpc>
              <a:tabLst/>
            </a:pPr>
            <a:r>
              <a:rPr sz="800" b="1" kern="0" spc="4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Why Agile SPICE™?</a:t>
            </a:r>
            <a:endParaRPr sz="800" dirty="0">
              <a:latin typeface="Arial Narrow"/>
              <a:ea typeface="Arial Narrow"/>
              <a:cs typeface="Arial Narrow"/>
            </a:endParaRPr>
          </a:p>
          <a:p>
            <a:pPr algn="l" rtl="0" eaLnBrk="0">
              <a:lnSpc>
                <a:spcPct val="11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9000"/>
              </a:lnSpc>
              <a:spcBef>
                <a:spcPts val="212"/>
              </a:spcBef>
              <a:tabLst/>
            </a:pPr>
            <a:r>
              <a:rPr sz="700" b="1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Viewpoint from an agile or</a:t>
            </a:r>
            <a:r>
              <a:rPr sz="700" b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ganization</a:t>
            </a:r>
            <a:endParaRPr sz="700" dirty="0">
              <a:latin typeface="Arial Narrow"/>
              <a:ea typeface="Arial Narrow"/>
              <a:cs typeface="Arial Narrow"/>
            </a:endParaRPr>
          </a:p>
          <a:p>
            <a:pPr marL="78740" indent="-59689" algn="l" rtl="0" eaLnBrk="0">
              <a:lnSpc>
                <a:spcPct val="113000"/>
              </a:lnSpc>
              <a:spcBef>
                <a:spcPts val="406"/>
              </a:spcBef>
              <a:tabLst/>
            </a:pP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▪</a:t>
            </a:r>
            <a:r>
              <a:rPr sz="700" kern="0" spc="11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Driving acceptance of process capability</a:t>
            </a:r>
            <a:r>
              <a:rPr sz="700" kern="0" spc="6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requirements</a:t>
            </a:r>
            <a:r>
              <a:rPr sz="700" kern="0" spc="7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in</a:t>
            </a:r>
            <a:r>
              <a:rPr sz="700" kern="0" spc="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        </a:t>
            </a: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agile enviro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nments especially in automotive</a:t>
            </a:r>
            <a:r>
              <a:rPr sz="700" kern="0" spc="6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industry</a:t>
            </a:r>
            <a:endParaRPr sz="700" dirty="0">
              <a:latin typeface="Arial Narrow"/>
              <a:ea typeface="Arial Narrow"/>
              <a:cs typeface="Arial Narrow"/>
            </a:endParaRPr>
          </a:p>
          <a:p>
            <a:pPr marL="19050" algn="l" rtl="0" eaLnBrk="0">
              <a:lnSpc>
                <a:spcPct val="89000"/>
              </a:lnSpc>
              <a:spcBef>
                <a:spcPts val="514"/>
              </a:spcBef>
              <a:tabLst/>
            </a:pP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▪</a:t>
            </a:r>
            <a:r>
              <a:rPr sz="700" kern="0" spc="9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Practices describing „what“ is expected</a:t>
            </a:r>
            <a:r>
              <a:rPr sz="700" kern="0" spc="7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not the</a:t>
            </a: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„how“</a:t>
            </a:r>
            <a:endParaRPr sz="700" dirty="0">
              <a:latin typeface="Arial Narrow"/>
              <a:ea typeface="Arial Narrow"/>
              <a:cs typeface="Arial Narrow"/>
            </a:endParaRPr>
          </a:p>
          <a:p>
            <a:pPr marL="78740" algn="l" rtl="0" eaLnBrk="0">
              <a:lnSpc>
                <a:spcPct val="89000"/>
              </a:lnSpc>
              <a:spcBef>
                <a:spcPts val="537"/>
              </a:spcBef>
              <a:tabLst/>
            </a:pP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-</a:t>
            </a:r>
            <a:r>
              <a:rPr sz="700" kern="0" spc="-2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Avoiding discuss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ions about specific agile approaches</a:t>
            </a:r>
            <a:endParaRPr sz="700" dirty="0">
              <a:latin typeface="Arial Narrow"/>
              <a:ea typeface="Arial Narrow"/>
              <a:cs typeface="Arial Narrow"/>
            </a:endParaRPr>
          </a:p>
          <a:p>
            <a:pPr algn="r" rtl="0" eaLnBrk="0">
              <a:lnSpc>
                <a:spcPct val="89000"/>
              </a:lnSpc>
              <a:spcBef>
                <a:spcPts val="536"/>
              </a:spcBef>
              <a:tabLst/>
            </a:pP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-</a:t>
            </a:r>
            <a:r>
              <a:rPr sz="700" kern="0" spc="7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Ensuring ex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pected process capability by</a:t>
            </a: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automotive</a:t>
            </a:r>
            <a:r>
              <a:rPr sz="700" kern="0" spc="6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industry</a:t>
            </a:r>
            <a:endParaRPr sz="700" dirty="0">
              <a:latin typeface="Arial Narrow"/>
              <a:ea typeface="Arial Narrow"/>
              <a:cs typeface="Arial Narrow"/>
            </a:endParaRPr>
          </a:p>
          <a:p>
            <a:pPr marL="19050" algn="l" rtl="0" eaLnBrk="0">
              <a:lnSpc>
                <a:spcPct val="89000"/>
              </a:lnSpc>
              <a:spcBef>
                <a:spcPts val="535"/>
              </a:spcBef>
              <a:tabLst/>
            </a:pP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▪</a:t>
            </a:r>
            <a:r>
              <a:rPr sz="700" kern="0" spc="8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Helping in both</a:t>
            </a:r>
            <a:r>
              <a:rPr sz="700" kern="0" spc="6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implementing agile</a:t>
            </a: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good</a:t>
            </a:r>
            <a:r>
              <a:rPr sz="700" kern="0" spc="6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practices</a:t>
            </a: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and</a:t>
            </a:r>
            <a:endParaRPr sz="700" dirty="0">
              <a:latin typeface="Arial Narrow"/>
              <a:ea typeface="Arial Narrow"/>
              <a:cs typeface="Arial Narrow"/>
            </a:endParaRPr>
          </a:p>
          <a:p>
            <a:pPr marL="78740" algn="l" rtl="0" eaLnBrk="0">
              <a:lnSpc>
                <a:spcPct val="89000"/>
              </a:lnSpc>
              <a:spcBef>
                <a:spcPts val="253"/>
              </a:spcBef>
              <a:tabLst/>
            </a:pP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achieving</a:t>
            </a:r>
            <a:r>
              <a:rPr sz="700" kern="0" spc="-2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Automotive SPICE e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xpectations at the same time</a:t>
            </a:r>
            <a:endParaRPr sz="700" dirty="0">
              <a:latin typeface="Arial Narrow"/>
              <a:ea typeface="Arial Narrow"/>
              <a:cs typeface="Arial Narrow"/>
            </a:endParaRPr>
          </a:p>
          <a:p>
            <a:pPr marL="78740" indent="-59689" algn="l" rtl="0" eaLnBrk="0">
              <a:lnSpc>
                <a:spcPct val="113000"/>
              </a:lnSpc>
              <a:spcBef>
                <a:spcPts val="406"/>
              </a:spcBef>
              <a:tabLst/>
            </a:pP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▪</a:t>
            </a:r>
            <a:r>
              <a:rPr sz="700" kern="0" spc="6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Resolving past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misunderstandings of how to</a:t>
            </a:r>
            <a:r>
              <a:rPr sz="700" kern="0" spc="7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implement</a:t>
            </a: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and</a:t>
            </a:r>
            <a:r>
              <a:rPr sz="700" kern="0" spc="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   </a:t>
            </a: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assess rele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vant</a:t>
            </a:r>
            <a:r>
              <a:rPr sz="700" kern="0" spc="6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Base</a:t>
            </a:r>
            <a:r>
              <a:rPr sz="700" kern="0" spc="7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Practices in agile</a:t>
            </a: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environments</a:t>
            </a:r>
            <a:endParaRPr sz="700" dirty="0">
              <a:latin typeface="Arial Narrow"/>
              <a:ea typeface="Arial Narrow"/>
              <a:cs typeface="Arial Narrow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400" dirty="0">
              <a:latin typeface="Arial"/>
              <a:ea typeface="Arial"/>
              <a:cs typeface="Arial"/>
            </a:endParaRPr>
          </a:p>
          <a:p>
            <a:pPr marL="19050" algn="l" rtl="0" eaLnBrk="0">
              <a:lnSpc>
                <a:spcPct val="90000"/>
              </a:lnSpc>
              <a:spcBef>
                <a:spcPts val="2"/>
              </a:spcBef>
              <a:tabLst/>
            </a:pP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▪</a:t>
            </a:r>
            <a:r>
              <a:rPr sz="700" kern="0" spc="1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Providing a “SPICE bridge” to</a:t>
            </a: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agile</a:t>
            </a: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approaches</a:t>
            </a:r>
            <a:endParaRPr sz="700" dirty="0">
              <a:latin typeface="Arial Narrow"/>
              <a:ea typeface="Arial Narrow"/>
              <a:cs typeface="Arial Narrow"/>
            </a:endParaRPr>
          </a:p>
        </p:txBody>
      </p:sp>
      <p:sp>
        <p:nvSpPr>
          <p:cNvPr id="68" name="textbox 68"/>
          <p:cNvSpPr/>
          <p:nvPr/>
        </p:nvSpPr>
        <p:spPr>
          <a:xfrm>
            <a:off x="2744592" y="3644904"/>
            <a:ext cx="2524125" cy="1727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09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tabLst/>
            </a:pPr>
            <a:r>
              <a:rPr sz="500" b="1" kern="0" spc="1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6                    </a:t>
            </a:r>
            <a:r>
              <a:rPr sz="500" b="1" kern="0" spc="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                                                                                             </a:t>
            </a:r>
            <a:r>
              <a:rPr sz="1000" u="sng" kern="0" spc="0" dirty="0">
                <a:solidFill>
                  <a:srgbClr val="0E3654">
                    <a:alpha val="100000"/>
                  </a:srgbClr>
                </a:solidFill>
                <a:latin typeface="Arial"/>
                <a:ea typeface="Arial"/>
                <a:cs typeface="Arial"/>
              </a:rPr>
              <a:t>intacs</a:t>
            </a:r>
            <a:r>
              <a:rPr sz="1000" u="sng" kern="0" spc="0" dirty="0">
                <a:solidFill>
                  <a:srgbClr val="0E3654">
                    <a:alpha val="100000"/>
                  </a:srgbClr>
                </a:solidFill>
                <a:latin typeface="Arial"/>
                <a:ea typeface="Arial"/>
                <a:cs typeface="Arial"/>
              </a:rPr>
              <a:t>.</a:t>
            </a:r>
            <a:r>
              <a:rPr sz="1000" u="sng" kern="0" spc="-170" dirty="0">
                <a:solidFill>
                  <a:srgbClr val="0E365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u="sng" kern="0" spc="0" dirty="0">
                <a:solidFill>
                  <a:srgbClr val="0E3654">
                    <a:alpha val="100000"/>
                  </a:srgbClr>
                </a:solidFill>
                <a:latin typeface="Arial"/>
                <a:ea typeface="Arial"/>
                <a:cs typeface="Arial"/>
              </a:rPr>
              <a:t>infoul</a:t>
            </a:r>
            <a:r>
              <a:rPr sz="1000" kern="0" spc="0" dirty="0">
                <a:solidFill>
                  <a:srgbClr val="0E3654">
                    <a:alpha val="100000"/>
                  </a:srgbClr>
                </a:solidFill>
                <a:latin typeface="Arial"/>
                <a:ea typeface="Arial"/>
                <a:cs typeface="Arial"/>
              </a:rPr>
              <a:t>al</a:t>
            </a:r>
            <a:endParaRPr sz="1000" dirty="0">
              <a:latin typeface="Arial"/>
              <a:ea typeface="Arial"/>
              <a:cs typeface="Arial"/>
            </a:endParaRPr>
          </a:p>
        </p:txBody>
      </p:sp>
      <p:sp>
        <p:nvSpPr>
          <p:cNvPr id="70" name="textbox 70"/>
          <p:cNvSpPr/>
          <p:nvPr/>
        </p:nvSpPr>
        <p:spPr>
          <a:xfrm>
            <a:off x="1195204" y="3210697"/>
            <a:ext cx="3228340" cy="12128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73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9000"/>
              </a:lnSpc>
              <a:tabLst/>
            </a:pPr>
            <a:r>
              <a:rPr sz="700" b="1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Wishful thinking</a:t>
            </a:r>
            <a:r>
              <a:rPr sz="700" b="1" kern="0" spc="6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b="1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in the</a:t>
            </a:r>
            <a:r>
              <a:rPr sz="700" b="1" kern="0" spc="7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b="1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long run:</a:t>
            </a:r>
            <a:r>
              <a:rPr sz="700" b="1" kern="0" spc="7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b="1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Use of</a:t>
            </a:r>
            <a:r>
              <a:rPr sz="700" b="1" kern="0" spc="-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b="1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A</a:t>
            </a:r>
            <a:r>
              <a:rPr sz="700" b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gile SPICE™ as a</a:t>
            </a:r>
            <a:r>
              <a:rPr sz="700" b="1" kern="0" spc="7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b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bridge to</a:t>
            </a:r>
            <a:r>
              <a:rPr sz="700" b="1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b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other</a:t>
            </a:r>
            <a:r>
              <a:rPr sz="700" b="1" kern="0" spc="6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b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PAMs.</a:t>
            </a:r>
            <a:endParaRPr sz="700" dirty="0">
              <a:latin typeface="Arial Narrow"/>
              <a:ea typeface="Arial Narrow"/>
              <a:cs typeface="Arial Narrow"/>
            </a:endParaRPr>
          </a:p>
        </p:txBody>
      </p:sp>
      <p:sp>
        <p:nvSpPr>
          <p:cNvPr id="72" name="textbox 72"/>
          <p:cNvSpPr/>
          <p:nvPr/>
        </p:nvSpPr>
        <p:spPr>
          <a:xfrm>
            <a:off x="5226288" y="3775564"/>
            <a:ext cx="41275" cy="419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26"/>
              </a:lnSpc>
              <a:tabLst/>
            </a:pPr>
            <a:r>
              <a:rPr sz="100" kern="0" spc="20" dirty="0">
                <a:solidFill>
                  <a:srgbClr val="0E3654">
                    <a:alpha val="100000"/>
                  </a:srgbClr>
                </a:solidFill>
                <a:latin typeface="Arial"/>
                <a:ea typeface="Arial"/>
                <a:cs typeface="Arial"/>
              </a:rPr>
              <a:t>M</a:t>
            </a:r>
            <a:endParaRPr sz="100" dirty="0"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textbox 74"/>
          <p:cNvSpPr/>
          <p:nvPr/>
        </p:nvSpPr>
        <p:spPr>
          <a:xfrm>
            <a:off x="275311" y="383304"/>
            <a:ext cx="2219325" cy="171640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90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tabLst/>
            </a:pPr>
            <a:r>
              <a:rPr sz="800" b="1" kern="0" spc="4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Agile SPICE™ Assumptions</a:t>
            </a:r>
            <a:endParaRPr sz="800" dirty="0">
              <a:latin typeface="Arial Narrow"/>
              <a:ea typeface="Arial Narrow"/>
              <a:cs typeface="Arial Narrow"/>
            </a:endParaRPr>
          </a:p>
          <a:p>
            <a:pPr algn="l" rtl="0" eaLnBrk="0">
              <a:lnSpc>
                <a:spcPct val="11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9050" algn="l" rtl="0" eaLnBrk="0">
              <a:lnSpc>
                <a:spcPct val="90000"/>
              </a:lnSpc>
              <a:spcBef>
                <a:spcPts val="213"/>
              </a:spcBef>
              <a:tabLst/>
            </a:pP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▪</a:t>
            </a:r>
            <a:r>
              <a:rPr sz="700" kern="0" spc="7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Providing agile practices for the what and</a:t>
            </a:r>
            <a:r>
              <a:rPr sz="700" kern="0" spc="6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not the</a:t>
            </a:r>
            <a:r>
              <a:rPr sz="700" kern="0" spc="6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2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how</a:t>
            </a:r>
            <a:endParaRPr sz="700" dirty="0">
              <a:latin typeface="Arial Narrow"/>
              <a:ea typeface="Arial Narrow"/>
              <a:cs typeface="Arial Narrow"/>
            </a:endParaRPr>
          </a:p>
          <a:p>
            <a:pPr marL="78740" indent="-59689" algn="l" rtl="0" eaLnBrk="0">
              <a:lnSpc>
                <a:spcPct val="115000"/>
              </a:lnSpc>
              <a:spcBef>
                <a:spcPts val="407"/>
              </a:spcBef>
              <a:tabLst/>
            </a:pP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▪ Condensing existing best agile</a:t>
            </a:r>
            <a:r>
              <a:rPr sz="700" kern="0" spc="1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practices without favoring</a:t>
            </a:r>
            <a:r>
              <a:rPr sz="700" kern="0" spc="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a specifi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c one (e.g., Scrum,</a:t>
            </a:r>
            <a:r>
              <a:rPr sz="700" kern="0" spc="6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Kanban,</a:t>
            </a:r>
            <a:r>
              <a:rPr sz="700" kern="0" spc="5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SAFe,</a:t>
            </a:r>
            <a:r>
              <a:rPr sz="700" kern="0" spc="7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LeSS,</a:t>
            </a:r>
            <a:r>
              <a:rPr sz="700" kern="0" spc="7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Nexus,</a:t>
            </a:r>
            <a:r>
              <a:rPr sz="700" kern="0" spc="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Scrum of Scrum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s….)</a:t>
            </a:r>
            <a:endParaRPr sz="700" dirty="0">
              <a:latin typeface="Arial Narrow"/>
              <a:ea typeface="Arial Narrow"/>
              <a:cs typeface="Arial Narrow"/>
            </a:endParaRPr>
          </a:p>
          <a:p>
            <a:pPr marL="81280" indent="-62230" algn="l" rtl="0" eaLnBrk="0">
              <a:lnSpc>
                <a:spcPct val="113000"/>
              </a:lnSpc>
              <a:spcBef>
                <a:spcPts val="385"/>
              </a:spcBef>
              <a:tabLst/>
            </a:pP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▪</a:t>
            </a:r>
            <a:r>
              <a:rPr sz="700" kern="0" spc="7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Practice is within the guiding</a:t>
            </a:r>
            <a:r>
              <a:rPr sz="700" kern="0" spc="6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principles of</a:t>
            </a:r>
            <a:r>
              <a:rPr sz="700" kern="0" spc="2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the</a:t>
            </a: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2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agile</a:t>
            </a:r>
            <a:r>
              <a:rPr sz="700" kern="0" spc="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          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manifesto and our definition of agilit</a:t>
            </a:r>
            <a:r>
              <a:rPr sz="700" kern="0" spc="2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y</a:t>
            </a:r>
            <a:endParaRPr sz="700" dirty="0">
              <a:latin typeface="Arial Narrow"/>
              <a:ea typeface="Arial Narrow"/>
              <a:cs typeface="Arial Narrow"/>
            </a:endParaRPr>
          </a:p>
          <a:p>
            <a:pPr marL="80645" indent="-61595" algn="l" rtl="0" eaLnBrk="0">
              <a:lnSpc>
                <a:spcPct val="113000"/>
              </a:lnSpc>
              <a:spcBef>
                <a:spcPts val="385"/>
              </a:spcBef>
              <a:tabLst/>
            </a:pP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▪</a:t>
            </a:r>
            <a:r>
              <a:rPr sz="700" kern="0" spc="1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Bridging existing</a:t>
            </a:r>
            <a:r>
              <a:rPr sz="700" kern="0" spc="7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PAM processes and</a:t>
            </a: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outcomes</a:t>
            </a:r>
            <a:r>
              <a:rPr sz="700" kern="0" spc="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                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(do their intentions</a:t>
            </a:r>
            <a:r>
              <a:rPr sz="700" kern="0" spc="6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match</a:t>
            </a:r>
            <a:r>
              <a:rPr sz="700" kern="0" spc="2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?)</a:t>
            </a:r>
            <a:endParaRPr sz="700" dirty="0">
              <a:latin typeface="Arial Narrow"/>
              <a:ea typeface="Arial Narrow"/>
              <a:cs typeface="Arial Narrow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80645" indent="-61595" algn="l" rtl="0" eaLnBrk="0">
              <a:lnSpc>
                <a:spcPct val="113000"/>
              </a:lnSpc>
              <a:spcBef>
                <a:spcPts val="3"/>
              </a:spcBef>
              <a:tabLst/>
            </a:pP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▪</a:t>
            </a:r>
            <a:r>
              <a:rPr sz="700" kern="0" spc="7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Retaining existing process attributes / generic</a:t>
            </a:r>
            <a:r>
              <a:rPr sz="700" kern="0" spc="6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practices</a:t>
            </a:r>
            <a:r>
              <a:rPr sz="700" kern="0" spc="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   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(capability dimension) on</a:t>
            </a:r>
            <a:r>
              <a:rPr sz="700" kern="0" spc="11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CL2-5</a:t>
            </a:r>
            <a:endParaRPr sz="700" dirty="0">
              <a:latin typeface="Arial Narrow"/>
              <a:ea typeface="Arial Narrow"/>
              <a:cs typeface="Arial Narrow"/>
            </a:endParaRPr>
          </a:p>
        </p:txBody>
      </p:sp>
      <p:sp>
        <p:nvSpPr>
          <p:cNvPr id="76" name="textbox 76"/>
          <p:cNvSpPr/>
          <p:nvPr/>
        </p:nvSpPr>
        <p:spPr>
          <a:xfrm>
            <a:off x="2897264" y="701665"/>
            <a:ext cx="2034540" cy="1375410"/>
          </a:xfrm>
          <a:prstGeom prst="rect">
            <a:avLst/>
          </a:prstGeom>
          <a:solidFill>
            <a:srgbClr val="B8B9BC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65735" indent="-3810" algn="l" rtl="0" eaLnBrk="0">
              <a:lnSpc>
                <a:spcPct val="104000"/>
              </a:lnSpc>
              <a:spcBef>
                <a:spcPts val="5"/>
              </a:spcBef>
              <a:tabLst/>
            </a:pPr>
            <a:r>
              <a:rPr sz="1000" b="1" kern="0" spc="4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Agility</a:t>
            </a:r>
            <a:r>
              <a:rPr sz="1000" b="1" kern="0" spc="8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1000" b="1" kern="0" spc="4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is the ti</a:t>
            </a:r>
            <a:r>
              <a:rPr sz="1000" b="1" kern="0" spc="3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mely adaption of</a:t>
            </a:r>
            <a:r>
              <a:rPr sz="1000" b="1" kern="0" spc="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    </a:t>
            </a:r>
            <a:r>
              <a:rPr sz="1000" b="1" kern="0" spc="4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an organization </a:t>
            </a:r>
            <a:r>
              <a:rPr sz="1000" b="1" kern="0" spc="3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(or team) to</a:t>
            </a:r>
            <a:endParaRPr sz="1000" dirty="0">
              <a:latin typeface="Arial Narrow"/>
              <a:ea typeface="Arial Narrow"/>
              <a:cs typeface="Arial Narrow"/>
            </a:endParaRPr>
          </a:p>
          <a:p>
            <a:pPr marL="162560" indent="3175" algn="l" rtl="0" eaLnBrk="0">
              <a:lnSpc>
                <a:spcPct val="112000"/>
              </a:lnSpc>
              <a:spcBef>
                <a:spcPts val="127"/>
              </a:spcBef>
              <a:tabLst/>
            </a:pPr>
            <a:r>
              <a:rPr sz="1000" b="1" kern="0" spc="4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an ever-changing environment</a:t>
            </a:r>
            <a:r>
              <a:rPr sz="1000" b="1" kern="0" spc="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    </a:t>
            </a:r>
            <a:r>
              <a:rPr sz="1000" b="1" kern="0" spc="4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while continuously delive</a:t>
            </a:r>
            <a:r>
              <a:rPr sz="1000" b="1" kern="0" spc="3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ring</a:t>
            </a:r>
            <a:r>
              <a:rPr sz="1000" b="1" kern="0" spc="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       </a:t>
            </a:r>
            <a:r>
              <a:rPr sz="1000" b="1" kern="0" spc="4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value to their custo</a:t>
            </a:r>
            <a:r>
              <a:rPr sz="1000" b="1" kern="0" spc="3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mers at</a:t>
            </a:r>
            <a:endParaRPr sz="1000" dirty="0">
              <a:latin typeface="Arial Narrow"/>
              <a:ea typeface="Arial Narrow"/>
              <a:cs typeface="Arial Narrow"/>
            </a:endParaRPr>
          </a:p>
          <a:p>
            <a:pPr marL="164465" algn="l" rtl="0" eaLnBrk="0">
              <a:lnSpc>
                <a:spcPct val="86000"/>
              </a:lnSpc>
              <a:spcBef>
                <a:spcPts val="60"/>
              </a:spcBef>
              <a:tabLst/>
            </a:pPr>
            <a:r>
              <a:rPr sz="1000" b="1" kern="0" spc="4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sustainab</a:t>
            </a:r>
            <a:r>
              <a:rPr sz="1000" b="1" kern="0" spc="3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le</a:t>
            </a:r>
            <a:r>
              <a:rPr sz="1000" b="1" kern="0" spc="7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1000" b="1" kern="0" spc="3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pace.</a:t>
            </a:r>
            <a:endParaRPr sz="1000" dirty="0">
              <a:latin typeface="Arial Narrow"/>
              <a:ea typeface="Arial Narrow"/>
              <a:cs typeface="Arial Narrow"/>
            </a:endParaRPr>
          </a:p>
          <a:p>
            <a:pPr algn="l" rtl="0" eaLnBrk="0">
              <a:lnSpc>
                <a:spcPct val="117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165735" algn="l" rtl="0" eaLnBrk="0">
              <a:lnSpc>
                <a:spcPct val="98000"/>
              </a:lnSpc>
              <a:spcBef>
                <a:spcPts val="3"/>
              </a:spcBef>
              <a:tabLst/>
            </a:pPr>
            <a:r>
              <a:rPr sz="4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Definition by</a:t>
            </a:r>
            <a:r>
              <a:rPr sz="400" kern="0" spc="6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4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Kugler</a:t>
            </a:r>
            <a:r>
              <a:rPr sz="400" kern="0" spc="5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4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Maag</a:t>
            </a:r>
            <a:r>
              <a:rPr sz="4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Cie and</a:t>
            </a:r>
            <a:r>
              <a:rPr sz="400" kern="0" spc="5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4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Knüvener</a:t>
            </a:r>
            <a:r>
              <a:rPr sz="400" kern="0" spc="5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4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Mackert</a:t>
            </a:r>
            <a:r>
              <a:rPr sz="400" kern="0" spc="5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4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GmbH.</a:t>
            </a:r>
            <a:endParaRPr sz="400" dirty="0">
              <a:latin typeface="Arial Narrow"/>
              <a:ea typeface="Arial Narrow"/>
              <a:cs typeface="Arial Narrow"/>
            </a:endParaRPr>
          </a:p>
        </p:txBody>
      </p:sp>
      <p:sp>
        <p:nvSpPr>
          <p:cNvPr id="78" name="textbox 78"/>
          <p:cNvSpPr/>
          <p:nvPr/>
        </p:nvSpPr>
        <p:spPr>
          <a:xfrm>
            <a:off x="2744592" y="3644904"/>
            <a:ext cx="2524125" cy="1727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09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tabLst/>
            </a:pPr>
            <a:r>
              <a:rPr sz="500" b="1" kern="0" spc="1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7                    </a:t>
            </a:r>
            <a:r>
              <a:rPr sz="500" b="1" kern="0" spc="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                                                                                             </a:t>
            </a:r>
            <a:r>
              <a:rPr sz="1000" u="sng" kern="0" spc="0" dirty="0">
                <a:solidFill>
                  <a:srgbClr val="0E3654">
                    <a:alpha val="100000"/>
                  </a:srgbClr>
                </a:solidFill>
                <a:latin typeface="Arial"/>
                <a:ea typeface="Arial"/>
                <a:cs typeface="Arial"/>
              </a:rPr>
              <a:t>intacs</a:t>
            </a:r>
            <a:r>
              <a:rPr sz="1000" u="sng" kern="0" spc="0" dirty="0">
                <a:solidFill>
                  <a:srgbClr val="0E3654">
                    <a:alpha val="100000"/>
                  </a:srgbClr>
                </a:solidFill>
                <a:latin typeface="Arial"/>
                <a:ea typeface="Arial"/>
                <a:cs typeface="Arial"/>
              </a:rPr>
              <a:t>.</a:t>
            </a:r>
            <a:r>
              <a:rPr sz="1000" u="sng" kern="0" spc="-170" dirty="0">
                <a:solidFill>
                  <a:srgbClr val="0E365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u="sng" kern="0" spc="0" dirty="0">
                <a:solidFill>
                  <a:srgbClr val="0E3654">
                    <a:alpha val="100000"/>
                  </a:srgbClr>
                </a:solidFill>
                <a:latin typeface="Arial"/>
                <a:ea typeface="Arial"/>
                <a:cs typeface="Arial"/>
              </a:rPr>
              <a:t>infoul</a:t>
            </a:r>
            <a:r>
              <a:rPr sz="1000" kern="0" spc="0" dirty="0">
                <a:solidFill>
                  <a:srgbClr val="0E3654">
                    <a:alpha val="100000"/>
                  </a:srgbClr>
                </a:solidFill>
                <a:latin typeface="Arial"/>
                <a:ea typeface="Arial"/>
                <a:cs typeface="Arial"/>
              </a:rPr>
              <a:t>al</a:t>
            </a:r>
            <a:endParaRPr sz="1000" dirty="0">
              <a:latin typeface="Arial"/>
              <a:ea typeface="Arial"/>
              <a:cs typeface="Arial"/>
            </a:endParaRPr>
          </a:p>
        </p:txBody>
      </p:sp>
      <p:sp>
        <p:nvSpPr>
          <p:cNvPr id="80" name="textbox 80"/>
          <p:cNvSpPr/>
          <p:nvPr/>
        </p:nvSpPr>
        <p:spPr>
          <a:xfrm>
            <a:off x="5226288" y="3775564"/>
            <a:ext cx="41275" cy="419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26"/>
              </a:lnSpc>
              <a:tabLst/>
            </a:pPr>
            <a:r>
              <a:rPr sz="100" kern="0" spc="20" dirty="0">
                <a:solidFill>
                  <a:srgbClr val="0E3654">
                    <a:alpha val="100000"/>
                  </a:srgbClr>
                </a:solidFill>
                <a:latin typeface="Arial"/>
                <a:ea typeface="Arial"/>
                <a:cs typeface="Arial"/>
              </a:rPr>
              <a:t>M</a:t>
            </a:r>
            <a:endParaRPr sz="100" dirty="0"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extbox 82"/>
          <p:cNvSpPr/>
          <p:nvPr/>
        </p:nvSpPr>
        <p:spPr>
          <a:xfrm>
            <a:off x="276993" y="584091"/>
            <a:ext cx="4937125" cy="28606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42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40335" indent="-121920" algn="l" rtl="0" eaLnBrk="0">
              <a:lnSpc>
                <a:spcPct val="106000"/>
              </a:lnSpc>
              <a:tabLst/>
            </a:pPr>
            <a:r>
              <a:rPr sz="800" b="1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1. </a:t>
            </a:r>
            <a:r>
              <a:rPr sz="8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Our highest pri</a:t>
            </a:r>
            <a:r>
              <a:rPr sz="8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ority is to satisfy</a:t>
            </a:r>
            <a:r>
              <a:rPr sz="8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8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our customers</a:t>
            </a:r>
            <a:r>
              <a:rPr sz="8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8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through</a:t>
            </a:r>
            <a:r>
              <a:rPr sz="8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8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early</a:t>
            </a:r>
            <a:r>
              <a:rPr sz="8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8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and</a:t>
            </a:r>
            <a:r>
              <a:rPr sz="800" kern="0" spc="5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8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continuous</a:t>
            </a:r>
            <a:r>
              <a:rPr sz="8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8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delivery</a:t>
            </a:r>
            <a:r>
              <a:rPr sz="8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8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of valuable and</a:t>
            </a:r>
            <a:r>
              <a:rPr sz="800" kern="0" spc="6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8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usable</a:t>
            </a:r>
            <a:r>
              <a:rPr sz="800" kern="0" spc="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              </a:t>
            </a:r>
            <a:r>
              <a:rPr sz="8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system functions.</a:t>
            </a:r>
            <a:endParaRPr sz="800" dirty="0">
              <a:latin typeface="Arial Narrow"/>
              <a:ea typeface="Arial Narrow"/>
              <a:cs typeface="Arial Narrow"/>
            </a:endParaRPr>
          </a:p>
          <a:p>
            <a:pPr marL="137795" indent="-124460" algn="l" rtl="0" eaLnBrk="0">
              <a:lnSpc>
                <a:spcPct val="106000"/>
              </a:lnSpc>
              <a:spcBef>
                <a:spcPts val="408"/>
              </a:spcBef>
              <a:tabLst/>
            </a:pPr>
            <a:r>
              <a:rPr sz="800" b="1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2.</a:t>
            </a:r>
            <a:r>
              <a:rPr sz="800" b="1" kern="0" spc="7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8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Requirement changes are mastered, pr</a:t>
            </a:r>
            <a:r>
              <a:rPr sz="8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ioritized and systematically</a:t>
            </a:r>
            <a:r>
              <a:rPr sz="800" kern="0" spc="7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8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integrated</a:t>
            </a:r>
            <a:r>
              <a:rPr sz="800" kern="0" spc="6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8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into</a:t>
            </a:r>
            <a:r>
              <a:rPr sz="8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8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our continuous</a:t>
            </a:r>
            <a:r>
              <a:rPr sz="800" kern="0" spc="5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8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development</a:t>
            </a:r>
            <a:r>
              <a:rPr sz="800" kern="0" spc="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        </a:t>
            </a:r>
            <a:r>
              <a:rPr sz="8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work.</a:t>
            </a:r>
            <a:r>
              <a:rPr sz="800" kern="0" spc="-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8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Agile processes make use of changes t</a:t>
            </a:r>
            <a:r>
              <a:rPr sz="8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o the competitive</a:t>
            </a:r>
            <a:r>
              <a:rPr sz="800" kern="0" spc="5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8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advantage</a:t>
            </a:r>
            <a:r>
              <a:rPr sz="8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8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of the</a:t>
            </a:r>
            <a:r>
              <a:rPr sz="8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8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customer.</a:t>
            </a:r>
            <a:endParaRPr sz="800" dirty="0">
              <a:latin typeface="Arial Narrow"/>
              <a:ea typeface="Arial Narrow"/>
              <a:cs typeface="Arial Narrow"/>
            </a:endParaRPr>
          </a:p>
          <a:p>
            <a:pPr marL="140335" indent="-126365" algn="l" rtl="0" eaLnBrk="0">
              <a:lnSpc>
                <a:spcPct val="115000"/>
              </a:lnSpc>
              <a:spcBef>
                <a:spcPts val="394"/>
              </a:spcBef>
              <a:tabLst/>
            </a:pPr>
            <a:r>
              <a:rPr sz="800" b="1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3. </a:t>
            </a:r>
            <a:r>
              <a:rPr sz="8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We deliver regularly usable and en</a:t>
            </a:r>
            <a:r>
              <a:rPr sz="8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hanced system features,</a:t>
            </a:r>
            <a:r>
              <a:rPr sz="800" kern="0" spc="6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8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preferring shorter time</a:t>
            </a:r>
            <a:r>
              <a:rPr sz="800" kern="0" spc="6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8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periods within</a:t>
            </a:r>
            <a:r>
              <a:rPr sz="8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8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a few weeks</a:t>
            </a:r>
            <a:r>
              <a:rPr sz="800" kern="0" spc="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         </a:t>
            </a:r>
            <a:r>
              <a:rPr sz="8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or</a:t>
            </a:r>
            <a:r>
              <a:rPr sz="800" kern="0" spc="5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8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months.</a:t>
            </a:r>
            <a:endParaRPr sz="800" dirty="0">
              <a:latin typeface="Arial Narrow"/>
              <a:ea typeface="Arial Narrow"/>
              <a:cs typeface="Arial Narrow"/>
            </a:endParaRPr>
          </a:p>
          <a:p>
            <a:pPr marL="12700" algn="l" rtl="0" eaLnBrk="0">
              <a:lnSpc>
                <a:spcPct val="88000"/>
              </a:lnSpc>
              <a:spcBef>
                <a:spcPts val="337"/>
              </a:spcBef>
              <a:tabLst/>
            </a:pPr>
            <a:r>
              <a:rPr sz="800" b="1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4.</a:t>
            </a:r>
            <a:r>
              <a:rPr sz="800" b="1" kern="0" spc="7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8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Experts from all domains </a:t>
            </a:r>
            <a:r>
              <a:rPr sz="8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should collaborate intensively during</a:t>
            </a:r>
            <a:r>
              <a:rPr sz="800" kern="0" spc="7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8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product development.</a:t>
            </a:r>
            <a:endParaRPr sz="800" dirty="0">
              <a:latin typeface="Arial Narrow"/>
              <a:ea typeface="Arial Narrow"/>
              <a:cs typeface="Arial Narrow"/>
            </a:endParaRPr>
          </a:p>
          <a:p>
            <a:pPr marL="140335" indent="-125729" algn="l" rtl="0" eaLnBrk="0">
              <a:lnSpc>
                <a:spcPct val="108000"/>
              </a:lnSpc>
              <a:spcBef>
                <a:spcPts val="437"/>
              </a:spcBef>
              <a:tabLst/>
            </a:pPr>
            <a:r>
              <a:rPr sz="800" b="1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5. </a:t>
            </a:r>
            <a:r>
              <a:rPr sz="8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We organize the product development around m</a:t>
            </a:r>
            <a:r>
              <a:rPr sz="8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otivated</a:t>
            </a:r>
            <a:r>
              <a:rPr sz="800" kern="0" spc="6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8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individuals. We</a:t>
            </a:r>
            <a:r>
              <a:rPr sz="8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8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design</a:t>
            </a:r>
            <a:r>
              <a:rPr sz="800" kern="0" spc="5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8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an</a:t>
            </a:r>
            <a:r>
              <a:rPr sz="8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8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environment</a:t>
            </a:r>
            <a:r>
              <a:rPr sz="8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8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and</a:t>
            </a:r>
            <a:r>
              <a:rPr sz="8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8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support to</a:t>
            </a:r>
            <a:r>
              <a:rPr sz="800" kern="0" spc="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        </a:t>
            </a:r>
            <a:r>
              <a:rPr sz="8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achieve maximum value.</a:t>
            </a:r>
            <a:r>
              <a:rPr sz="800" kern="0" spc="9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8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I</a:t>
            </a:r>
            <a:r>
              <a:rPr sz="8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n doing so, we trust that the individuals do their</a:t>
            </a:r>
            <a:r>
              <a:rPr sz="800" kern="0" spc="-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8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jobs</a:t>
            </a:r>
            <a:r>
              <a:rPr sz="800" kern="0" spc="7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8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independently</a:t>
            </a:r>
            <a:r>
              <a:rPr sz="8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8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and</a:t>
            </a:r>
            <a:r>
              <a:rPr sz="800" kern="0" spc="7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8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in the</a:t>
            </a:r>
            <a:r>
              <a:rPr sz="800" kern="0" spc="6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8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best</a:t>
            </a:r>
            <a:r>
              <a:rPr sz="800" kern="0" spc="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           </a:t>
            </a:r>
            <a:r>
              <a:rPr sz="8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possible way.</a:t>
            </a:r>
            <a:endParaRPr sz="800" dirty="0">
              <a:latin typeface="Arial Narrow"/>
              <a:ea typeface="Arial Narrow"/>
              <a:cs typeface="Arial Narrow"/>
            </a:endParaRPr>
          </a:p>
          <a:p>
            <a:pPr marL="14605" algn="l" rtl="0" eaLnBrk="0">
              <a:lnSpc>
                <a:spcPct val="89000"/>
              </a:lnSpc>
              <a:spcBef>
                <a:spcPts val="486"/>
              </a:spcBef>
              <a:tabLst/>
            </a:pPr>
            <a:r>
              <a:rPr sz="800" b="1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6. </a:t>
            </a:r>
            <a:r>
              <a:rPr sz="8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The most efficient and effect</a:t>
            </a:r>
            <a:r>
              <a:rPr sz="8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ive way to communicate information</a:t>
            </a:r>
            <a:r>
              <a:rPr sz="800" kern="0" spc="2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8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to</a:t>
            </a:r>
            <a:r>
              <a:rPr sz="800" kern="0" spc="5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8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and within</a:t>
            </a:r>
            <a:r>
              <a:rPr sz="8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8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a</a:t>
            </a:r>
            <a:r>
              <a:rPr sz="8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8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development team</a:t>
            </a:r>
            <a:r>
              <a:rPr sz="800" kern="0" spc="7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8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is</a:t>
            </a:r>
            <a:r>
              <a:rPr sz="800" kern="0" spc="2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8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face-to-face.</a:t>
            </a:r>
            <a:endParaRPr sz="800" dirty="0">
              <a:latin typeface="Arial Narrow"/>
              <a:ea typeface="Arial Narrow"/>
              <a:cs typeface="Arial Narrow"/>
            </a:endParaRPr>
          </a:p>
          <a:p>
            <a:pPr marL="143510" indent="-128904" algn="l" rtl="0" eaLnBrk="0">
              <a:lnSpc>
                <a:spcPct val="107000"/>
              </a:lnSpc>
              <a:spcBef>
                <a:spcPts val="422"/>
              </a:spcBef>
              <a:tabLst/>
            </a:pPr>
            <a:r>
              <a:rPr sz="800" b="1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7.</a:t>
            </a:r>
            <a:r>
              <a:rPr sz="800" b="1" kern="0" spc="7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8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Usable and extended system functions are</a:t>
            </a:r>
            <a:r>
              <a:rPr sz="8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the most important</a:t>
            </a:r>
            <a:r>
              <a:rPr sz="800" kern="0" spc="6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8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measure</a:t>
            </a:r>
            <a:r>
              <a:rPr sz="8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8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of</a:t>
            </a:r>
            <a:r>
              <a:rPr sz="8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8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progress.</a:t>
            </a:r>
            <a:r>
              <a:rPr sz="800" kern="0" spc="-2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8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Agile</a:t>
            </a:r>
            <a:r>
              <a:rPr sz="800" kern="0" spc="7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8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processes</a:t>
            </a:r>
            <a:r>
              <a:rPr sz="800" kern="0" spc="6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8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promote</a:t>
            </a:r>
            <a:r>
              <a:rPr sz="8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8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sustai</a:t>
            </a:r>
            <a:r>
              <a:rPr sz="800" kern="0" spc="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8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nable development.</a:t>
            </a:r>
            <a:endParaRPr sz="800" dirty="0">
              <a:latin typeface="Arial Narrow"/>
              <a:ea typeface="Arial Narrow"/>
              <a:cs typeface="Arial Narrow"/>
            </a:endParaRPr>
          </a:p>
          <a:p>
            <a:pPr marL="14605" algn="l" rtl="0" eaLnBrk="0">
              <a:lnSpc>
                <a:spcPct val="88000"/>
              </a:lnSpc>
              <a:spcBef>
                <a:spcPts val="486"/>
              </a:spcBef>
              <a:tabLst/>
            </a:pPr>
            <a:r>
              <a:rPr sz="800" b="1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8. </a:t>
            </a:r>
            <a:r>
              <a:rPr sz="8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Clients, dev</a:t>
            </a:r>
            <a:r>
              <a:rPr sz="8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elopers and users should be able</a:t>
            </a:r>
            <a:r>
              <a:rPr sz="8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8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to</a:t>
            </a:r>
            <a:r>
              <a:rPr sz="800" kern="0" spc="6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8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maintain</a:t>
            </a:r>
            <a:r>
              <a:rPr sz="8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8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a</a:t>
            </a:r>
            <a:r>
              <a:rPr sz="8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8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steady</a:t>
            </a:r>
            <a:r>
              <a:rPr sz="800" kern="0" spc="7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8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pace for an</a:t>
            </a:r>
            <a:r>
              <a:rPr sz="800" kern="0" spc="7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8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unlimited</a:t>
            </a:r>
            <a:r>
              <a:rPr sz="800" kern="0" spc="6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8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period</a:t>
            </a:r>
            <a:r>
              <a:rPr sz="8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8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of time.</a:t>
            </a:r>
            <a:endParaRPr sz="800" dirty="0">
              <a:latin typeface="Arial Narrow"/>
              <a:ea typeface="Arial Narrow"/>
              <a:cs typeface="Arial Narrow"/>
            </a:endParaRPr>
          </a:p>
          <a:p>
            <a:pPr marL="13334" algn="l" rtl="0" eaLnBrk="0">
              <a:lnSpc>
                <a:spcPct val="88000"/>
              </a:lnSpc>
              <a:spcBef>
                <a:spcPts val="519"/>
              </a:spcBef>
              <a:tabLst/>
            </a:pPr>
            <a:r>
              <a:rPr sz="800" b="1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9. </a:t>
            </a:r>
            <a:r>
              <a:rPr sz="8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Continuous attention </a:t>
            </a:r>
            <a:r>
              <a:rPr sz="8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to technical excellence and good design</a:t>
            </a:r>
            <a:r>
              <a:rPr sz="800" kern="0" spc="6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8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promotes agility.</a:t>
            </a:r>
            <a:endParaRPr sz="800" dirty="0">
              <a:latin typeface="Arial Narrow"/>
              <a:ea typeface="Arial Narrow"/>
              <a:cs typeface="Arial Narrow"/>
            </a:endParaRPr>
          </a:p>
          <a:p>
            <a:pPr marL="17780" algn="l" rtl="0" eaLnBrk="0">
              <a:lnSpc>
                <a:spcPct val="89000"/>
              </a:lnSpc>
              <a:spcBef>
                <a:spcPts val="509"/>
              </a:spcBef>
              <a:tabLst/>
            </a:pPr>
            <a:r>
              <a:rPr sz="800" b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10. </a:t>
            </a:r>
            <a:r>
              <a:rPr sz="8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Simplicity - the art of maximizing the amount of work</a:t>
            </a:r>
            <a:r>
              <a:rPr sz="800" kern="0" spc="8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8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not done</a:t>
            </a:r>
            <a:r>
              <a:rPr sz="800" kern="0" spc="5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8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-</a:t>
            </a:r>
            <a:r>
              <a:rPr sz="800" kern="0" spc="6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8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is</a:t>
            </a:r>
            <a:r>
              <a:rPr sz="8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8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essential.</a:t>
            </a:r>
            <a:endParaRPr sz="800" dirty="0">
              <a:latin typeface="Arial Narrow"/>
              <a:ea typeface="Arial Narrow"/>
              <a:cs typeface="Arial Narrow"/>
            </a:endParaRPr>
          </a:p>
          <a:p>
            <a:pPr marL="17780" algn="l" rtl="0" eaLnBrk="0">
              <a:lnSpc>
                <a:spcPct val="89000"/>
              </a:lnSpc>
              <a:spcBef>
                <a:spcPts val="509"/>
              </a:spcBef>
              <a:tabLst/>
            </a:pPr>
            <a:r>
              <a:rPr sz="800" b="1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11. </a:t>
            </a:r>
            <a:r>
              <a:rPr sz="8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The best architecture</a:t>
            </a:r>
            <a:r>
              <a:rPr sz="8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s, requirements and designs are</a:t>
            </a:r>
            <a:r>
              <a:rPr sz="8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8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created</a:t>
            </a:r>
            <a:r>
              <a:rPr sz="800" kern="0" spc="7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8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by</a:t>
            </a:r>
            <a:r>
              <a:rPr sz="8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8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self-organized teams.</a:t>
            </a:r>
            <a:endParaRPr sz="800" dirty="0">
              <a:latin typeface="Arial Narrow"/>
              <a:ea typeface="Arial Narrow"/>
              <a:cs typeface="Arial Narrow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400" dirty="0">
              <a:latin typeface="Arial"/>
              <a:ea typeface="Arial"/>
              <a:cs typeface="Arial"/>
            </a:endParaRPr>
          </a:p>
          <a:p>
            <a:pPr marL="17780" algn="l" rtl="0" eaLnBrk="0">
              <a:lnSpc>
                <a:spcPct val="89000"/>
              </a:lnSpc>
              <a:tabLst/>
            </a:pPr>
            <a:r>
              <a:rPr sz="800" b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12. </a:t>
            </a:r>
            <a:r>
              <a:rPr sz="8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At regular intervals, the team reflects on</a:t>
            </a:r>
            <a:r>
              <a:rPr sz="800" kern="0" spc="6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8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how</a:t>
            </a:r>
            <a:r>
              <a:rPr sz="800" kern="0" spc="7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8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it</a:t>
            </a:r>
            <a:r>
              <a:rPr sz="800" kern="0" spc="5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8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can</a:t>
            </a:r>
            <a:r>
              <a:rPr sz="800" kern="0" spc="6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8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become</a:t>
            </a:r>
            <a:r>
              <a:rPr sz="800" kern="0" spc="7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8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more</a:t>
            </a:r>
            <a:r>
              <a:rPr sz="8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8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effective</a:t>
            </a:r>
            <a:r>
              <a:rPr sz="8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8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and</a:t>
            </a:r>
            <a:r>
              <a:rPr sz="800" kern="0" spc="5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8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adjusts</a:t>
            </a:r>
            <a:r>
              <a:rPr sz="800" kern="0" spc="6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8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its</a:t>
            </a:r>
            <a:r>
              <a:rPr sz="800" kern="0" spc="7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8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behavior accordingly</a:t>
            </a:r>
            <a:endParaRPr sz="800" dirty="0">
              <a:latin typeface="Arial Narrow"/>
              <a:ea typeface="Arial Narrow"/>
              <a:cs typeface="Arial Narrow"/>
            </a:endParaRPr>
          </a:p>
        </p:txBody>
      </p:sp>
      <p:sp>
        <p:nvSpPr>
          <p:cNvPr id="84" name="textbox 84"/>
          <p:cNvSpPr/>
          <p:nvPr/>
        </p:nvSpPr>
        <p:spPr>
          <a:xfrm>
            <a:off x="275287" y="411041"/>
            <a:ext cx="1454785" cy="13271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90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tabLst/>
            </a:pPr>
            <a:r>
              <a:rPr sz="800" b="1" kern="0" spc="4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Agile Principles for</a:t>
            </a:r>
            <a:r>
              <a:rPr sz="800" b="1" kern="0" spc="-3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800" b="1" kern="0" spc="4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Autom</a:t>
            </a:r>
            <a:r>
              <a:rPr sz="800" b="1" kern="0" spc="3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otive*</a:t>
            </a:r>
            <a:endParaRPr sz="800" dirty="0">
              <a:latin typeface="Arial Narrow"/>
              <a:ea typeface="Arial Narrow"/>
              <a:cs typeface="Arial Narrow"/>
            </a:endParaRPr>
          </a:p>
        </p:txBody>
      </p:sp>
      <p:sp>
        <p:nvSpPr>
          <p:cNvPr id="86" name="textbox 86"/>
          <p:cNvSpPr/>
          <p:nvPr/>
        </p:nvSpPr>
        <p:spPr>
          <a:xfrm>
            <a:off x="4465500" y="3644904"/>
            <a:ext cx="803275" cy="18859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44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1000"/>
              </a:lnSpc>
              <a:tabLst/>
            </a:pPr>
            <a:r>
              <a:rPr sz="900" kern="0" spc="0" dirty="0">
                <a:solidFill>
                  <a:srgbClr val="0E3654">
                    <a:alpha val="100000"/>
                  </a:srgbClr>
                </a:solidFill>
                <a:latin typeface="Arial"/>
                <a:ea typeface="Arial"/>
                <a:cs typeface="Arial"/>
              </a:rPr>
              <a:t>intacs</a:t>
            </a:r>
            <a:r>
              <a:rPr sz="900" kern="0" spc="0" dirty="0">
                <a:solidFill>
                  <a:srgbClr val="0E3653">
                    <a:alpha val="100000"/>
                  </a:srgbClr>
                </a:solidFill>
                <a:latin typeface="Arial"/>
                <a:ea typeface="Arial"/>
                <a:cs typeface="Arial"/>
              </a:rPr>
              <a:t>.</a:t>
            </a:r>
            <a:r>
              <a:rPr sz="900" kern="0" spc="-140" dirty="0">
                <a:solidFill>
                  <a:srgbClr val="0E3653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0E3554">
                    <a:alpha val="100000"/>
                  </a:srgbClr>
                </a:solidFill>
                <a:latin typeface="Arial"/>
                <a:ea typeface="Arial"/>
                <a:cs typeface="Arial"/>
              </a:rPr>
              <a:t>infomnli</a:t>
            </a:r>
            <a:endParaRPr sz="9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3000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773430" algn="l" rtl="0" eaLnBrk="0">
              <a:lnSpc>
                <a:spcPts val="126"/>
              </a:lnSpc>
              <a:tabLst/>
            </a:pPr>
            <a:r>
              <a:rPr sz="100" kern="0" spc="20" dirty="0">
                <a:solidFill>
                  <a:srgbClr val="0E3654">
                    <a:alpha val="100000"/>
                  </a:srgbClr>
                </a:solidFill>
                <a:latin typeface="Arial"/>
                <a:ea typeface="Arial"/>
                <a:cs typeface="Arial"/>
              </a:rPr>
              <a:t>M</a:t>
            </a:r>
            <a:endParaRPr sz="100" dirty="0">
              <a:latin typeface="Arial"/>
              <a:ea typeface="Arial"/>
              <a:cs typeface="Arial"/>
            </a:endParaRPr>
          </a:p>
        </p:txBody>
      </p:sp>
      <p:pic>
        <p:nvPicPr>
          <p:cNvPr id="88" name="picture 8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4481109" y="3788264"/>
            <a:ext cx="755282" cy="31932"/>
          </a:xfrm>
          <a:prstGeom prst="rect">
            <a:avLst/>
          </a:prstGeom>
        </p:spPr>
      </p:pic>
      <p:pic>
        <p:nvPicPr>
          <p:cNvPr id="90" name="picture 9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5227242" y="3670534"/>
            <a:ext cx="26336" cy="95131"/>
          </a:xfrm>
          <a:prstGeom prst="rect">
            <a:avLst/>
          </a:prstGeom>
        </p:spPr>
      </p:pic>
      <p:sp>
        <p:nvSpPr>
          <p:cNvPr id="92" name="textbox 92"/>
          <p:cNvSpPr/>
          <p:nvPr/>
        </p:nvSpPr>
        <p:spPr>
          <a:xfrm>
            <a:off x="276544" y="3612130"/>
            <a:ext cx="819150" cy="1238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33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0000"/>
              </a:lnSpc>
              <a:tabLst/>
            </a:pPr>
            <a:r>
              <a:rPr sz="800" b="1" kern="0" spc="2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* </a:t>
            </a:r>
            <a:r>
              <a:rPr sz="500" kern="0" spc="2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Adapted by</a:t>
            </a:r>
            <a:r>
              <a:rPr sz="500" kern="0" spc="4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500" kern="0" spc="2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Kug</a:t>
            </a:r>
            <a:r>
              <a:rPr sz="500" kern="0" spc="1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ler</a:t>
            </a:r>
            <a:r>
              <a:rPr sz="500" kern="0" spc="4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500" kern="0" spc="1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Maag</a:t>
            </a:r>
            <a:r>
              <a:rPr sz="500" kern="0" spc="3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500" kern="0" spc="1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Cie</a:t>
            </a:r>
            <a:endParaRPr sz="500" dirty="0">
              <a:latin typeface="Arial Narrow"/>
              <a:ea typeface="Arial Narrow"/>
              <a:cs typeface="Arial Narrow"/>
            </a:endParaRPr>
          </a:p>
        </p:txBody>
      </p:sp>
      <p:sp>
        <p:nvSpPr>
          <p:cNvPr id="94" name="textbox 94"/>
          <p:cNvSpPr/>
          <p:nvPr/>
        </p:nvSpPr>
        <p:spPr>
          <a:xfrm>
            <a:off x="2744516" y="3695302"/>
            <a:ext cx="57785" cy="971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38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4000"/>
              </a:lnSpc>
              <a:tabLst/>
            </a:pPr>
            <a:r>
              <a:rPr sz="500" b="1" kern="0" spc="1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8</a:t>
            </a:r>
            <a:endParaRPr sz="500" dirty="0">
              <a:latin typeface="Arial Narrow"/>
              <a:ea typeface="Arial Narrow"/>
              <a:cs typeface="Arial Narrow"/>
            </a:endParaRPr>
          </a:p>
        </p:txBody>
      </p:sp>
      <p:sp>
        <p:nvSpPr>
          <p:cNvPr id="96" name="textbox 96"/>
          <p:cNvSpPr/>
          <p:nvPr/>
        </p:nvSpPr>
        <p:spPr>
          <a:xfrm>
            <a:off x="5191909" y="2357567"/>
            <a:ext cx="53975" cy="6286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291"/>
              </a:lnSpc>
              <a:tabLst/>
            </a:pPr>
            <a:r>
              <a:rPr sz="800" kern="0" spc="-1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-</a:t>
            </a:r>
            <a:endParaRPr sz="800" dirty="0">
              <a:latin typeface="Arial Narrow"/>
              <a:ea typeface="Arial Narrow"/>
              <a:cs typeface="Arial Narrow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picture 9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323992" y="833180"/>
            <a:ext cx="4029018" cy="2535845"/>
          </a:xfrm>
          <a:prstGeom prst="rect">
            <a:avLst/>
          </a:prstGeom>
        </p:spPr>
      </p:pic>
      <p:sp>
        <p:nvSpPr>
          <p:cNvPr id="100" name="textbox 100"/>
          <p:cNvSpPr/>
          <p:nvPr/>
        </p:nvSpPr>
        <p:spPr>
          <a:xfrm>
            <a:off x="282145" y="908474"/>
            <a:ext cx="1811654" cy="252603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73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307975" algn="l" rtl="0" eaLnBrk="0">
              <a:lnSpc>
                <a:spcPct val="89000"/>
              </a:lnSpc>
              <a:tabLst/>
            </a:pPr>
            <a:r>
              <a:rPr sz="700" b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Iteration planning</a:t>
            </a:r>
            <a:r>
              <a:rPr sz="700" b="1" kern="0" spc="9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b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(lowest</a:t>
            </a:r>
            <a:r>
              <a:rPr sz="700" b="1" kern="0" spc="7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b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level)</a:t>
            </a:r>
            <a:endParaRPr sz="700" dirty="0">
              <a:latin typeface="Arial Narrow"/>
              <a:ea typeface="Arial Narrow"/>
              <a:cs typeface="Arial Narrow"/>
            </a:endParaRPr>
          </a:p>
          <a:p>
            <a:pPr marL="307340" indent="-5080" algn="l" rtl="0" eaLnBrk="0">
              <a:lnSpc>
                <a:spcPct val="113000"/>
              </a:lnSpc>
              <a:spcBef>
                <a:spcPts val="122"/>
              </a:spcBef>
              <a:tabLst/>
            </a:pP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Assign work/task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s; clarify dependencies,</a:t>
            </a:r>
            <a:r>
              <a:rPr sz="700" kern="0" spc="-1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utilization/capacity and responsibilities</a:t>
            </a:r>
            <a:endParaRPr sz="700" dirty="0">
              <a:latin typeface="Arial Narrow"/>
              <a:ea typeface="Arial Narrow"/>
              <a:cs typeface="Arial Narrow"/>
            </a:endParaRPr>
          </a:p>
          <a:p>
            <a:pPr marL="302895" algn="l" rtl="0" eaLnBrk="0">
              <a:lnSpc>
                <a:spcPct val="89000"/>
              </a:lnSpc>
              <a:spcBef>
                <a:spcPts val="233"/>
              </a:spcBef>
              <a:tabLst/>
            </a:pP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with team, ensure</a:t>
            </a:r>
            <a:r>
              <a:rPr sz="700" kern="0" spc="10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results</a:t>
            </a:r>
            <a:endParaRPr sz="700" dirty="0">
              <a:latin typeface="Arial Narrow"/>
              <a:ea typeface="Arial Narrow"/>
              <a:cs typeface="Arial Narrow"/>
            </a:endParaRPr>
          </a:p>
          <a:p>
            <a:pPr algn="l" rtl="0" eaLnBrk="0">
              <a:lnSpc>
                <a:spcPct val="12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307975" algn="l" rtl="0" eaLnBrk="0">
              <a:lnSpc>
                <a:spcPct val="89000"/>
              </a:lnSpc>
              <a:spcBef>
                <a:spcPts val="221"/>
              </a:spcBef>
              <a:tabLst/>
            </a:pPr>
            <a:r>
              <a:rPr sz="700" b="1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Iteration advanc</a:t>
            </a:r>
            <a:r>
              <a:rPr sz="700" b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ed planning</a:t>
            </a:r>
            <a:endParaRPr sz="700" dirty="0">
              <a:latin typeface="Arial Narrow"/>
              <a:ea typeface="Arial Narrow"/>
              <a:cs typeface="Arial Narrow"/>
            </a:endParaRPr>
          </a:p>
          <a:p>
            <a:pPr marL="305435" indent="635" algn="l" rtl="0" eaLnBrk="0">
              <a:lnSpc>
                <a:spcPct val="115000"/>
              </a:lnSpc>
              <a:spcBef>
                <a:spcPts val="123"/>
              </a:spcBef>
              <a:tabLst/>
            </a:pP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Clarify dependencies, utilization/</a:t>
            </a:r>
            <a:r>
              <a:rPr sz="700" kern="0" spc="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            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availability and responsibilitie</a:t>
            </a:r>
            <a:r>
              <a:rPr sz="700" kern="0" spc="2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s</a:t>
            </a:r>
            <a:r>
              <a:rPr sz="700" kern="0" spc="5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2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in</a:t>
            </a:r>
            <a:r>
              <a:rPr sz="700" kern="0" spc="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            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different team (of teams)</a:t>
            </a:r>
            <a:endParaRPr sz="700" dirty="0">
              <a:latin typeface="Arial Narrow"/>
              <a:ea typeface="Arial Narrow"/>
              <a:cs typeface="Arial Narrow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306705" algn="l" rtl="0" eaLnBrk="0">
              <a:lnSpc>
                <a:spcPct val="89000"/>
              </a:lnSpc>
              <a:spcBef>
                <a:spcPts val="217"/>
              </a:spcBef>
              <a:tabLst/>
            </a:pP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Clarify dependencies and</a:t>
            </a:r>
            <a:endParaRPr sz="700" dirty="0">
              <a:latin typeface="Arial Narrow"/>
              <a:ea typeface="Arial Narrow"/>
              <a:cs typeface="Arial Narrow"/>
            </a:endParaRPr>
          </a:p>
          <a:p>
            <a:pPr marL="306070" algn="l" rtl="0" eaLnBrk="0">
              <a:lnSpc>
                <a:spcPct val="89000"/>
              </a:lnSpc>
              <a:spcBef>
                <a:spcPts val="252"/>
              </a:spcBef>
              <a:tabLst/>
            </a:pP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competences in</a:t>
            </a:r>
            <a:r>
              <a:rPr sz="700" kern="0" spc="7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different</a:t>
            </a:r>
            <a:endParaRPr sz="700" dirty="0">
              <a:latin typeface="Arial Narrow"/>
              <a:ea typeface="Arial Narrow"/>
              <a:cs typeface="Arial Narrow"/>
            </a:endParaRPr>
          </a:p>
          <a:p>
            <a:pPr marL="305435" algn="l" rtl="0" eaLnBrk="0">
              <a:lnSpc>
                <a:spcPct val="89000"/>
              </a:lnSpc>
              <a:spcBef>
                <a:spcPts val="253"/>
              </a:spcBef>
              <a:tabLst/>
            </a:pP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areas</a:t>
            </a:r>
            <a:r>
              <a:rPr sz="700" kern="0" spc="6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like SW,</a:t>
            </a:r>
            <a:r>
              <a:rPr sz="700" kern="0" spc="7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2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HW,</a:t>
            </a:r>
            <a:endParaRPr sz="700" dirty="0">
              <a:latin typeface="Arial Narrow"/>
              <a:ea typeface="Arial Narrow"/>
              <a:cs typeface="Arial Narrow"/>
            </a:endParaRPr>
          </a:p>
          <a:p>
            <a:pPr marL="308610" algn="l" rtl="0" eaLnBrk="0">
              <a:lnSpc>
                <a:spcPct val="89000"/>
              </a:lnSpc>
              <a:spcBef>
                <a:spcPts val="252"/>
              </a:spcBef>
              <a:tabLst/>
            </a:pP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Mechanics,</a:t>
            </a:r>
            <a:r>
              <a:rPr sz="700" kern="0" spc="10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Production</a:t>
            </a:r>
            <a:endParaRPr sz="700" dirty="0">
              <a:latin typeface="Arial Narrow"/>
              <a:ea typeface="Arial Narrow"/>
              <a:cs typeface="Arial Narrow"/>
            </a:endParaRPr>
          </a:p>
          <a:p>
            <a:pPr algn="l" rtl="0" eaLnBrk="0">
              <a:lnSpc>
                <a:spcPct val="11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2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spcBef>
                <a:spcPts val="2"/>
              </a:spcBef>
              <a:tabLst/>
            </a:pPr>
            <a:r>
              <a:rPr sz="800" b="1" kern="0" spc="2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Priority/</a:t>
            </a:r>
            <a:endParaRPr sz="800" dirty="0">
              <a:latin typeface="Arial Narrow"/>
              <a:ea typeface="Arial Narrow"/>
              <a:cs typeface="Arial Narrow"/>
            </a:endParaRPr>
          </a:p>
        </p:txBody>
      </p:sp>
      <p:sp>
        <p:nvSpPr>
          <p:cNvPr id="102" name="textbox 102"/>
          <p:cNvSpPr/>
          <p:nvPr/>
        </p:nvSpPr>
        <p:spPr>
          <a:xfrm>
            <a:off x="3456540" y="1090960"/>
            <a:ext cx="1849120" cy="214503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39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9000"/>
              </a:lnSpc>
              <a:tabLst/>
            </a:pPr>
            <a:r>
              <a:rPr sz="700" b="1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Short Ite</a:t>
            </a:r>
            <a:r>
              <a:rPr sz="700" b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rations</a:t>
            </a:r>
            <a:r>
              <a:rPr sz="700" b="1" kern="0" spc="6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(2-4 weeks)</a:t>
            </a:r>
            <a:endParaRPr sz="700" dirty="0">
              <a:latin typeface="Arial Narrow"/>
              <a:ea typeface="Arial Narrow"/>
              <a:cs typeface="Arial Narrow"/>
            </a:endParaRPr>
          </a:p>
          <a:p>
            <a:pPr algn="l" rtl="0" eaLnBrk="0">
              <a:lnSpc>
                <a:spcPct val="17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94945" algn="l" rtl="0" eaLnBrk="0">
              <a:lnSpc>
                <a:spcPct val="89000"/>
              </a:lnSpc>
              <a:spcBef>
                <a:spcPts val="214"/>
              </a:spcBef>
              <a:tabLst/>
            </a:pPr>
            <a:r>
              <a:rPr sz="700" b="1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Short term v</a:t>
            </a:r>
            <a:r>
              <a:rPr sz="700" b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iew – small</a:t>
            </a:r>
            <a:endParaRPr sz="700" dirty="0">
              <a:latin typeface="Arial Narrow"/>
              <a:ea typeface="Arial Narrow"/>
              <a:cs typeface="Arial Narrow"/>
            </a:endParaRPr>
          </a:p>
          <a:p>
            <a:pPr marL="196215" indent="1270" algn="l" rtl="0" eaLnBrk="0">
              <a:lnSpc>
                <a:spcPct val="113000"/>
              </a:lnSpc>
              <a:spcBef>
                <a:spcPts val="123"/>
              </a:spcBef>
              <a:tabLst/>
            </a:pPr>
            <a:r>
              <a:rPr sz="700" b="1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potentially shippa</a:t>
            </a:r>
            <a:r>
              <a:rPr sz="700" b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ble work</a:t>
            </a:r>
            <a:r>
              <a:rPr sz="700" b="1" kern="0" spc="7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b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increment</a:t>
            </a:r>
            <a:r>
              <a:rPr sz="700" b="1" kern="0" spc="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        </a:t>
            </a:r>
            <a:r>
              <a:rPr sz="700" b="1" kern="0" spc="6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(e.g., </a:t>
            </a:r>
            <a:r>
              <a:rPr sz="700" b="1" kern="0" spc="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task</a:t>
            </a:r>
            <a:r>
              <a:rPr sz="700" b="1" kern="0" spc="6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b="1" kern="0" spc="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level</a:t>
            </a:r>
            <a:r>
              <a:rPr sz="700" b="1" kern="0" spc="6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, e.g. </a:t>
            </a:r>
            <a:r>
              <a:rPr sz="700" b="1" kern="0" spc="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sprints</a:t>
            </a:r>
            <a:r>
              <a:rPr sz="700" b="1" kern="0" spc="5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)</a:t>
            </a:r>
            <a:endParaRPr sz="700" dirty="0">
              <a:latin typeface="Arial Narrow"/>
              <a:ea typeface="Arial Narrow"/>
              <a:cs typeface="Arial Narrow"/>
            </a:endParaRPr>
          </a:p>
          <a:p>
            <a:pPr marL="196850" algn="l" rtl="0" eaLnBrk="0">
              <a:lnSpc>
                <a:spcPct val="89000"/>
              </a:lnSpc>
              <a:spcBef>
                <a:spcPts val="232"/>
              </a:spcBef>
              <a:tabLst/>
            </a:pP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(2-3 short iterations     4-10 weeks)</a:t>
            </a:r>
            <a:endParaRPr sz="700" dirty="0">
              <a:latin typeface="Arial Narrow"/>
              <a:ea typeface="Arial Narrow"/>
              <a:cs typeface="Arial Narrow"/>
            </a:endParaRPr>
          </a:p>
          <a:p>
            <a:pPr marL="549275" algn="l" rtl="0" eaLnBrk="0">
              <a:lnSpc>
                <a:spcPct val="89000"/>
              </a:lnSpc>
              <a:spcBef>
                <a:spcPts val="617"/>
              </a:spcBef>
              <a:tabLst/>
            </a:pPr>
            <a:r>
              <a:rPr sz="700" b="1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Medium term </a:t>
            </a:r>
            <a:r>
              <a:rPr sz="700" b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view –</a:t>
            </a:r>
            <a:r>
              <a:rPr sz="700" b="1" kern="0" spc="6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b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larger</a:t>
            </a:r>
            <a:endParaRPr sz="700" dirty="0">
              <a:latin typeface="Arial Narrow"/>
              <a:ea typeface="Arial Narrow"/>
              <a:cs typeface="Arial Narrow"/>
            </a:endParaRPr>
          </a:p>
          <a:p>
            <a:pPr marL="549275" algn="l" rtl="0" eaLnBrk="0">
              <a:lnSpc>
                <a:spcPct val="89000"/>
              </a:lnSpc>
              <a:spcBef>
                <a:spcPts val="252"/>
              </a:spcBef>
              <a:tabLst/>
            </a:pPr>
            <a:r>
              <a:rPr sz="700" b="1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potentially s</a:t>
            </a:r>
            <a:r>
              <a:rPr sz="700" b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hippable work</a:t>
            </a:r>
            <a:endParaRPr sz="700" dirty="0">
              <a:latin typeface="Arial Narrow"/>
              <a:ea typeface="Arial Narrow"/>
              <a:cs typeface="Arial Narrow"/>
            </a:endParaRPr>
          </a:p>
          <a:p>
            <a:pPr marL="549910" algn="l" rtl="0" eaLnBrk="0">
              <a:lnSpc>
                <a:spcPct val="89000"/>
              </a:lnSpc>
              <a:spcBef>
                <a:spcPts val="252"/>
              </a:spcBef>
              <a:tabLst/>
            </a:pPr>
            <a:r>
              <a:rPr sz="700" b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increment(e.g., epic/feature/</a:t>
            </a:r>
            <a:endParaRPr sz="700" dirty="0">
              <a:latin typeface="Arial Narrow"/>
              <a:ea typeface="Arial Narrow"/>
              <a:cs typeface="Arial Narrow"/>
            </a:endParaRPr>
          </a:p>
          <a:p>
            <a:pPr marL="548640" indent="-3175" algn="l" rtl="0" eaLnBrk="0">
              <a:lnSpc>
                <a:spcPct val="113000"/>
              </a:lnSpc>
              <a:spcBef>
                <a:spcPts val="123"/>
              </a:spcBef>
              <a:tabLst/>
            </a:pPr>
            <a:r>
              <a:rPr sz="700" b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story</a:t>
            </a:r>
            <a:r>
              <a:rPr sz="700" b="1" kern="0" spc="7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b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level, e.g. releases)</a:t>
            </a:r>
            <a:r>
              <a:rPr sz="700" b="1" kern="0" spc="6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(</a:t>
            </a:r>
            <a:r>
              <a:rPr sz="700" kern="0" spc="2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1</a:t>
            </a:r>
            <a:r>
              <a:rPr sz="700" kern="0" spc="6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2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large</a:t>
            </a:r>
            <a:r>
              <a:rPr sz="700" kern="0" spc="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iteration </a:t>
            </a:r>
            <a:r>
              <a:rPr sz="700" kern="0" spc="2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=</a:t>
            </a:r>
            <a:r>
              <a:rPr sz="400" kern="0" spc="20" dirty="0">
                <a:solidFill>
                  <a:srgbClr val="231F20">
                    <a:alpha val="100000"/>
                  </a:srgbClr>
                </a:solidFill>
                <a:latin typeface="Arial"/>
                <a:ea typeface="Arial"/>
                <a:cs typeface="Arial"/>
              </a:rPr>
              <a:t>&lt; </a:t>
            </a:r>
            <a:r>
              <a:rPr sz="700" kern="0" spc="2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4-6 smaller</a:t>
            </a:r>
            <a:r>
              <a:rPr sz="700" kern="0" spc="5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2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iterations)</a:t>
            </a:r>
            <a:endParaRPr sz="700" dirty="0">
              <a:latin typeface="Arial Narrow"/>
              <a:ea typeface="Arial Narrow"/>
              <a:cs typeface="Arial Narrow"/>
            </a:endParaRPr>
          </a:p>
          <a:p>
            <a:pPr algn="l" rtl="0" eaLnBrk="0">
              <a:lnSpc>
                <a:spcPct val="12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905510" algn="l" rtl="0" eaLnBrk="0">
              <a:lnSpc>
                <a:spcPct val="89000"/>
              </a:lnSpc>
              <a:spcBef>
                <a:spcPts val="220"/>
              </a:spcBef>
              <a:tabLst/>
            </a:pPr>
            <a:r>
              <a:rPr sz="700" b="1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Long term</a:t>
            </a:r>
            <a:r>
              <a:rPr sz="700" b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view</a:t>
            </a:r>
            <a:endParaRPr sz="700" dirty="0">
              <a:latin typeface="Arial Narrow"/>
              <a:ea typeface="Arial Narrow"/>
              <a:cs typeface="Arial Narrow"/>
            </a:endParaRPr>
          </a:p>
          <a:p>
            <a:pPr marL="900430" indent="2540" algn="l" rtl="0" eaLnBrk="0">
              <a:lnSpc>
                <a:spcPct val="113000"/>
              </a:lnSpc>
              <a:spcBef>
                <a:spcPts val="123"/>
              </a:spcBef>
              <a:tabLst/>
            </a:pPr>
            <a:r>
              <a:rPr sz="700" b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(e.g., vision/strategic</a:t>
            </a:r>
            <a:r>
              <a:rPr sz="700" b="1" kern="0" spc="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     </a:t>
            </a:r>
            <a:r>
              <a:rPr sz="700" b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themes</a:t>
            </a:r>
            <a:r>
              <a:rPr sz="700" b="1" kern="0" spc="9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b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level)</a:t>
            </a:r>
            <a:endParaRPr sz="700" dirty="0">
              <a:latin typeface="Arial Narrow"/>
              <a:ea typeface="Arial Narrow"/>
              <a:cs typeface="Arial Narrow"/>
            </a:endParaRPr>
          </a:p>
        </p:txBody>
      </p:sp>
      <p:pic>
        <p:nvPicPr>
          <p:cNvPr id="104" name="picture 10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4419142" y="1860899"/>
            <a:ext cx="47130" cy="106447"/>
          </a:xfrm>
          <a:prstGeom prst="rect">
            <a:avLst/>
          </a:prstGeom>
        </p:spPr>
      </p:pic>
      <p:sp>
        <p:nvSpPr>
          <p:cNvPr id="106" name="textbox 106"/>
          <p:cNvSpPr/>
          <p:nvPr/>
        </p:nvSpPr>
        <p:spPr>
          <a:xfrm>
            <a:off x="276026" y="383304"/>
            <a:ext cx="1807210" cy="41148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90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tabLst/>
            </a:pPr>
            <a:r>
              <a:rPr sz="800" b="1" kern="0" spc="4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Agile Work Management – Assumptions</a:t>
            </a:r>
            <a:endParaRPr sz="800" dirty="0">
              <a:latin typeface="Arial Narrow"/>
              <a:ea typeface="Arial Narrow"/>
              <a:cs typeface="Arial Narrow"/>
            </a:endParaRPr>
          </a:p>
          <a:p>
            <a:pPr marL="16510" algn="l" rtl="0" eaLnBrk="0">
              <a:lnSpc>
                <a:spcPts val="2195"/>
              </a:lnSpc>
              <a:tabLst/>
            </a:pPr>
            <a:r>
              <a:rPr sz="800" b="1" kern="0" spc="4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Granularity o</a:t>
            </a:r>
            <a:r>
              <a:rPr sz="800" b="1" kern="0" spc="3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f planning</a:t>
            </a:r>
            <a:endParaRPr sz="800" dirty="0">
              <a:latin typeface="Arial Narrow"/>
              <a:ea typeface="Arial Narrow"/>
              <a:cs typeface="Arial Narrow"/>
            </a:endParaRPr>
          </a:p>
        </p:txBody>
      </p:sp>
      <p:sp>
        <p:nvSpPr>
          <p:cNvPr id="108" name="textbox 108"/>
          <p:cNvSpPr/>
          <p:nvPr/>
        </p:nvSpPr>
        <p:spPr>
          <a:xfrm>
            <a:off x="282488" y="3420282"/>
            <a:ext cx="4093845" cy="1409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718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9000"/>
              </a:lnSpc>
              <a:tabLst/>
            </a:pPr>
            <a:r>
              <a:rPr sz="1300" b="1" kern="0" spc="20" baseline="-8013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Level</a:t>
            </a:r>
            <a:r>
              <a:rPr sz="800" b="1" kern="0" spc="2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1300" b="1" kern="0" spc="20" baseline="-8013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of</a:t>
            </a:r>
            <a:r>
              <a:rPr sz="800" b="1" kern="0" spc="2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1300" b="1" kern="0" spc="10" baseline="-8013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detail</a:t>
            </a:r>
            <a:r>
              <a:rPr sz="800" b="1" kern="0" spc="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                                                                                                         </a:t>
            </a:r>
            <a:r>
              <a:rPr sz="700" kern="0" spc="10" baseline="29764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Picture</a:t>
            </a:r>
            <a:r>
              <a:rPr sz="400" kern="0" spc="5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10" baseline="29764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by</a:t>
            </a:r>
            <a:r>
              <a:rPr sz="400" kern="0" spc="6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10" baseline="29764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Kugler</a:t>
            </a:r>
            <a:r>
              <a:rPr sz="400" kern="0" spc="5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10" baseline="29764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Maag</a:t>
            </a:r>
            <a:r>
              <a:rPr sz="4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10" baseline="29764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Cie</a:t>
            </a:r>
            <a:r>
              <a:rPr sz="400" kern="0" spc="5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10" baseline="29764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GmbH</a:t>
            </a:r>
            <a:r>
              <a:rPr sz="4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10" baseline="29764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2019</a:t>
            </a:r>
            <a:endParaRPr sz="700" baseline="29764" dirty="0">
              <a:latin typeface="Arial Narrow"/>
              <a:ea typeface="Arial Narrow"/>
              <a:cs typeface="Arial Narrow"/>
            </a:endParaRPr>
          </a:p>
        </p:txBody>
      </p:sp>
      <p:sp>
        <p:nvSpPr>
          <p:cNvPr id="110" name="textbox 110"/>
          <p:cNvSpPr/>
          <p:nvPr/>
        </p:nvSpPr>
        <p:spPr>
          <a:xfrm>
            <a:off x="2743906" y="3644904"/>
            <a:ext cx="2525395" cy="1727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09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tabLst/>
            </a:pPr>
            <a:r>
              <a:rPr sz="500" b="1" kern="0" spc="1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9                     </a:t>
            </a:r>
            <a:r>
              <a:rPr sz="500" b="1" kern="0" spc="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                                                                                            </a:t>
            </a:r>
            <a:r>
              <a:rPr sz="1000" u="sng" kern="0" spc="0" dirty="0">
                <a:solidFill>
                  <a:srgbClr val="0E3654">
                    <a:alpha val="100000"/>
                  </a:srgbClr>
                </a:solidFill>
                <a:latin typeface="Arial"/>
                <a:ea typeface="Arial"/>
                <a:cs typeface="Arial"/>
              </a:rPr>
              <a:t>intacs</a:t>
            </a:r>
            <a:r>
              <a:rPr sz="1000" u="sng" kern="0" spc="0" dirty="0">
                <a:solidFill>
                  <a:srgbClr val="0E3654">
                    <a:alpha val="100000"/>
                  </a:srgbClr>
                </a:solidFill>
                <a:latin typeface="Arial"/>
                <a:ea typeface="Arial"/>
                <a:cs typeface="Arial"/>
              </a:rPr>
              <a:t>.</a:t>
            </a:r>
            <a:r>
              <a:rPr sz="1000" u="sng" kern="0" spc="-180" dirty="0">
                <a:solidFill>
                  <a:srgbClr val="0E365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u="sng" kern="0" spc="0" dirty="0">
                <a:solidFill>
                  <a:srgbClr val="0E3654">
                    <a:alpha val="100000"/>
                  </a:srgbClr>
                </a:solidFill>
                <a:latin typeface="Arial"/>
                <a:ea typeface="Arial"/>
                <a:cs typeface="Arial"/>
              </a:rPr>
              <a:t>infoul</a:t>
            </a:r>
            <a:r>
              <a:rPr sz="1000" kern="0" spc="0" dirty="0">
                <a:solidFill>
                  <a:srgbClr val="0E3654">
                    <a:alpha val="100000"/>
                  </a:srgbClr>
                </a:solidFill>
                <a:latin typeface="Arial"/>
                <a:ea typeface="Arial"/>
                <a:cs typeface="Arial"/>
              </a:rPr>
              <a:t>al</a:t>
            </a:r>
            <a:endParaRPr sz="1000" dirty="0">
              <a:latin typeface="Arial"/>
              <a:ea typeface="Arial"/>
              <a:cs typeface="Arial"/>
            </a:endParaRPr>
          </a:p>
        </p:txBody>
      </p:sp>
      <p:sp>
        <p:nvSpPr>
          <p:cNvPr id="112" name="textbox 112"/>
          <p:cNvSpPr/>
          <p:nvPr/>
        </p:nvSpPr>
        <p:spPr>
          <a:xfrm>
            <a:off x="5226288" y="3775564"/>
            <a:ext cx="41275" cy="419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26"/>
              </a:lnSpc>
              <a:tabLst/>
            </a:pPr>
            <a:r>
              <a:rPr sz="100" kern="0" spc="20" dirty="0">
                <a:solidFill>
                  <a:srgbClr val="0E3654">
                    <a:alpha val="100000"/>
                  </a:srgbClr>
                </a:solidFill>
                <a:latin typeface="Arial"/>
                <a:ea typeface="Arial"/>
                <a:cs typeface="Arial"/>
              </a:rPr>
              <a:t>M</a:t>
            </a:r>
            <a:endParaRPr sz="100" dirty="0"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textbox 114"/>
          <p:cNvSpPr/>
          <p:nvPr/>
        </p:nvSpPr>
        <p:spPr>
          <a:xfrm>
            <a:off x="279123" y="1193954"/>
            <a:ext cx="4883150" cy="242506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06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0320" algn="l" rtl="0" eaLnBrk="0">
              <a:lnSpc>
                <a:spcPct val="90000"/>
              </a:lnSpc>
              <a:tabLst/>
            </a:pP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1.   the product vision and strategic themes</a:t>
            </a: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are jointly defined</a:t>
            </a: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and</a:t>
            </a:r>
            <a:r>
              <a:rPr sz="700" kern="0" spc="7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kept</a:t>
            </a:r>
            <a:r>
              <a:rPr sz="700" kern="0" spc="6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up to</a:t>
            </a: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date</a:t>
            </a:r>
            <a:r>
              <a:rPr sz="700" kern="0" spc="2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;</a:t>
            </a:r>
            <a:endParaRPr sz="700" dirty="0">
              <a:latin typeface="Arial Narrow"/>
              <a:ea typeface="Arial Narrow"/>
              <a:cs typeface="Arial Narrow"/>
            </a:endParaRPr>
          </a:p>
          <a:p>
            <a:pPr marL="13970" algn="l" rtl="0" eaLnBrk="0">
              <a:lnSpc>
                <a:spcPct val="90000"/>
              </a:lnSpc>
              <a:spcBef>
                <a:spcPts val="244"/>
              </a:spcBef>
              <a:tabLst/>
            </a:pP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2.   the right set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of competencies and</a:t>
            </a: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adequate</a:t>
            </a:r>
            <a:r>
              <a:rPr sz="700" kern="0" spc="6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resources</a:t>
            </a:r>
            <a:r>
              <a:rPr sz="700" kern="0" spc="5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are</a:t>
            </a:r>
            <a:r>
              <a:rPr sz="700" kern="0" spc="6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planned</a:t>
            </a: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and</a:t>
            </a: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adapted</a:t>
            </a:r>
            <a:r>
              <a:rPr sz="700" kern="0" spc="5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as</a:t>
            </a:r>
            <a:r>
              <a:rPr sz="700" kern="0" spc="6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needed;</a:t>
            </a:r>
            <a:endParaRPr sz="700" dirty="0">
              <a:latin typeface="Arial Narrow"/>
              <a:ea typeface="Arial Narrow"/>
              <a:cs typeface="Arial Narrow"/>
            </a:endParaRPr>
          </a:p>
          <a:p>
            <a:pPr marL="14605" algn="l" rtl="0" eaLnBrk="0">
              <a:lnSpc>
                <a:spcPct val="90000"/>
              </a:lnSpc>
              <a:spcBef>
                <a:spcPts val="244"/>
              </a:spcBef>
              <a:tabLst/>
            </a:pP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3.   a work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approach</a:t>
            </a:r>
            <a:r>
              <a:rPr sz="700" kern="0" spc="5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is defined</a:t>
            </a:r>
            <a:r>
              <a:rPr sz="700" kern="0" spc="5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and</a:t>
            </a: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continuously</a:t>
            </a:r>
            <a:r>
              <a:rPr sz="700" kern="0" spc="6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improved;</a:t>
            </a:r>
            <a:endParaRPr sz="700" dirty="0">
              <a:latin typeface="Arial Narrow"/>
              <a:ea typeface="Arial Narrow"/>
              <a:cs typeface="Arial Narrow"/>
            </a:endParaRPr>
          </a:p>
          <a:p>
            <a:pPr marL="12700" algn="l" rtl="0" eaLnBrk="0">
              <a:lnSpc>
                <a:spcPct val="90000"/>
              </a:lnSpc>
              <a:spcBef>
                <a:spcPts val="244"/>
              </a:spcBef>
              <a:tabLst/>
            </a:pP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4.   dependencies, interface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s, stakeholders and their commitment</a:t>
            </a: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are</a:t>
            </a:r>
            <a:r>
              <a:rPr sz="700" kern="0" spc="6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planned for</a:t>
            </a: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and</a:t>
            </a:r>
            <a:r>
              <a:rPr sz="700" kern="0" spc="6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monitored;</a:t>
            </a:r>
            <a:endParaRPr sz="700" dirty="0">
              <a:latin typeface="Arial Narrow"/>
              <a:ea typeface="Arial Narrow"/>
              <a:cs typeface="Arial Narrow"/>
            </a:endParaRPr>
          </a:p>
          <a:p>
            <a:pPr marL="14605" algn="l" rtl="0" eaLnBrk="0">
              <a:lnSpc>
                <a:spcPct val="90000"/>
              </a:lnSpc>
              <a:spcBef>
                <a:spcPts val="244"/>
              </a:spcBef>
              <a:tabLst/>
            </a:pP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5.   the needed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infrastructure and work</a:t>
            </a: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environment</a:t>
            </a:r>
            <a:r>
              <a:rPr sz="700" kern="0" spc="6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is</a:t>
            </a:r>
            <a:r>
              <a:rPr sz="700" kern="0" spc="7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planned</a:t>
            </a: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and</a:t>
            </a: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operationalized;</a:t>
            </a:r>
            <a:endParaRPr sz="700" dirty="0">
              <a:latin typeface="Arial Narrow"/>
              <a:ea typeface="Arial Narrow"/>
              <a:cs typeface="Arial Narrow"/>
            </a:endParaRPr>
          </a:p>
          <a:p>
            <a:pPr marL="14605" algn="l" rtl="0" eaLnBrk="0">
              <a:lnSpc>
                <a:spcPct val="90000"/>
              </a:lnSpc>
              <a:spcBef>
                <a:spcPts val="244"/>
              </a:spcBef>
              <a:tabLst/>
            </a:pP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6.   the feasibility is</a:t>
            </a: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evaluated for critical</a:t>
            </a:r>
            <a:r>
              <a:rPr sz="700" kern="0" spc="5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element</a:t>
            </a:r>
            <a:r>
              <a:rPr sz="700" kern="0" spc="2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s;</a:t>
            </a:r>
            <a:endParaRPr sz="700" dirty="0">
              <a:latin typeface="Arial Narrow"/>
              <a:ea typeface="Arial Narrow"/>
              <a:cs typeface="Arial Narrow"/>
            </a:endParaRPr>
          </a:p>
          <a:p>
            <a:pPr marL="15240" algn="l" rtl="0" eaLnBrk="0">
              <a:lnSpc>
                <a:spcPct val="90000"/>
              </a:lnSpc>
              <a:spcBef>
                <a:spcPts val="244"/>
              </a:spcBef>
              <a:tabLst/>
            </a:pP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7.   the backlog is estimated</a:t>
            </a: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and</a:t>
            </a:r>
            <a:r>
              <a:rPr sz="700" kern="0" spc="7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prioritized</a:t>
            </a: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as</a:t>
            </a:r>
            <a:r>
              <a:rPr sz="700" kern="0" spc="6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basis for</a:t>
            </a:r>
            <a:r>
              <a:rPr sz="700" kern="0" spc="5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both for short term</a:t>
            </a: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and</a:t>
            </a:r>
            <a:r>
              <a:rPr sz="700" kern="0" spc="6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long</a:t>
            </a: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term</a:t>
            </a:r>
            <a:r>
              <a:rPr sz="700" kern="0" spc="6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planning;</a:t>
            </a:r>
            <a:endParaRPr sz="700" dirty="0">
              <a:latin typeface="Arial Narrow"/>
              <a:ea typeface="Arial Narrow"/>
              <a:cs typeface="Arial Narrow"/>
            </a:endParaRPr>
          </a:p>
          <a:p>
            <a:pPr marL="14605" algn="l" rtl="0" eaLnBrk="0">
              <a:lnSpc>
                <a:spcPct val="90000"/>
              </a:lnSpc>
              <a:spcBef>
                <a:spcPts val="244"/>
              </a:spcBef>
              <a:tabLst/>
            </a:pP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8.   the content of iterations and</a:t>
            </a:r>
            <a:r>
              <a:rPr sz="700" kern="0" spc="8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(potentially) shippable work</a:t>
            </a:r>
            <a:r>
              <a:rPr sz="700" kern="0" spc="6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increment</a:t>
            </a:r>
            <a:r>
              <a:rPr sz="700" kern="0" spc="7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is</a:t>
            </a:r>
            <a:r>
              <a:rPr sz="700" kern="0" spc="6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planned</a:t>
            </a: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and</a:t>
            </a:r>
            <a:r>
              <a:rPr sz="700" kern="0" spc="6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realized;</a:t>
            </a:r>
            <a:endParaRPr sz="700" dirty="0">
              <a:latin typeface="Arial Narrow"/>
              <a:ea typeface="Arial Narrow"/>
              <a:cs typeface="Arial Narrow"/>
            </a:endParaRPr>
          </a:p>
          <a:p>
            <a:pPr marL="158115" indent="-143510" algn="l" rtl="0" eaLnBrk="0">
              <a:lnSpc>
                <a:spcPct val="113000"/>
              </a:lnSpc>
              <a:spcBef>
                <a:spcPts val="122"/>
              </a:spcBef>
              <a:tabLst/>
            </a:pP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9.   progress and status of wor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k completion</a:t>
            </a:r>
            <a:r>
              <a:rPr sz="700" kern="0" spc="6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is</a:t>
            </a:r>
            <a:r>
              <a:rPr sz="700" kern="0" spc="6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made transparent</a:t>
            </a: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and</a:t>
            </a:r>
            <a:r>
              <a:rPr sz="700" kern="0" spc="6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impacts</a:t>
            </a: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on</a:t>
            </a: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strategic</a:t>
            </a: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themes</a:t>
            </a: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and vision</a:t>
            </a: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are</a:t>
            </a:r>
            <a:r>
              <a:rPr sz="700" kern="0" spc="6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managed</a:t>
            </a: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to</a:t>
            </a: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ensure</a:t>
            </a:r>
            <a:r>
              <a:rPr sz="700" kern="0" spc="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consistency;</a:t>
            </a:r>
            <a:endParaRPr sz="700" dirty="0">
              <a:latin typeface="Arial Narrow"/>
              <a:ea typeface="Arial Narrow"/>
              <a:cs typeface="Arial Narrow"/>
            </a:endParaRPr>
          </a:p>
          <a:p>
            <a:pPr marL="157480" indent="-137160" algn="l" rtl="0" eaLnBrk="0">
              <a:lnSpc>
                <a:spcPct val="114000"/>
              </a:lnSpc>
              <a:spcBef>
                <a:spcPts val="94"/>
              </a:spcBef>
              <a:tabLst/>
            </a:pP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10.</a:t>
            </a:r>
            <a:r>
              <a:rPr sz="700" kern="0" spc="9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impediments are iden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tified and resolved when planned</a:t>
            </a:r>
            <a:r>
              <a:rPr sz="700" kern="0" spc="2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work</a:t>
            </a: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or vision</a:t>
            </a:r>
            <a:r>
              <a:rPr sz="700" kern="0" spc="5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and</a:t>
            </a: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strategic themes</a:t>
            </a: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are</a:t>
            </a: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significantly</a:t>
            </a: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affected;</a:t>
            </a:r>
            <a:r>
              <a:rPr sz="700" kern="0" spc="7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recurrence</a:t>
            </a:r>
            <a:r>
              <a:rPr sz="700" kern="0" spc="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of selected issues</a:t>
            </a:r>
            <a:r>
              <a:rPr sz="700" kern="0" spc="6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is</a:t>
            </a:r>
            <a:r>
              <a:rPr sz="700" kern="0" spc="6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prevented</a:t>
            </a:r>
            <a:r>
              <a:rPr sz="700" kern="0" spc="2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.</a:t>
            </a:r>
            <a:endParaRPr sz="700" dirty="0">
              <a:latin typeface="Arial Narrow"/>
              <a:ea typeface="Arial Narrow"/>
              <a:cs typeface="Arial Narrow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200" dirty="0">
              <a:latin typeface="Arial"/>
              <a:ea typeface="Arial"/>
              <a:cs typeface="Arial"/>
            </a:endParaRPr>
          </a:p>
          <a:p>
            <a:pPr marL="927100" algn="l" rtl="0" eaLnBrk="0">
              <a:lnSpc>
                <a:spcPct val="76000"/>
              </a:lnSpc>
              <a:tabLst/>
            </a:pPr>
            <a:r>
              <a:rPr sz="800" b="1" kern="0" spc="160" dirty="0">
                <a:solidFill>
                  <a:srgbClr val="808285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DRAFT -</a:t>
            </a:r>
            <a:r>
              <a:rPr sz="800" b="1" kern="0" spc="140" dirty="0">
                <a:solidFill>
                  <a:srgbClr val="808285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800" b="1" kern="0" spc="160" dirty="0">
                <a:solidFill>
                  <a:srgbClr val="808285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REA</a:t>
            </a:r>
            <a:r>
              <a:rPr sz="800" b="1" kern="0" spc="150" dirty="0">
                <a:solidFill>
                  <a:srgbClr val="808285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DY FOR</a:t>
            </a:r>
            <a:r>
              <a:rPr sz="800" b="1" kern="0" spc="140" dirty="0">
                <a:solidFill>
                  <a:srgbClr val="808285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800" b="1" kern="0" spc="150" dirty="0">
                <a:solidFill>
                  <a:srgbClr val="808285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PILOTING</a:t>
            </a:r>
            <a:r>
              <a:rPr sz="800" b="1" kern="0" spc="140" dirty="0">
                <a:solidFill>
                  <a:srgbClr val="808285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800" b="1" kern="0" spc="150" dirty="0">
                <a:solidFill>
                  <a:srgbClr val="808285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-</a:t>
            </a:r>
            <a:r>
              <a:rPr sz="800" b="1" kern="0" spc="140" dirty="0">
                <a:solidFill>
                  <a:srgbClr val="808285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800" b="1" kern="0" spc="150" dirty="0">
                <a:solidFill>
                  <a:srgbClr val="808285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FEEDBACK WELCOME</a:t>
            </a:r>
            <a:endParaRPr sz="800" dirty="0">
              <a:latin typeface="Arial Narrow"/>
              <a:ea typeface="Arial Narrow"/>
              <a:cs typeface="Arial Narrow"/>
            </a:endParaRPr>
          </a:p>
        </p:txBody>
      </p:sp>
      <p:sp>
        <p:nvSpPr>
          <p:cNvPr id="116" name="textbox 116"/>
          <p:cNvSpPr/>
          <p:nvPr/>
        </p:nvSpPr>
        <p:spPr>
          <a:xfrm>
            <a:off x="275311" y="383304"/>
            <a:ext cx="4893945" cy="41719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90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tabLst/>
            </a:pPr>
            <a:r>
              <a:rPr sz="800" b="1" kern="0" spc="5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AGL.1 Agile Work</a:t>
            </a:r>
            <a:r>
              <a:rPr sz="800" b="1" kern="0" spc="8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800" b="1" kern="0" spc="5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Manage</a:t>
            </a:r>
            <a:r>
              <a:rPr sz="800" b="1" kern="0" spc="4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ment</a:t>
            </a:r>
            <a:endParaRPr sz="800" dirty="0">
              <a:latin typeface="Arial Narrow"/>
              <a:ea typeface="Arial Narrow"/>
              <a:cs typeface="Arial Narrow"/>
            </a:endParaRPr>
          </a:p>
          <a:p>
            <a:pPr algn="l" rtl="0" eaLnBrk="0">
              <a:lnSpc>
                <a:spcPct val="141000"/>
              </a:lnSpc>
              <a:tabLst/>
            </a:pPr>
            <a:endParaRPr sz="200" dirty="0">
              <a:latin typeface="Arial"/>
              <a:ea typeface="Arial"/>
              <a:cs typeface="Arial"/>
            </a:endParaRPr>
          </a:p>
          <a:p>
            <a:pPr marL="19685" indent="-2540" algn="l" rtl="0" eaLnBrk="0">
              <a:lnSpc>
                <a:spcPct val="113000"/>
              </a:lnSpc>
              <a:spcBef>
                <a:spcPts val="1"/>
              </a:spcBef>
              <a:tabLst/>
            </a:pP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The purpose of</a:t>
            </a:r>
            <a:r>
              <a:rPr sz="700" kern="0" spc="-5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Agile Work</a:t>
            </a:r>
            <a:r>
              <a:rPr sz="700" kern="0" spc="7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Management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is to collaboratively</a:t>
            </a:r>
            <a:r>
              <a:rPr sz="700" kern="0" spc="7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manage the work</a:t>
            </a: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of a team</a:t>
            </a:r>
            <a:r>
              <a:rPr sz="700" kern="0" spc="6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(of teams) to</a:t>
            </a: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develop</a:t>
            </a:r>
            <a:r>
              <a:rPr sz="700" kern="0" spc="6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iteratively within work</a:t>
            </a:r>
            <a:r>
              <a:rPr sz="700" kern="0" spc="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boundaries, vision and st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rategic themes to generate business and</a:t>
            </a: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customer value.</a:t>
            </a:r>
            <a:endParaRPr sz="700" dirty="0">
              <a:latin typeface="Arial Narrow"/>
              <a:ea typeface="Arial Narrow"/>
              <a:cs typeface="Arial Narrow"/>
            </a:endParaRPr>
          </a:p>
        </p:txBody>
      </p:sp>
      <p:sp>
        <p:nvSpPr>
          <p:cNvPr id="118" name="textbox 118"/>
          <p:cNvSpPr/>
          <p:nvPr/>
        </p:nvSpPr>
        <p:spPr>
          <a:xfrm>
            <a:off x="288012" y="1022394"/>
            <a:ext cx="4960620" cy="137160"/>
          </a:xfrm>
          <a:prstGeom prst="rect">
            <a:avLst/>
          </a:prstGeom>
          <a:solidFill>
            <a:srgbClr val="015AAA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4000"/>
              </a:lnSpc>
              <a:tabLst/>
            </a:pPr>
            <a:endParaRPr sz="200" dirty="0">
              <a:latin typeface="Arial"/>
              <a:ea typeface="Arial"/>
              <a:cs typeface="Arial"/>
            </a:endParaRPr>
          </a:p>
          <a:p>
            <a:pPr marL="41275" algn="l" rtl="0" eaLnBrk="0">
              <a:lnSpc>
                <a:spcPct val="89000"/>
              </a:lnSpc>
              <a:spcBef>
                <a:spcPts val="1"/>
              </a:spcBef>
              <a:tabLst/>
            </a:pPr>
            <a:r>
              <a:rPr sz="700" b="1" kern="0" spc="40" dirty="0">
                <a:solidFill>
                  <a:srgbClr val="FFFFFF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Agile</a:t>
            </a:r>
            <a:r>
              <a:rPr sz="700" b="1" kern="0" spc="60" dirty="0">
                <a:solidFill>
                  <a:srgbClr val="FFFFFF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b="1" kern="0" spc="40" dirty="0">
                <a:solidFill>
                  <a:srgbClr val="FFFFFF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Process Outcom</a:t>
            </a:r>
            <a:r>
              <a:rPr sz="700" b="1" kern="0" spc="30" dirty="0">
                <a:solidFill>
                  <a:srgbClr val="FFFFFF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es</a:t>
            </a:r>
            <a:endParaRPr sz="700" dirty="0">
              <a:latin typeface="Arial Narrow"/>
              <a:ea typeface="Arial Narrow"/>
              <a:cs typeface="Arial Narrow"/>
            </a:endParaRPr>
          </a:p>
        </p:txBody>
      </p:sp>
      <p:sp>
        <p:nvSpPr>
          <p:cNvPr id="120" name="textbox 120"/>
          <p:cNvSpPr/>
          <p:nvPr/>
        </p:nvSpPr>
        <p:spPr>
          <a:xfrm>
            <a:off x="2729492" y="3644904"/>
            <a:ext cx="2538730" cy="18859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10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9000"/>
              </a:lnSpc>
              <a:tabLst/>
            </a:pPr>
            <a:r>
              <a:rPr sz="900" b="1" kern="0" spc="30" baseline="-17362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10</a:t>
            </a:r>
            <a:r>
              <a:rPr sz="500" b="1" kern="0" spc="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                                                                                                                 </a:t>
            </a:r>
            <a:r>
              <a:rPr sz="900" kern="0" spc="30" dirty="0">
                <a:solidFill>
                  <a:srgbClr val="0E3654">
                    <a:alpha val="100000"/>
                  </a:srgbClr>
                </a:solidFill>
                <a:latin typeface="Arial"/>
                <a:ea typeface="Arial"/>
                <a:cs typeface="Arial"/>
              </a:rPr>
              <a:t>intacs.</a:t>
            </a:r>
            <a:r>
              <a:rPr sz="900" kern="0" spc="-60" dirty="0">
                <a:solidFill>
                  <a:srgbClr val="0E365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30" dirty="0">
                <a:solidFill>
                  <a:srgbClr val="0E3654">
                    <a:alpha val="100000"/>
                  </a:srgbClr>
                </a:solidFill>
                <a:latin typeface="Arial"/>
                <a:ea typeface="Arial"/>
                <a:cs typeface="Arial"/>
              </a:rPr>
              <a:t>infoulal</a:t>
            </a:r>
            <a:endParaRPr sz="9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5766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508885" algn="l" rtl="0" eaLnBrk="0">
              <a:lnSpc>
                <a:spcPts val="126"/>
              </a:lnSpc>
              <a:tabLst/>
            </a:pPr>
            <a:r>
              <a:rPr sz="100" kern="0" spc="20" dirty="0">
                <a:solidFill>
                  <a:srgbClr val="0E3654">
                    <a:alpha val="100000"/>
                  </a:srgbClr>
                </a:solidFill>
                <a:latin typeface="Arial"/>
                <a:ea typeface="Arial"/>
                <a:cs typeface="Arial"/>
              </a:rPr>
              <a:t>M</a:t>
            </a:r>
            <a:endParaRPr sz="100" dirty="0">
              <a:latin typeface="Arial"/>
              <a:ea typeface="Arial"/>
              <a:cs typeface="Arial"/>
            </a:endParaRPr>
          </a:p>
        </p:txBody>
      </p:sp>
      <p:pic>
        <p:nvPicPr>
          <p:cNvPr id="122" name="picture 12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4481109" y="3788264"/>
            <a:ext cx="755282" cy="3193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textbox 124"/>
          <p:cNvSpPr/>
          <p:nvPr/>
        </p:nvSpPr>
        <p:spPr>
          <a:xfrm>
            <a:off x="281383" y="631500"/>
            <a:ext cx="5043805" cy="27686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2034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48284" indent="-235584" algn="l" rtl="0" eaLnBrk="0">
              <a:lnSpc>
                <a:spcPct val="113000"/>
              </a:lnSpc>
              <a:tabLst/>
            </a:pPr>
            <a:r>
              <a:rPr sz="700" b="1" kern="0" spc="4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BP.1   </a:t>
            </a:r>
            <a:r>
              <a:rPr sz="700" b="1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Identify</a:t>
            </a:r>
            <a:r>
              <a:rPr sz="700" b="1" kern="0" spc="7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b="1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Demand and Work</a:t>
            </a:r>
            <a:r>
              <a:rPr sz="700" b="1" kern="0" spc="6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b="1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Boundar</a:t>
            </a:r>
            <a:r>
              <a:rPr sz="700" b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ies.</a:t>
            </a:r>
            <a:r>
              <a:rPr sz="700" b="1" kern="0" spc="9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Identify the customer demand and work boundaries</a:t>
            </a: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collaborating</a:t>
            </a:r>
            <a:r>
              <a:rPr sz="700" kern="0" spc="5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closely</a:t>
            </a:r>
            <a:r>
              <a:rPr sz="700" kern="0" spc="2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with</a:t>
            </a:r>
            <a:r>
              <a:rPr sz="700" kern="0" spc="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                </a:t>
            </a: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stakeholders.</a:t>
            </a:r>
            <a:r>
              <a:rPr sz="700" kern="0" spc="6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Derive the vision and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strategic themes to achieve business</a:t>
            </a:r>
            <a:r>
              <a:rPr sz="700" kern="0" spc="5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and</a:t>
            </a: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customer value.</a:t>
            </a:r>
            <a:r>
              <a:rPr sz="700" kern="0" spc="7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Keep</a:t>
            </a: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demand,</a:t>
            </a:r>
            <a:r>
              <a:rPr sz="700" kern="0" spc="6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boundaries,</a:t>
            </a:r>
            <a:r>
              <a:rPr sz="700" kern="0" spc="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            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vision, and strategic themes</a:t>
            </a:r>
            <a:r>
              <a:rPr sz="700" kern="0" spc="8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up to</a:t>
            </a:r>
            <a:r>
              <a:rPr sz="700" kern="0" spc="5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date.</a:t>
            </a:r>
            <a:endParaRPr sz="700" dirty="0">
              <a:latin typeface="Arial Narrow"/>
              <a:ea typeface="Arial Narrow"/>
              <a:cs typeface="Arial Narrow"/>
            </a:endParaRPr>
          </a:p>
          <a:p>
            <a:pPr marL="250190" indent="-237490" algn="l" rtl="0" eaLnBrk="0">
              <a:lnSpc>
                <a:spcPct val="113000"/>
              </a:lnSpc>
              <a:spcBef>
                <a:spcPts val="187"/>
              </a:spcBef>
              <a:tabLst/>
            </a:pPr>
            <a:r>
              <a:rPr sz="700" b="1" kern="0" spc="3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BP.2   </a:t>
            </a:r>
            <a:r>
              <a:rPr sz="700" b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Build Team.</a:t>
            </a:r>
            <a:r>
              <a:rPr sz="700" b="1" kern="0" spc="1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Form, empower and enable a team</a:t>
            </a:r>
            <a:r>
              <a:rPr sz="700" kern="0" spc="6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(of teams) fitting to the vision</a:t>
            </a: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and work</a:t>
            </a:r>
            <a:r>
              <a:rPr sz="700" kern="0" spc="6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boundaries.</a:t>
            </a:r>
            <a:r>
              <a:rPr sz="700" kern="0" spc="7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Ensure</a:t>
            </a: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the</a:t>
            </a:r>
            <a:r>
              <a:rPr sz="700" kern="0" spc="6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right</a:t>
            </a: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skill</a:t>
            </a: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and</a:t>
            </a:r>
            <a:r>
              <a:rPr sz="700" kern="0" spc="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      </a:t>
            </a: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experience set wi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thin each team (of teams).</a:t>
            </a:r>
            <a:endParaRPr sz="700" dirty="0">
              <a:latin typeface="Arial Narrow"/>
              <a:ea typeface="Arial Narrow"/>
              <a:cs typeface="Arial Narrow"/>
            </a:endParaRPr>
          </a:p>
          <a:p>
            <a:pPr marL="12700" algn="l" rtl="0" eaLnBrk="0">
              <a:lnSpc>
                <a:spcPct val="90000"/>
              </a:lnSpc>
              <a:spcBef>
                <a:spcPts val="308"/>
              </a:spcBef>
              <a:tabLst/>
            </a:pPr>
            <a:r>
              <a:rPr sz="700" b="1" kern="0" spc="4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BP.3   </a:t>
            </a:r>
            <a:r>
              <a:rPr sz="700" b="1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Define Work Ap</a:t>
            </a:r>
            <a:r>
              <a:rPr sz="700" b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proach.</a:t>
            </a:r>
            <a:r>
              <a:rPr sz="700" b="1" kern="0" spc="7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Establish, record and keep the work approach</a:t>
            </a: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of the team</a:t>
            </a:r>
            <a:r>
              <a:rPr sz="700" kern="0" spc="6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(of teams)</a:t>
            </a:r>
            <a:r>
              <a:rPr sz="700" kern="0" spc="6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up to</a:t>
            </a: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date.</a:t>
            </a:r>
            <a:r>
              <a:rPr sz="700" kern="0" spc="7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Ensure</a:t>
            </a: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that the</a:t>
            </a:r>
            <a:r>
              <a:rPr sz="700" kern="0" spc="2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work</a:t>
            </a:r>
            <a:endParaRPr sz="700" dirty="0">
              <a:latin typeface="Arial Narrow"/>
              <a:ea typeface="Arial Narrow"/>
              <a:cs typeface="Arial Narrow"/>
            </a:endParaRPr>
          </a:p>
          <a:p>
            <a:pPr marL="250190" algn="l" rtl="0" eaLnBrk="0">
              <a:lnSpc>
                <a:spcPct val="116000"/>
              </a:lnSpc>
              <a:spcBef>
                <a:spcPts val="120"/>
              </a:spcBef>
              <a:tabLst/>
            </a:pP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approach reflects the given level of complexity, fulfils the work</a:t>
            </a:r>
            <a:r>
              <a:rPr sz="700" kern="0" spc="11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boundaries</a:t>
            </a: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and</a:t>
            </a: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defines team</a:t>
            </a:r>
            <a:r>
              <a:rPr sz="700" kern="0" spc="7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policies,</a:t>
            </a:r>
            <a:r>
              <a:rPr sz="700" kern="0" spc="6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iteration</a:t>
            </a: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cycles,</a:t>
            </a:r>
            <a:r>
              <a:rPr sz="700" kern="0" spc="5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agile</a:t>
            </a: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events,</a:t>
            </a:r>
            <a:r>
              <a:rPr sz="700" kern="0" spc="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artefacts, and</a:t>
            </a:r>
            <a:r>
              <a:rPr sz="700" kern="0" spc="5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ro</a:t>
            </a:r>
            <a:r>
              <a:rPr sz="700" kern="0" spc="2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les.</a:t>
            </a:r>
            <a:endParaRPr sz="700" dirty="0">
              <a:latin typeface="Arial Narrow"/>
              <a:ea typeface="Arial Narrow"/>
              <a:cs typeface="Arial Narrow"/>
            </a:endParaRPr>
          </a:p>
          <a:p>
            <a:pPr marL="252730" indent="-240030" algn="l" rtl="0" eaLnBrk="0">
              <a:lnSpc>
                <a:spcPct val="112000"/>
              </a:lnSpc>
              <a:spcBef>
                <a:spcPts val="154"/>
              </a:spcBef>
              <a:tabLst/>
            </a:pPr>
            <a:r>
              <a:rPr sz="700" b="1" kern="0" spc="4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BP.4   </a:t>
            </a:r>
            <a:r>
              <a:rPr sz="700" b="1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Manage Stakeholders and</a:t>
            </a:r>
            <a:r>
              <a:rPr sz="700" b="1" kern="0" spc="6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b="1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Inte</a:t>
            </a:r>
            <a:r>
              <a:rPr sz="700" b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rfaces.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Stakeholders, interfaces and</a:t>
            </a: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dependencies within</a:t>
            </a: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and</a:t>
            </a: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outside</a:t>
            </a: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the team</a:t>
            </a:r>
            <a:r>
              <a:rPr sz="700" kern="0" spc="6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(of teams)</a:t>
            </a: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are</a:t>
            </a:r>
            <a:r>
              <a:rPr sz="700" kern="0" spc="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    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identified, planned for, recorded,</a:t>
            </a: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and</a:t>
            </a:r>
            <a:r>
              <a:rPr sz="700" kern="0" spc="6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invo</a:t>
            </a:r>
            <a:r>
              <a:rPr sz="700" kern="0" spc="2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lved.</a:t>
            </a:r>
            <a:endParaRPr sz="700" dirty="0">
              <a:latin typeface="Arial Narrow"/>
              <a:ea typeface="Arial Narrow"/>
              <a:cs typeface="Arial Narrow"/>
            </a:endParaRPr>
          </a:p>
          <a:p>
            <a:pPr marL="12700" algn="l" rtl="0" eaLnBrk="0">
              <a:lnSpc>
                <a:spcPct val="89000"/>
              </a:lnSpc>
              <a:spcBef>
                <a:spcPts val="318"/>
              </a:spcBef>
              <a:tabLst/>
            </a:pPr>
            <a:r>
              <a:rPr sz="700" b="1" kern="0" spc="3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BP.5   </a:t>
            </a:r>
            <a:r>
              <a:rPr sz="700" b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Plan</a:t>
            </a:r>
            <a:r>
              <a:rPr sz="700" b="1" kern="0" spc="6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b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Infrastructure.</a:t>
            </a:r>
            <a:r>
              <a:rPr sz="700" b="1" kern="0" spc="8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Identify, plan for and</a:t>
            </a:r>
            <a:r>
              <a:rPr sz="700" kern="0" spc="6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keep the needed work</a:t>
            </a:r>
            <a:r>
              <a:rPr sz="700" kern="0" spc="5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and</a:t>
            </a: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development</a:t>
            </a:r>
            <a:r>
              <a:rPr sz="700" kern="0" spc="6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infrastructure</a:t>
            </a:r>
            <a:r>
              <a:rPr sz="700" kern="0" spc="6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u</a:t>
            </a:r>
            <a:r>
              <a:rPr sz="700" kern="0" spc="2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p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2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to</a:t>
            </a:r>
            <a:r>
              <a:rPr sz="700" kern="0" spc="5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2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date.</a:t>
            </a:r>
            <a:endParaRPr sz="700" dirty="0">
              <a:latin typeface="Arial Narrow"/>
              <a:ea typeface="Arial Narrow"/>
              <a:cs typeface="Arial Narrow"/>
            </a:endParaRPr>
          </a:p>
          <a:p>
            <a:pPr marL="12700" algn="l" rtl="0" eaLnBrk="0">
              <a:lnSpc>
                <a:spcPct val="89000"/>
              </a:lnSpc>
              <a:spcBef>
                <a:spcPts val="337"/>
              </a:spcBef>
              <a:tabLst/>
            </a:pPr>
            <a:r>
              <a:rPr sz="700" b="1" kern="0" spc="3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BP.6   </a:t>
            </a:r>
            <a:r>
              <a:rPr sz="700" b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Evaluate feasibility.</a:t>
            </a:r>
            <a:r>
              <a:rPr sz="700" b="1" kern="0" spc="7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Evaluate and act on the feasibility of criti</a:t>
            </a:r>
            <a:r>
              <a:rPr sz="700" kern="0" spc="2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cal</a:t>
            </a: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2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elements.</a:t>
            </a:r>
            <a:endParaRPr sz="700" dirty="0">
              <a:latin typeface="Arial Narrow"/>
              <a:ea typeface="Arial Narrow"/>
              <a:cs typeface="Arial Narrow"/>
            </a:endParaRPr>
          </a:p>
          <a:p>
            <a:pPr marL="248920" indent="-236220" algn="l" rtl="0" eaLnBrk="0">
              <a:lnSpc>
                <a:spcPct val="115000"/>
              </a:lnSpc>
              <a:spcBef>
                <a:spcPts val="208"/>
              </a:spcBef>
              <a:tabLst/>
            </a:pPr>
            <a:r>
              <a:rPr sz="700" b="1" kern="0" spc="3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BP.7   </a:t>
            </a:r>
            <a:r>
              <a:rPr sz="700" b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Estimate Work.</a:t>
            </a:r>
            <a:r>
              <a:rPr sz="700" b="1" kern="0" spc="7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Perform a high level estimate</a:t>
            </a: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on</a:t>
            </a:r>
            <a:r>
              <a:rPr sz="700" kern="0" spc="5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all</a:t>
            </a:r>
            <a:r>
              <a:rPr sz="700" kern="0" spc="6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backlog</a:t>
            </a:r>
            <a:r>
              <a:rPr sz="700" kern="0" spc="6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items.</a:t>
            </a:r>
            <a:r>
              <a:rPr sz="700" kern="0" spc="7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Estimate</a:t>
            </a:r>
            <a:r>
              <a:rPr sz="700" kern="0" spc="5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and</a:t>
            </a:r>
            <a:r>
              <a:rPr sz="700" kern="0" spc="6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prioritize work</a:t>
            </a:r>
            <a:r>
              <a:rPr sz="700" kern="0" spc="2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for the</a:t>
            </a:r>
            <a:r>
              <a:rPr sz="700" kern="0" spc="6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upcoming</a:t>
            </a:r>
            <a:r>
              <a:rPr sz="700" kern="0" spc="6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iteration</a:t>
            </a:r>
            <a:r>
              <a:rPr sz="700" kern="0" spc="5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cycle</a:t>
            </a:r>
            <a:r>
              <a:rPr sz="700" kern="0" spc="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   </a:t>
            </a: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to ensure a common understanding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of the work content within the</a:t>
            </a:r>
            <a:r>
              <a:rPr sz="700" kern="0" spc="2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team</a:t>
            </a:r>
            <a:r>
              <a:rPr sz="700" kern="0" spc="6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(of teams).</a:t>
            </a:r>
            <a:r>
              <a:rPr sz="700" kern="0" spc="7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Refine</a:t>
            </a:r>
            <a:r>
              <a:rPr sz="700" kern="0" spc="5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and</a:t>
            </a: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adapt</a:t>
            </a: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estimates to</a:t>
            </a:r>
            <a:r>
              <a:rPr sz="700" kern="0" spc="5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continuously</a:t>
            </a:r>
            <a:r>
              <a:rPr sz="700" kern="0" spc="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      </a:t>
            </a: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improve tea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m collaboration and the quality of the</a:t>
            </a:r>
            <a:r>
              <a:rPr sz="700" kern="0" spc="5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product</a:t>
            </a:r>
            <a:r>
              <a:rPr sz="700" kern="0" spc="6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backlog.</a:t>
            </a:r>
            <a:endParaRPr sz="700" dirty="0">
              <a:latin typeface="Arial Narrow"/>
              <a:ea typeface="Arial Narrow"/>
              <a:cs typeface="Arial Narrow"/>
            </a:endParaRPr>
          </a:p>
          <a:p>
            <a:pPr marL="250190" indent="-237490" algn="l" rtl="0" eaLnBrk="0">
              <a:lnSpc>
                <a:spcPct val="113000"/>
              </a:lnSpc>
              <a:spcBef>
                <a:spcPts val="187"/>
              </a:spcBef>
              <a:tabLst/>
            </a:pPr>
            <a:r>
              <a:rPr sz="700" b="1" kern="0" spc="4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BP.8</a:t>
            </a:r>
            <a:r>
              <a:rPr sz="700" b="1" kern="0" spc="1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  </a:t>
            </a:r>
            <a:r>
              <a:rPr sz="700" b="1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Work</a:t>
            </a:r>
            <a:r>
              <a:rPr sz="700" b="1" kern="0" spc="8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b="1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P</a:t>
            </a:r>
            <a:r>
              <a:rPr sz="700" b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lanning.</a:t>
            </a:r>
            <a:r>
              <a:rPr sz="700" b="1" kern="0" spc="7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Plan and realize the content of the upcoming</a:t>
            </a:r>
            <a:r>
              <a:rPr sz="700" kern="0" spc="6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iteration</a:t>
            </a: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cycles</a:t>
            </a:r>
            <a:r>
              <a:rPr sz="700" kern="0" spc="7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based</a:t>
            </a: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on</a:t>
            </a: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estimates, team</a:t>
            </a:r>
            <a:r>
              <a:rPr sz="700" kern="0" spc="5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capacity,</a:t>
            </a: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and</a:t>
            </a: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definitions</a:t>
            </a:r>
            <a:r>
              <a:rPr sz="700" kern="0" spc="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of ready</a:t>
            </a: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and</a:t>
            </a:r>
            <a:r>
              <a:rPr sz="700" kern="0" spc="5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done.</a:t>
            </a:r>
            <a:endParaRPr sz="700" dirty="0">
              <a:latin typeface="Arial Narrow"/>
              <a:ea typeface="Arial Narrow"/>
              <a:cs typeface="Arial Narrow"/>
            </a:endParaRPr>
          </a:p>
          <a:p>
            <a:pPr marL="250190" indent="-237490" algn="l" rtl="0" eaLnBrk="0">
              <a:lnSpc>
                <a:spcPct val="113000"/>
              </a:lnSpc>
              <a:spcBef>
                <a:spcPts val="187"/>
              </a:spcBef>
              <a:tabLst/>
            </a:pPr>
            <a:r>
              <a:rPr sz="700" b="1" kern="0" spc="4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BP.9   </a:t>
            </a:r>
            <a:r>
              <a:rPr sz="700" b="1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Inspect and Adapt</a:t>
            </a:r>
            <a:r>
              <a:rPr sz="700" b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.</a:t>
            </a:r>
            <a:r>
              <a:rPr sz="700" b="1" kern="0" spc="7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Inspect, measure and visualize the status and</a:t>
            </a:r>
            <a:r>
              <a:rPr sz="700" kern="0" spc="7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progress</a:t>
            </a: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of work.</a:t>
            </a:r>
            <a:r>
              <a:rPr sz="700" kern="0" spc="-2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Adapt as</a:t>
            </a:r>
            <a:r>
              <a:rPr sz="700" kern="0" spc="6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needed</a:t>
            </a: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to</a:t>
            </a: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ensure</a:t>
            </a: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consistency</a:t>
            </a:r>
            <a:r>
              <a:rPr sz="700" kern="0" spc="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       </a:t>
            </a: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and to manage imp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acts on</a:t>
            </a: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strategic themes</a:t>
            </a:r>
            <a:r>
              <a:rPr sz="700" kern="0" spc="5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and</a:t>
            </a:r>
            <a:r>
              <a:rPr sz="700" kern="0" spc="2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vision.</a:t>
            </a:r>
            <a:endParaRPr sz="700" dirty="0">
              <a:latin typeface="Arial Narrow"/>
              <a:ea typeface="Arial Narrow"/>
              <a:cs typeface="Arial Narrow"/>
            </a:endParaRPr>
          </a:p>
          <a:p>
            <a:pPr marL="12700" algn="l" rtl="0" eaLnBrk="0">
              <a:lnSpc>
                <a:spcPct val="89000"/>
              </a:lnSpc>
              <a:spcBef>
                <a:spcPts val="317"/>
              </a:spcBef>
              <a:tabLst/>
            </a:pPr>
            <a:r>
              <a:rPr sz="700" b="1" kern="0" spc="4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BP.10</a:t>
            </a:r>
            <a:r>
              <a:rPr sz="700" b="1" kern="0" spc="6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b="1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Manage</a:t>
            </a:r>
            <a:r>
              <a:rPr sz="700" b="1" kern="0" spc="7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b="1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Impe</a:t>
            </a:r>
            <a:r>
              <a:rPr sz="700" b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diments.</a:t>
            </a:r>
            <a:r>
              <a:rPr sz="700" b="1" kern="0" spc="8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Identify, monitor, and resolve impediments within</a:t>
            </a: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and</a:t>
            </a:r>
            <a:r>
              <a:rPr sz="700" kern="0" spc="5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across</a:t>
            </a:r>
            <a:r>
              <a:rPr sz="700" kern="0" spc="6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iteration</a:t>
            </a: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cycles</a:t>
            </a:r>
            <a:r>
              <a:rPr sz="700" kern="0" spc="6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by teams</a:t>
            </a:r>
            <a:r>
              <a:rPr sz="700" kern="0" spc="6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(of teams).</a:t>
            </a:r>
            <a:endParaRPr sz="700" dirty="0">
              <a:latin typeface="Arial Narrow"/>
              <a:ea typeface="Arial Narrow"/>
              <a:cs typeface="Arial Narrow"/>
            </a:endParaRPr>
          </a:p>
          <a:p>
            <a:pPr algn="l" rtl="0" eaLnBrk="0">
              <a:lnSpc>
                <a:spcPct val="140000"/>
              </a:lnSpc>
              <a:tabLst/>
            </a:pPr>
            <a:endParaRPr sz="2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9000"/>
              </a:lnSpc>
              <a:spcBef>
                <a:spcPts val="1"/>
              </a:spcBef>
              <a:tabLst/>
            </a:pPr>
            <a:r>
              <a:rPr sz="700" b="1" kern="0" spc="4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BP.11</a:t>
            </a:r>
            <a:r>
              <a:rPr sz="700" b="1" kern="0" spc="6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b="1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Improve Work App roach</a:t>
            </a:r>
            <a:r>
              <a:rPr sz="700" b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.</a:t>
            </a:r>
            <a:r>
              <a:rPr sz="700" b="1" kern="0" spc="8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Inspect and adapt the work approach based</a:t>
            </a:r>
            <a:r>
              <a:rPr sz="700" kern="0" spc="5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on</a:t>
            </a: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short</a:t>
            </a:r>
            <a:r>
              <a:rPr sz="700" kern="0" spc="6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learning</a:t>
            </a: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cycles within the team</a:t>
            </a:r>
            <a:r>
              <a:rPr sz="700" kern="0" spc="6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(of teams).</a:t>
            </a:r>
            <a:endParaRPr sz="700" dirty="0">
              <a:latin typeface="Arial Narrow"/>
              <a:ea typeface="Arial Narrow"/>
              <a:cs typeface="Arial Narrow"/>
            </a:endParaRPr>
          </a:p>
        </p:txBody>
      </p:sp>
      <p:sp>
        <p:nvSpPr>
          <p:cNvPr id="126" name="textbox 126"/>
          <p:cNvSpPr/>
          <p:nvPr/>
        </p:nvSpPr>
        <p:spPr>
          <a:xfrm>
            <a:off x="2731206" y="3644904"/>
            <a:ext cx="2536825" cy="18859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10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9000"/>
              </a:lnSpc>
              <a:tabLst/>
            </a:pPr>
            <a:r>
              <a:rPr sz="800" b="1" kern="0" spc="30" baseline="-19533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11</a:t>
            </a:r>
            <a:r>
              <a:rPr sz="400" b="1" kern="0" spc="1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        </a:t>
            </a:r>
            <a:r>
              <a:rPr sz="400" b="1" kern="0" spc="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                                                                                                                                        </a:t>
            </a:r>
            <a:r>
              <a:rPr sz="900" kern="0" spc="30" dirty="0">
                <a:solidFill>
                  <a:srgbClr val="0E3654">
                    <a:alpha val="100000"/>
                  </a:srgbClr>
                </a:solidFill>
                <a:latin typeface="Arial"/>
                <a:ea typeface="Arial"/>
                <a:cs typeface="Arial"/>
              </a:rPr>
              <a:t>intacs.</a:t>
            </a:r>
            <a:r>
              <a:rPr sz="900" kern="0" spc="-140" dirty="0">
                <a:solidFill>
                  <a:srgbClr val="0E365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30" dirty="0">
                <a:solidFill>
                  <a:srgbClr val="0E3654">
                    <a:alpha val="100000"/>
                  </a:srgbClr>
                </a:solidFill>
                <a:latin typeface="Arial"/>
                <a:ea typeface="Arial"/>
                <a:cs typeface="Arial"/>
              </a:rPr>
              <a:t>infoulal</a:t>
            </a:r>
            <a:endParaRPr sz="9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5766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507615" algn="l" rtl="0" eaLnBrk="0">
              <a:lnSpc>
                <a:spcPts val="126"/>
              </a:lnSpc>
              <a:tabLst/>
            </a:pPr>
            <a:r>
              <a:rPr sz="100" kern="0" spc="20" dirty="0">
                <a:solidFill>
                  <a:srgbClr val="0E3654">
                    <a:alpha val="100000"/>
                  </a:srgbClr>
                </a:solidFill>
                <a:latin typeface="Arial"/>
                <a:ea typeface="Arial"/>
                <a:cs typeface="Arial"/>
              </a:rPr>
              <a:t>M</a:t>
            </a:r>
            <a:endParaRPr sz="100" dirty="0">
              <a:latin typeface="Arial"/>
              <a:ea typeface="Arial"/>
              <a:cs typeface="Arial"/>
            </a:endParaRPr>
          </a:p>
        </p:txBody>
      </p:sp>
      <p:pic>
        <p:nvPicPr>
          <p:cNvPr id="128" name="picture 12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4481109" y="3788264"/>
            <a:ext cx="755282" cy="31932"/>
          </a:xfrm>
          <a:prstGeom prst="rect">
            <a:avLst/>
          </a:prstGeom>
        </p:spPr>
      </p:pic>
      <p:sp>
        <p:nvSpPr>
          <p:cNvPr id="130" name="textbox 130"/>
          <p:cNvSpPr/>
          <p:nvPr/>
        </p:nvSpPr>
        <p:spPr>
          <a:xfrm>
            <a:off x="278407" y="383304"/>
            <a:ext cx="2656205" cy="13271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90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tabLst/>
            </a:pPr>
            <a:r>
              <a:rPr sz="800" b="1" kern="0" spc="4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AGL.1 Agile Work Management (AWM) – Practice Summary</a:t>
            </a:r>
            <a:endParaRPr sz="800" dirty="0">
              <a:latin typeface="Arial Narrow"/>
              <a:ea typeface="Arial Narrow"/>
              <a:cs typeface="Arial Narrow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rect 132"/>
          <p:cNvSpPr/>
          <p:nvPr/>
        </p:nvSpPr>
        <p:spPr>
          <a:xfrm>
            <a:off x="287988" y="590388"/>
            <a:ext cx="4968026" cy="2700003"/>
          </a:xfrm>
          <a:prstGeom prst="rect">
            <a:avLst/>
          </a:prstGeom>
          <a:solidFill>
            <a:srgbClr val="E8EBF6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34" name="textbox 134"/>
          <p:cNvSpPr/>
          <p:nvPr/>
        </p:nvSpPr>
        <p:spPr>
          <a:xfrm>
            <a:off x="581302" y="604614"/>
            <a:ext cx="4630420" cy="245300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2036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4605" indent="2540" algn="l" rtl="0" eaLnBrk="0">
              <a:lnSpc>
                <a:spcPct val="113000"/>
              </a:lnSpc>
              <a:tabLst/>
            </a:pPr>
            <a:r>
              <a:rPr sz="700" b="1" kern="0" spc="3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Identify</a:t>
            </a:r>
            <a:r>
              <a:rPr sz="700" b="1" kern="0" spc="7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b="1" kern="0" spc="3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Demand and Work</a:t>
            </a:r>
            <a:r>
              <a:rPr sz="700" b="1" kern="0" spc="7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b="1" kern="0" spc="3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Boundaries.</a:t>
            </a:r>
            <a:r>
              <a:rPr sz="700" b="1" kern="0" spc="8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Identify the customer demand and work boundaries collaborating</a:t>
            </a: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closely with stake-</a:t>
            </a:r>
            <a:r>
              <a:rPr sz="700" kern="0" spc="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holders.</a:t>
            </a:r>
            <a:r>
              <a:rPr sz="700" kern="0" spc="6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Derive the vision and strategic themes linked to business</a:t>
            </a: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and</a:t>
            </a: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custom</a:t>
            </a:r>
            <a:r>
              <a:rPr sz="700" kern="0" spc="2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er value.</a:t>
            </a:r>
            <a:r>
              <a:rPr sz="700" kern="0" spc="7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2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Keep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2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demand,</a:t>
            </a:r>
            <a:r>
              <a:rPr sz="700" kern="0" spc="6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2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boundaries, vision,</a:t>
            </a: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2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and</a:t>
            </a:r>
            <a:r>
              <a:rPr sz="700" kern="0" spc="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 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strategic themes up to da</a:t>
            </a:r>
            <a:r>
              <a:rPr sz="700" kern="0" spc="2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te.</a:t>
            </a:r>
            <a:r>
              <a:rPr sz="700" kern="0" spc="6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2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[OUTCOME</a:t>
            </a:r>
            <a:r>
              <a:rPr sz="700" kern="0" spc="8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2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1]</a:t>
            </a:r>
            <a:endParaRPr sz="700" dirty="0">
              <a:latin typeface="Arial Narrow"/>
              <a:ea typeface="Arial Narrow"/>
              <a:cs typeface="Arial Narrow"/>
            </a:endParaRPr>
          </a:p>
          <a:p>
            <a:pPr marL="18415" algn="l" rtl="0" eaLnBrk="0">
              <a:lnSpc>
                <a:spcPct val="76000"/>
              </a:lnSpc>
              <a:spcBef>
                <a:spcPts val="222"/>
              </a:spcBef>
              <a:tabLst/>
            </a:pPr>
            <a:r>
              <a:rPr sz="700" b="1" kern="0" spc="3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Notes &amp;</a:t>
            </a:r>
            <a:r>
              <a:rPr sz="700" b="1" kern="0" spc="11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b="1" kern="0" spc="3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Definitions:</a:t>
            </a:r>
            <a:endParaRPr sz="700" dirty="0">
              <a:latin typeface="Arial Narrow"/>
              <a:ea typeface="Arial Narrow"/>
              <a:cs typeface="Arial Narrow"/>
            </a:endParaRPr>
          </a:p>
          <a:p>
            <a:pPr marL="176530" indent="-55880" algn="l" rtl="0" eaLnBrk="0">
              <a:lnSpc>
                <a:spcPct val="122000"/>
              </a:lnSpc>
              <a:spcBef>
                <a:spcPts val="106"/>
              </a:spcBef>
              <a:tabLst/>
            </a:pP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▪</a:t>
            </a:r>
            <a:r>
              <a:rPr sz="700" kern="0" spc="11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Collaboration can be internal and external as</a:t>
            </a:r>
            <a:r>
              <a:rPr sz="700" i="1" kern="0" spc="7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well as across organizations;</a:t>
            </a:r>
            <a:r>
              <a:rPr sz="700" i="1" kern="0" spc="5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e.g.,</a:t>
            </a:r>
            <a:r>
              <a:rPr sz="700" i="1" kern="0" spc="7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within</a:t>
            </a:r>
            <a:r>
              <a:rPr sz="700" i="1" kern="0" spc="5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a program,</a:t>
            </a:r>
            <a:r>
              <a:rPr sz="700" i="1" kern="0" spc="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                                        </a:t>
            </a:r>
            <a:r>
              <a:rPr sz="700" i="1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product line or or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ganization, and together with</a:t>
            </a:r>
            <a:r>
              <a:rPr sz="700" i="1" kern="0" spc="7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(multiple) customers and suppliers.</a:t>
            </a:r>
            <a:endParaRPr sz="700" dirty="0">
              <a:latin typeface="Arial Narrow"/>
              <a:ea typeface="Arial Narrow"/>
              <a:cs typeface="Arial Narrow"/>
            </a:endParaRPr>
          </a:p>
          <a:p>
            <a:pPr marL="120650" algn="l" rtl="0" eaLnBrk="0">
              <a:lnSpc>
                <a:spcPts val="1000"/>
              </a:lnSpc>
              <a:tabLst/>
            </a:pPr>
            <a:r>
              <a:rPr sz="700" i="1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▪</a:t>
            </a:r>
            <a:r>
              <a:rPr sz="700" i="1" kern="0" spc="-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A customer demand is a recorded customer</a:t>
            </a:r>
            <a:r>
              <a:rPr sz="700" i="1" kern="0" spc="-1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requ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irement or</a:t>
            </a:r>
            <a:r>
              <a:rPr sz="700" i="1" kern="0" spc="-2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statement on the problem to be solved.</a:t>
            </a:r>
            <a:endParaRPr sz="700" dirty="0">
              <a:latin typeface="Arial Narrow"/>
              <a:ea typeface="Arial Narrow"/>
              <a:cs typeface="Arial Narrow"/>
            </a:endParaRPr>
          </a:p>
          <a:p>
            <a:pPr marL="120650" algn="l" rtl="0" eaLnBrk="0">
              <a:lnSpc>
                <a:spcPts val="999"/>
              </a:lnSpc>
              <a:tabLst/>
            </a:pP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▪</a:t>
            </a:r>
            <a:r>
              <a:rPr sz="700" i="1" kern="0" spc="2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A vision defines the product capabilities potentially leading to a successful solution.</a:t>
            </a:r>
            <a:endParaRPr sz="700" dirty="0">
              <a:latin typeface="Arial Narrow"/>
              <a:ea typeface="Arial Narrow"/>
              <a:cs typeface="Arial Narrow"/>
            </a:endParaRPr>
          </a:p>
          <a:p>
            <a:pPr marL="120650" algn="l" rtl="0" eaLnBrk="0">
              <a:lnSpc>
                <a:spcPts val="1000"/>
              </a:lnSpc>
              <a:tabLst/>
            </a:pP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▪</a:t>
            </a:r>
            <a:r>
              <a:rPr sz="700" i="1" kern="0" spc="11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Strategic themes are unique selling propositions related both to</a:t>
            </a:r>
            <a:r>
              <a:rPr sz="700" i="1" kern="0" spc="7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vision</a:t>
            </a:r>
            <a:r>
              <a:rPr sz="700" i="1" kern="0" spc="5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of</a:t>
            </a:r>
            <a:r>
              <a:rPr sz="700" i="1" kern="0" spc="-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the product and its</a:t>
            </a:r>
            <a:r>
              <a:rPr sz="700" i="1" kern="0" spc="5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quality criteria.</a:t>
            </a:r>
            <a:endParaRPr sz="700" dirty="0">
              <a:latin typeface="Arial Narrow"/>
              <a:ea typeface="Arial Narrow"/>
              <a:cs typeface="Arial Narrow"/>
            </a:endParaRPr>
          </a:p>
          <a:p>
            <a:pPr marL="187960" algn="l" rtl="0" eaLnBrk="0">
              <a:lnSpc>
                <a:spcPts val="1000"/>
              </a:lnSpc>
              <a:tabLst/>
            </a:pPr>
            <a:r>
              <a:rPr sz="700" i="1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They typically run 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across iterations and address a mid and long term perspective.</a:t>
            </a:r>
            <a:endParaRPr sz="700" dirty="0">
              <a:latin typeface="Arial Narrow"/>
              <a:ea typeface="Arial Narrow"/>
              <a:cs typeface="Arial Narrow"/>
            </a:endParaRPr>
          </a:p>
          <a:p>
            <a:pPr marL="120650" algn="l" rtl="0" eaLnBrk="0">
              <a:lnSpc>
                <a:spcPts val="999"/>
              </a:lnSpc>
              <a:tabLst/>
            </a:pPr>
            <a:r>
              <a:rPr sz="700" i="1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▪</a:t>
            </a:r>
            <a:r>
              <a:rPr sz="700" i="1" kern="0" spc="10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Vision and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strategic themes are typically the result of</a:t>
            </a:r>
            <a:r>
              <a:rPr sz="700" i="1" kern="0" spc="-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requirements</a:t>
            </a:r>
            <a:r>
              <a:rPr sz="700" i="1" kern="0" spc="5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engineering activities.</a:t>
            </a:r>
            <a:endParaRPr sz="700" dirty="0">
              <a:latin typeface="Arial Narrow"/>
              <a:ea typeface="Arial Narrow"/>
              <a:cs typeface="Arial Narrow"/>
            </a:endParaRPr>
          </a:p>
          <a:p>
            <a:pPr marL="120650" algn="l" rtl="0" eaLnBrk="0">
              <a:lnSpc>
                <a:spcPts val="1000"/>
              </a:lnSpc>
              <a:tabLst/>
            </a:pP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▪</a:t>
            </a:r>
            <a:r>
              <a:rPr sz="700" i="1" kern="0" spc="-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A customer can be a stakeholder within</a:t>
            </a:r>
            <a:r>
              <a:rPr sz="700" i="1" kern="0" spc="7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(e.g., product management) or external</a:t>
            </a:r>
            <a:r>
              <a:rPr sz="700" i="1" kern="0" spc="2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to the organization</a:t>
            </a:r>
            <a:r>
              <a:rPr sz="700" i="1" kern="0" spc="7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2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(an individual customer)</a:t>
            </a:r>
            <a:endParaRPr sz="700" dirty="0">
              <a:latin typeface="Arial Narrow"/>
              <a:ea typeface="Arial Narrow"/>
              <a:cs typeface="Arial Narrow"/>
            </a:endParaRPr>
          </a:p>
          <a:p>
            <a:pPr marL="180340" indent="-59689" algn="l" rtl="0" eaLnBrk="0">
              <a:lnSpc>
                <a:spcPct val="119000"/>
              </a:lnSpc>
              <a:spcBef>
                <a:spcPts val="1"/>
              </a:spcBef>
              <a:tabLst/>
            </a:pPr>
            <a:r>
              <a:rPr sz="700" i="1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▪ Boundaries ca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n include out of</a:t>
            </a:r>
            <a:r>
              <a:rPr sz="700" i="1" kern="0" spc="-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scope, system</a:t>
            </a:r>
            <a:r>
              <a:rPr sz="700" i="1" kern="0" spc="5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context, solution</a:t>
            </a:r>
            <a:r>
              <a:rPr sz="700" i="1" kern="0" spc="5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space, link to</a:t>
            </a:r>
            <a:r>
              <a:rPr sz="700" i="1" kern="0" spc="5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feasibility,</a:t>
            </a:r>
            <a:r>
              <a:rPr sz="700" i="1" kern="0" spc="6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organizational constraints</a:t>
            </a:r>
            <a:r>
              <a:rPr sz="700" i="1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and</a:t>
            </a:r>
            <a:r>
              <a:rPr sz="700" i="1" kern="0" spc="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     </a:t>
            </a:r>
            <a:r>
              <a:rPr sz="700" i="1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business objectives, platf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orm and</a:t>
            </a:r>
            <a:r>
              <a:rPr sz="700" i="1" kern="0" spc="-1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product line constraints as</a:t>
            </a:r>
            <a:r>
              <a:rPr sz="700" i="1" kern="0" spc="7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well as regulatory requirements.</a:t>
            </a:r>
            <a:endParaRPr sz="700" dirty="0">
              <a:latin typeface="Arial Narrow"/>
              <a:ea typeface="Arial Narrow"/>
              <a:cs typeface="Arial Narrow"/>
            </a:endParaRPr>
          </a:p>
          <a:p>
            <a:pPr marL="120650" algn="l" rtl="0" eaLnBrk="0">
              <a:lnSpc>
                <a:spcPts val="1060"/>
              </a:lnSpc>
              <a:tabLst/>
            </a:pPr>
            <a:r>
              <a:rPr sz="700" i="1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▪ Ensure agreement with stakeholde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rs on</a:t>
            </a:r>
            <a:r>
              <a:rPr sz="700" i="1" kern="0" spc="5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change mechanism</a:t>
            </a:r>
            <a:r>
              <a:rPr sz="700" i="1" kern="0" spc="5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for changes</a:t>
            </a:r>
            <a:r>
              <a:rPr sz="700" i="1" kern="0" spc="6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to</a:t>
            </a:r>
            <a:r>
              <a:rPr sz="700" i="1" kern="0" spc="5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the</a:t>
            </a:r>
            <a:r>
              <a:rPr sz="700" i="1" kern="0" spc="6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demand and</a:t>
            </a:r>
            <a:endParaRPr sz="700" dirty="0">
              <a:latin typeface="Arial Narrow"/>
              <a:ea typeface="Arial Narrow"/>
              <a:cs typeface="Arial Narrow"/>
            </a:endParaRPr>
          </a:p>
          <a:p>
            <a:pPr marL="180340" algn="l" rtl="0" eaLnBrk="0">
              <a:lnSpc>
                <a:spcPts val="939"/>
              </a:lnSpc>
              <a:spcBef>
                <a:spcPts val="40"/>
              </a:spcBef>
              <a:tabLst/>
            </a:pP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boundaries.</a:t>
            </a:r>
            <a:endParaRPr sz="700" dirty="0">
              <a:latin typeface="Arial Narrow"/>
              <a:ea typeface="Arial Narrow"/>
              <a:cs typeface="Arial Narrow"/>
            </a:endParaRPr>
          </a:p>
          <a:p>
            <a:pPr marL="894714" indent="-882014" algn="l" rtl="0" eaLnBrk="0">
              <a:lnSpc>
                <a:spcPct val="112000"/>
              </a:lnSpc>
              <a:spcBef>
                <a:spcPts val="322"/>
              </a:spcBef>
              <a:tabLst/>
            </a:pPr>
            <a:r>
              <a:rPr sz="700" b="1" kern="0" spc="4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Agile Work</a:t>
            </a:r>
            <a:r>
              <a:rPr sz="700" b="1" kern="0" spc="7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b="1" kern="0" spc="4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Products:</a:t>
            </a:r>
            <a:r>
              <a:rPr sz="700" b="1" kern="0" spc="7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4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Product backlog,</a:t>
            </a:r>
            <a:r>
              <a:rPr sz="700" kern="0" spc="7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4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D</a:t>
            </a:r>
            <a:r>
              <a:rPr sz="700" kern="0" spc="3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emand statement (e.g. includes agreed</a:t>
            </a:r>
            <a:r>
              <a:rPr sz="700" kern="0" spc="4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stakeholder goals),</a:t>
            </a:r>
            <a:r>
              <a:rPr sz="700" kern="0" spc="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                                        </a:t>
            </a:r>
            <a:r>
              <a:rPr sz="700" kern="0" spc="4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Boundaries</a:t>
            </a:r>
            <a:r>
              <a:rPr sz="700" kern="0" spc="3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, Vision and strategic themes</a:t>
            </a:r>
            <a:endParaRPr sz="700" dirty="0">
              <a:latin typeface="Arial Narrow"/>
              <a:ea typeface="Arial Narrow"/>
              <a:cs typeface="Arial Narrow"/>
            </a:endParaRPr>
          </a:p>
          <a:p>
            <a:pPr marL="15240" algn="l" rtl="0" eaLnBrk="0">
              <a:lnSpc>
                <a:spcPts val="1079"/>
              </a:lnSpc>
              <a:tabLst/>
            </a:pPr>
            <a:r>
              <a:rPr sz="700" b="1" kern="0" spc="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Supporting</a:t>
            </a:r>
            <a:r>
              <a:rPr sz="700" b="1" kern="0" spc="7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b="1" kern="0" spc="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Agile</a:t>
            </a:r>
            <a:r>
              <a:rPr sz="700" b="1" kern="0" spc="6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b="1" kern="0" spc="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Principles</a:t>
            </a:r>
            <a:r>
              <a:rPr sz="700" b="1" kern="0" spc="12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7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1, 2, 4,</a:t>
            </a:r>
            <a:r>
              <a:rPr sz="700" i="1" kern="0" spc="11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7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10,</a:t>
            </a:r>
            <a:r>
              <a:rPr sz="700" i="1" kern="0" spc="12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7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11</a:t>
            </a:r>
            <a:endParaRPr sz="700" dirty="0">
              <a:latin typeface="Arial Narrow"/>
              <a:ea typeface="Arial Narrow"/>
              <a:cs typeface="Arial Narrow"/>
            </a:endParaRPr>
          </a:p>
        </p:txBody>
      </p:sp>
      <p:sp>
        <p:nvSpPr>
          <p:cNvPr id="136" name="textbox 136"/>
          <p:cNvSpPr/>
          <p:nvPr/>
        </p:nvSpPr>
        <p:spPr>
          <a:xfrm>
            <a:off x="288012" y="396005"/>
            <a:ext cx="4968240" cy="137160"/>
          </a:xfrm>
          <a:prstGeom prst="rect">
            <a:avLst/>
          </a:prstGeom>
          <a:solidFill>
            <a:srgbClr val="015AAA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4000"/>
              </a:lnSpc>
              <a:tabLst/>
            </a:pPr>
            <a:endParaRPr sz="200" dirty="0">
              <a:latin typeface="Arial"/>
              <a:ea typeface="Arial"/>
              <a:cs typeface="Arial"/>
            </a:endParaRPr>
          </a:p>
          <a:p>
            <a:pPr marL="33655" algn="l" rtl="0" eaLnBrk="0">
              <a:lnSpc>
                <a:spcPct val="89000"/>
              </a:lnSpc>
              <a:spcBef>
                <a:spcPts val="1"/>
              </a:spcBef>
              <a:tabLst/>
            </a:pPr>
            <a:r>
              <a:rPr sz="700" b="1" kern="0" spc="30" dirty="0">
                <a:solidFill>
                  <a:srgbClr val="FFFFFF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AGL.1 with</a:t>
            </a:r>
            <a:r>
              <a:rPr sz="700" b="1" kern="0" spc="120" dirty="0">
                <a:solidFill>
                  <a:srgbClr val="FFFFFF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b="1" kern="0" spc="30" dirty="0">
                <a:solidFill>
                  <a:srgbClr val="FFFFFF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11</a:t>
            </a:r>
            <a:r>
              <a:rPr sz="700" b="1" kern="0" spc="60" dirty="0">
                <a:solidFill>
                  <a:srgbClr val="FFFFFF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b="1" kern="0" spc="30" dirty="0">
                <a:solidFill>
                  <a:srgbClr val="FFFFFF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Base</a:t>
            </a:r>
            <a:r>
              <a:rPr sz="700" b="1" kern="0" spc="70" dirty="0">
                <a:solidFill>
                  <a:srgbClr val="FFFFFF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b="1" kern="0" spc="30" dirty="0">
                <a:solidFill>
                  <a:srgbClr val="FFFFFF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practices</a:t>
            </a:r>
            <a:endParaRPr sz="700" dirty="0">
              <a:latin typeface="Arial Narrow"/>
              <a:ea typeface="Arial Narrow"/>
              <a:cs typeface="Arial Narrow"/>
            </a:endParaRPr>
          </a:p>
        </p:txBody>
      </p:sp>
      <p:sp>
        <p:nvSpPr>
          <p:cNvPr id="138" name="textbox 138"/>
          <p:cNvSpPr/>
          <p:nvPr/>
        </p:nvSpPr>
        <p:spPr>
          <a:xfrm>
            <a:off x="2729492" y="3644904"/>
            <a:ext cx="2538730" cy="18859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10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9000"/>
              </a:lnSpc>
              <a:tabLst/>
            </a:pPr>
            <a:r>
              <a:rPr sz="900" b="1" kern="0" spc="30" baseline="-17362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12</a:t>
            </a:r>
            <a:r>
              <a:rPr sz="500" b="1" kern="0" spc="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                                                                                                                 </a:t>
            </a:r>
            <a:r>
              <a:rPr sz="900" kern="0" spc="30" dirty="0">
                <a:solidFill>
                  <a:srgbClr val="0E3654">
                    <a:alpha val="100000"/>
                  </a:srgbClr>
                </a:solidFill>
                <a:latin typeface="Arial"/>
                <a:ea typeface="Arial"/>
                <a:cs typeface="Arial"/>
              </a:rPr>
              <a:t>intacs.</a:t>
            </a:r>
            <a:r>
              <a:rPr sz="900" kern="0" spc="-60" dirty="0">
                <a:solidFill>
                  <a:srgbClr val="0E365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30" dirty="0">
                <a:solidFill>
                  <a:srgbClr val="0E3654">
                    <a:alpha val="100000"/>
                  </a:srgbClr>
                </a:solidFill>
                <a:latin typeface="Arial"/>
                <a:ea typeface="Arial"/>
                <a:cs typeface="Arial"/>
              </a:rPr>
              <a:t>infoulal</a:t>
            </a:r>
            <a:endParaRPr sz="9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5766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508885" algn="l" rtl="0" eaLnBrk="0">
              <a:lnSpc>
                <a:spcPts val="126"/>
              </a:lnSpc>
              <a:tabLst/>
            </a:pPr>
            <a:r>
              <a:rPr sz="100" kern="0" spc="20" dirty="0">
                <a:solidFill>
                  <a:srgbClr val="0E3654">
                    <a:alpha val="100000"/>
                  </a:srgbClr>
                </a:solidFill>
                <a:latin typeface="Arial"/>
                <a:ea typeface="Arial"/>
                <a:cs typeface="Arial"/>
              </a:rPr>
              <a:t>M</a:t>
            </a:r>
            <a:endParaRPr sz="100" dirty="0">
              <a:latin typeface="Arial"/>
              <a:ea typeface="Arial"/>
              <a:cs typeface="Arial"/>
            </a:endParaRPr>
          </a:p>
        </p:txBody>
      </p:sp>
      <p:pic>
        <p:nvPicPr>
          <p:cNvPr id="140" name="picture 14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4481109" y="3788264"/>
            <a:ext cx="755282" cy="31932"/>
          </a:xfrm>
          <a:prstGeom prst="rect">
            <a:avLst/>
          </a:prstGeom>
        </p:spPr>
      </p:pic>
      <p:sp>
        <p:nvSpPr>
          <p:cNvPr id="142" name="textbox 142"/>
          <p:cNvSpPr/>
          <p:nvPr/>
        </p:nvSpPr>
        <p:spPr>
          <a:xfrm>
            <a:off x="1194082" y="3500902"/>
            <a:ext cx="3164205" cy="1181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96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6000"/>
              </a:lnSpc>
              <a:tabLst/>
            </a:pPr>
            <a:r>
              <a:rPr sz="800" b="1" kern="0" spc="160" dirty="0">
                <a:solidFill>
                  <a:srgbClr val="808285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DRAFT -</a:t>
            </a:r>
            <a:r>
              <a:rPr sz="800" b="1" kern="0" spc="140" dirty="0">
                <a:solidFill>
                  <a:srgbClr val="808285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800" b="1" kern="0" spc="160" dirty="0">
                <a:solidFill>
                  <a:srgbClr val="808285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REA</a:t>
            </a:r>
            <a:r>
              <a:rPr sz="800" b="1" kern="0" spc="150" dirty="0">
                <a:solidFill>
                  <a:srgbClr val="808285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DY FOR</a:t>
            </a:r>
            <a:r>
              <a:rPr sz="800" b="1" kern="0" spc="140" dirty="0">
                <a:solidFill>
                  <a:srgbClr val="808285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800" b="1" kern="0" spc="150" dirty="0">
                <a:solidFill>
                  <a:srgbClr val="808285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PILOTING</a:t>
            </a:r>
            <a:r>
              <a:rPr sz="800" b="1" kern="0" spc="140" dirty="0">
                <a:solidFill>
                  <a:srgbClr val="808285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800" b="1" kern="0" spc="150" dirty="0">
                <a:solidFill>
                  <a:srgbClr val="808285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-</a:t>
            </a:r>
            <a:r>
              <a:rPr sz="800" b="1" kern="0" spc="140" dirty="0">
                <a:solidFill>
                  <a:srgbClr val="808285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800" b="1" kern="0" spc="150" dirty="0">
                <a:solidFill>
                  <a:srgbClr val="808285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FEEDBACK WELCOME</a:t>
            </a:r>
            <a:endParaRPr sz="800" dirty="0">
              <a:latin typeface="Arial Narrow"/>
              <a:ea typeface="Arial Narrow"/>
              <a:cs typeface="Arial Narrow"/>
            </a:endParaRPr>
          </a:p>
        </p:txBody>
      </p:sp>
      <p:sp>
        <p:nvSpPr>
          <p:cNvPr id="144" name="textbox 144"/>
          <p:cNvSpPr/>
          <p:nvPr/>
        </p:nvSpPr>
        <p:spPr>
          <a:xfrm>
            <a:off x="336605" y="673003"/>
            <a:ext cx="161925" cy="9398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57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5000"/>
              </a:lnSpc>
              <a:tabLst/>
            </a:pPr>
            <a:r>
              <a:rPr sz="600" b="1" kern="0" spc="30" dirty="0">
                <a:solidFill>
                  <a:srgbClr val="FFFFFF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BP1</a:t>
            </a:r>
            <a:endParaRPr sz="600" dirty="0">
              <a:latin typeface="Arial Narrow"/>
              <a:ea typeface="Arial Narrow"/>
              <a:cs typeface="Arial Narrow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rect 146"/>
          <p:cNvSpPr/>
          <p:nvPr/>
        </p:nvSpPr>
        <p:spPr>
          <a:xfrm>
            <a:off x="287988" y="595795"/>
            <a:ext cx="4968026" cy="1809012"/>
          </a:xfrm>
          <a:prstGeom prst="rect">
            <a:avLst/>
          </a:prstGeom>
          <a:solidFill>
            <a:srgbClr val="E8EBF6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48" name="textbox 148"/>
          <p:cNvSpPr/>
          <p:nvPr/>
        </p:nvSpPr>
        <p:spPr>
          <a:xfrm>
            <a:off x="581302" y="619740"/>
            <a:ext cx="4493260" cy="168846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295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5240" indent="3175" algn="l" rtl="0" eaLnBrk="0">
              <a:lnSpc>
                <a:spcPct val="111000"/>
              </a:lnSpc>
              <a:tabLst/>
            </a:pPr>
            <a:r>
              <a:rPr sz="700" b="1" kern="0" spc="4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Build Team.</a:t>
            </a:r>
            <a:r>
              <a:rPr sz="700" b="1" kern="0" spc="7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Form,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empower and enable a team (of teams) fitting to the vision</a:t>
            </a: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and work</a:t>
            </a:r>
            <a:r>
              <a:rPr sz="700" kern="0" spc="6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boundaries.</a:t>
            </a:r>
            <a:r>
              <a:rPr sz="700" kern="0" spc="7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Ensure</a:t>
            </a: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the</a:t>
            </a:r>
            <a:r>
              <a:rPr sz="700" kern="0" spc="6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right</a:t>
            </a: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skill</a:t>
            </a:r>
            <a:r>
              <a:rPr sz="700" kern="0" spc="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and experience set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within each team (of teams).</a:t>
            </a:r>
            <a:r>
              <a:rPr sz="700" kern="0" spc="6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[OUTCOME 2]</a:t>
            </a:r>
            <a:endParaRPr sz="700" dirty="0">
              <a:latin typeface="Arial Narrow"/>
              <a:ea typeface="Arial Narrow"/>
              <a:cs typeface="Arial Narrow"/>
            </a:endParaRPr>
          </a:p>
          <a:p>
            <a:pPr marL="18415" algn="l" rtl="0" eaLnBrk="0">
              <a:lnSpc>
                <a:spcPct val="76000"/>
              </a:lnSpc>
              <a:spcBef>
                <a:spcPts val="222"/>
              </a:spcBef>
              <a:tabLst/>
            </a:pPr>
            <a:r>
              <a:rPr sz="700" b="1" kern="0" spc="3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Notes &amp;</a:t>
            </a:r>
            <a:r>
              <a:rPr sz="700" b="1" kern="0" spc="11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b="1" kern="0" spc="3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Definitions:</a:t>
            </a:r>
            <a:endParaRPr sz="700" dirty="0">
              <a:latin typeface="Arial Narrow"/>
              <a:ea typeface="Arial Narrow"/>
              <a:cs typeface="Arial Narrow"/>
            </a:endParaRPr>
          </a:p>
          <a:p>
            <a:pPr marL="120650" algn="l" rtl="0" eaLnBrk="0">
              <a:lnSpc>
                <a:spcPts val="1041"/>
              </a:lnSpc>
              <a:spcBef>
                <a:spcPts val="114"/>
              </a:spcBef>
              <a:tabLst/>
            </a:pPr>
            <a:r>
              <a:rPr sz="700" i="1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▪</a:t>
            </a:r>
            <a:r>
              <a:rPr sz="700" i="1" kern="0" spc="6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Self</a:t>
            </a:r>
            <a:r>
              <a:rPr sz="700" i="1" kern="0" spc="-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organization is a g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uiding principle for founding an agile team</a:t>
            </a:r>
            <a:r>
              <a:rPr sz="700" i="1" kern="0" spc="8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(of</a:t>
            </a:r>
            <a:r>
              <a:rPr sz="700" i="1" kern="0" spc="-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teams) and their efficient</a:t>
            </a:r>
            <a:r>
              <a:rPr sz="700" i="1" kern="0" spc="-2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performance.</a:t>
            </a:r>
            <a:endParaRPr sz="700" dirty="0">
              <a:latin typeface="Arial Narrow"/>
              <a:ea typeface="Arial Narrow"/>
              <a:cs typeface="Arial Narrow"/>
            </a:endParaRPr>
          </a:p>
          <a:p>
            <a:pPr marL="120650" algn="l" rtl="0" eaLnBrk="0">
              <a:lnSpc>
                <a:spcPts val="1000"/>
              </a:lnSpc>
              <a:tabLst/>
            </a:pPr>
            <a:r>
              <a:rPr sz="700" i="1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▪</a:t>
            </a:r>
            <a:r>
              <a:rPr sz="700" i="1" kern="0" spc="8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Teams of</a:t>
            </a:r>
            <a:r>
              <a:rPr sz="700" i="1" kern="0" spc="-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team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s are used for</a:t>
            </a:r>
            <a:r>
              <a:rPr sz="700" i="1" kern="0" spc="-2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larger</a:t>
            </a:r>
            <a:r>
              <a:rPr sz="700" i="1" kern="0" spc="-1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scopes using a</a:t>
            </a:r>
            <a:r>
              <a:rPr sz="700" i="1" kern="0" spc="5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fitting</a:t>
            </a:r>
            <a:r>
              <a:rPr sz="700" i="1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agile</a:t>
            </a:r>
            <a:r>
              <a:rPr sz="700" i="1" kern="0" spc="5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scaling</a:t>
            </a:r>
            <a:r>
              <a:rPr sz="700" i="1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approach</a:t>
            </a:r>
            <a:r>
              <a:rPr sz="700" i="1" kern="0" spc="5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for teams.</a:t>
            </a:r>
            <a:endParaRPr sz="700" dirty="0">
              <a:latin typeface="Arial Narrow"/>
              <a:ea typeface="Arial Narrow"/>
              <a:cs typeface="Arial Narrow"/>
            </a:endParaRPr>
          </a:p>
          <a:p>
            <a:pPr marL="120650" algn="l" rtl="0" eaLnBrk="0">
              <a:lnSpc>
                <a:spcPts val="1000"/>
              </a:lnSpc>
              <a:tabLst/>
            </a:pPr>
            <a:r>
              <a:rPr sz="700" i="1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▪ In scaling appro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aches all teams need to</a:t>
            </a:r>
            <a:r>
              <a:rPr sz="700" i="1" kern="0" spc="5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agree</a:t>
            </a:r>
            <a:r>
              <a:rPr sz="700" i="1" kern="0" spc="5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on</a:t>
            </a:r>
            <a:r>
              <a:rPr sz="700" i="1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ground rules</a:t>
            </a:r>
            <a:r>
              <a:rPr sz="700" i="1" kern="0" spc="5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to</a:t>
            </a:r>
            <a:r>
              <a:rPr sz="700" i="1" kern="0" spc="6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ensure</a:t>
            </a:r>
            <a:r>
              <a:rPr sz="700" i="1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a</a:t>
            </a:r>
            <a:r>
              <a:rPr sz="700" i="1" kern="0" spc="6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common purpose.</a:t>
            </a:r>
            <a:endParaRPr sz="700" dirty="0">
              <a:latin typeface="Arial Narrow"/>
              <a:ea typeface="Arial Narrow"/>
              <a:cs typeface="Arial Narrow"/>
            </a:endParaRPr>
          </a:p>
          <a:p>
            <a:pPr marL="120650" algn="l" rtl="0" eaLnBrk="0">
              <a:lnSpc>
                <a:spcPts val="999"/>
              </a:lnSpc>
              <a:tabLst/>
            </a:pPr>
            <a:r>
              <a:rPr sz="700" i="1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▪ Best</a:t>
            </a:r>
            <a:r>
              <a:rPr sz="700" i="1" kern="0" spc="-2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performing teams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are typically stable in composition</a:t>
            </a:r>
            <a:r>
              <a:rPr sz="700" i="1" kern="0" spc="5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and are</a:t>
            </a:r>
            <a:r>
              <a:rPr sz="700" i="1" kern="0" spc="7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working</a:t>
            </a:r>
            <a:r>
              <a:rPr sz="700" i="1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at a</a:t>
            </a:r>
            <a:r>
              <a:rPr sz="700" i="1" kern="0" spc="5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sustainable pace.</a:t>
            </a:r>
            <a:endParaRPr sz="700" dirty="0">
              <a:latin typeface="Arial Narrow"/>
              <a:ea typeface="Arial Narrow"/>
              <a:cs typeface="Arial Narrow"/>
            </a:endParaRPr>
          </a:p>
          <a:p>
            <a:pPr marL="120650" algn="l" rtl="0" eaLnBrk="0">
              <a:lnSpc>
                <a:spcPts val="1000"/>
              </a:lnSpc>
              <a:tabLst/>
            </a:pP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▪</a:t>
            </a:r>
            <a:r>
              <a:rPr sz="700" i="1" kern="0" spc="11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Team building includes defined ground rules for collaboration</a:t>
            </a:r>
            <a:r>
              <a:rPr sz="700" i="1" kern="0" spc="7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within a team</a:t>
            </a:r>
            <a:r>
              <a:rPr sz="700" i="1" kern="0" spc="8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(of</a:t>
            </a:r>
            <a:r>
              <a:rPr sz="700" i="1" kern="0" spc="-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teams).</a:t>
            </a:r>
            <a:endParaRPr sz="700" dirty="0">
              <a:latin typeface="Arial Narrow"/>
              <a:ea typeface="Arial Narrow"/>
              <a:cs typeface="Arial Narrow"/>
            </a:endParaRPr>
          </a:p>
          <a:p>
            <a:pPr marL="120650" algn="l" rtl="0" eaLnBrk="0">
              <a:lnSpc>
                <a:spcPts val="1000"/>
              </a:lnSpc>
              <a:tabLst/>
            </a:pPr>
            <a:r>
              <a:rPr sz="700" i="1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▪ Empowerment is a consciou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s delegation of</a:t>
            </a:r>
            <a:r>
              <a:rPr sz="700" i="1" kern="0" spc="-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decision</a:t>
            </a:r>
            <a:r>
              <a:rPr sz="700" i="1" kern="0" spc="5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authority to</a:t>
            </a:r>
            <a:r>
              <a:rPr sz="700" i="1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a</a:t>
            </a:r>
            <a:r>
              <a:rPr sz="700" i="1" kern="0" spc="6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team</a:t>
            </a:r>
            <a:r>
              <a:rPr sz="700" i="1" kern="0" spc="8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(of</a:t>
            </a:r>
            <a:r>
              <a:rPr sz="700" i="1" kern="0" spc="-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teams).</a:t>
            </a:r>
            <a:endParaRPr sz="700" dirty="0">
              <a:latin typeface="Arial Narrow"/>
              <a:ea typeface="Arial Narrow"/>
              <a:cs typeface="Arial Narrow"/>
            </a:endParaRPr>
          </a:p>
          <a:p>
            <a:pPr marL="120650" algn="l" rtl="0" eaLnBrk="0">
              <a:lnSpc>
                <a:spcPts val="1024"/>
              </a:lnSpc>
              <a:tabLst/>
            </a:pPr>
            <a:r>
              <a:rPr sz="700" i="1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▪ Enablement ensures t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he right skills and experience set</a:t>
            </a:r>
            <a:r>
              <a:rPr sz="700" i="1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within</a:t>
            </a:r>
            <a:r>
              <a:rPr sz="700" i="1" kern="0" spc="5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a</a:t>
            </a:r>
            <a:r>
              <a:rPr sz="700" i="1" kern="0" spc="5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team</a:t>
            </a:r>
            <a:r>
              <a:rPr sz="700" i="1" kern="0" spc="8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(of</a:t>
            </a:r>
            <a:r>
              <a:rPr sz="700" i="1" kern="0" spc="-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teams) including</a:t>
            </a:r>
            <a:r>
              <a:rPr sz="700" i="1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needed training.</a:t>
            </a:r>
            <a:endParaRPr sz="700" dirty="0">
              <a:latin typeface="Arial Narrow"/>
              <a:ea typeface="Arial Narrow"/>
              <a:cs typeface="Arial Narrow"/>
            </a:endParaRPr>
          </a:p>
          <a:p>
            <a:pPr marL="120650" algn="l" rtl="0" eaLnBrk="0">
              <a:lnSpc>
                <a:spcPts val="1066"/>
              </a:lnSpc>
              <a:tabLst/>
            </a:pPr>
            <a:r>
              <a:rPr sz="700" i="1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▪ Responsibilit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y for technical releases and</a:t>
            </a:r>
            <a:r>
              <a:rPr sz="700" i="1" kern="0" spc="-2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product liability must be defined.</a:t>
            </a:r>
            <a:endParaRPr sz="700" dirty="0">
              <a:latin typeface="Arial Narrow"/>
              <a:ea typeface="Arial Narrow"/>
              <a:cs typeface="Arial Narrow"/>
            </a:endParaRPr>
          </a:p>
          <a:p>
            <a:pPr marL="12700" algn="l" rtl="0" eaLnBrk="0">
              <a:lnSpc>
                <a:spcPct val="90000"/>
              </a:lnSpc>
              <a:spcBef>
                <a:spcPts val="451"/>
              </a:spcBef>
              <a:tabLst/>
            </a:pPr>
            <a:r>
              <a:rPr sz="700" b="1" kern="0" spc="4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Agile Work</a:t>
            </a:r>
            <a:r>
              <a:rPr sz="700" b="1" kern="0" spc="6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b="1" kern="0" spc="4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Products: </a:t>
            </a:r>
            <a:r>
              <a:rPr sz="700" kern="0" spc="4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T</a:t>
            </a:r>
            <a:r>
              <a:rPr sz="700" kern="0" spc="3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eam setup, Work approach, Training plans and</a:t>
            </a:r>
            <a:r>
              <a:rPr sz="700" kern="0" spc="7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records, Skill</a:t>
            </a:r>
            <a:r>
              <a:rPr sz="700" kern="0" spc="6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profiles</a:t>
            </a:r>
            <a:endParaRPr sz="700" dirty="0">
              <a:latin typeface="Arial Narrow"/>
              <a:ea typeface="Arial Narrow"/>
              <a:cs typeface="Arial Narrow"/>
            </a:endParaRPr>
          </a:p>
          <a:p>
            <a:pPr marL="15240" algn="l" rtl="0" eaLnBrk="0">
              <a:lnSpc>
                <a:spcPts val="999"/>
              </a:lnSpc>
              <a:tabLst/>
            </a:pPr>
            <a:r>
              <a:rPr sz="700" b="1" kern="0" spc="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Supporting</a:t>
            </a:r>
            <a:r>
              <a:rPr sz="700" b="1" kern="0" spc="6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b="1" kern="0" spc="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Agile</a:t>
            </a:r>
            <a:r>
              <a:rPr sz="700" b="1" kern="0" spc="12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b="1" kern="0" spc="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Principles</a:t>
            </a:r>
            <a:r>
              <a:rPr sz="700" b="1" kern="0" spc="6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6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4, 5, 6, 8,</a:t>
            </a:r>
            <a:r>
              <a:rPr sz="700" kern="0" spc="5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6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9,</a:t>
            </a:r>
            <a:r>
              <a:rPr sz="700" kern="0" spc="9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6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11,</a:t>
            </a:r>
            <a:r>
              <a:rPr sz="700" kern="0" spc="9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6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12</a:t>
            </a:r>
            <a:endParaRPr sz="700" dirty="0">
              <a:latin typeface="Arial Narrow"/>
              <a:ea typeface="Arial Narrow"/>
              <a:cs typeface="Arial Narrow"/>
            </a:endParaRPr>
          </a:p>
        </p:txBody>
      </p:sp>
      <p:sp>
        <p:nvSpPr>
          <p:cNvPr id="150" name="textbox 150"/>
          <p:cNvSpPr/>
          <p:nvPr/>
        </p:nvSpPr>
        <p:spPr>
          <a:xfrm>
            <a:off x="288012" y="396005"/>
            <a:ext cx="4967605" cy="137160"/>
          </a:xfrm>
          <a:prstGeom prst="rect">
            <a:avLst/>
          </a:prstGeom>
          <a:solidFill>
            <a:srgbClr val="015AAA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4000"/>
              </a:lnSpc>
              <a:tabLst/>
            </a:pPr>
            <a:endParaRPr sz="200" dirty="0">
              <a:latin typeface="Arial"/>
              <a:ea typeface="Arial"/>
              <a:cs typeface="Arial"/>
            </a:endParaRPr>
          </a:p>
          <a:p>
            <a:pPr marL="48895" algn="l" rtl="0" eaLnBrk="0">
              <a:lnSpc>
                <a:spcPct val="89000"/>
              </a:lnSpc>
              <a:spcBef>
                <a:spcPts val="1"/>
              </a:spcBef>
              <a:tabLst/>
            </a:pPr>
            <a:r>
              <a:rPr sz="700" b="1" kern="0" spc="30" dirty="0">
                <a:solidFill>
                  <a:srgbClr val="FFFFFF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Base</a:t>
            </a:r>
            <a:r>
              <a:rPr sz="700" b="1" kern="0" spc="70" dirty="0">
                <a:solidFill>
                  <a:srgbClr val="FFFFFF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b="1" kern="0" spc="30" dirty="0">
                <a:solidFill>
                  <a:srgbClr val="FFFFFF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practices</a:t>
            </a:r>
            <a:endParaRPr sz="700" dirty="0">
              <a:latin typeface="Arial Narrow"/>
              <a:ea typeface="Arial Narrow"/>
              <a:cs typeface="Arial Narrow"/>
            </a:endParaRPr>
          </a:p>
        </p:txBody>
      </p:sp>
      <p:sp>
        <p:nvSpPr>
          <p:cNvPr id="152" name="textbox 152"/>
          <p:cNvSpPr/>
          <p:nvPr/>
        </p:nvSpPr>
        <p:spPr>
          <a:xfrm>
            <a:off x="2729492" y="3644904"/>
            <a:ext cx="2538730" cy="18859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10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9000"/>
              </a:lnSpc>
              <a:tabLst/>
            </a:pPr>
            <a:r>
              <a:rPr sz="900" b="1" kern="0" spc="30" baseline="-17362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13</a:t>
            </a:r>
            <a:r>
              <a:rPr sz="500" b="1" kern="0" spc="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                                                                                                                 </a:t>
            </a:r>
            <a:r>
              <a:rPr sz="900" kern="0" spc="30" dirty="0">
                <a:solidFill>
                  <a:srgbClr val="0E3654">
                    <a:alpha val="100000"/>
                  </a:srgbClr>
                </a:solidFill>
                <a:latin typeface="Arial"/>
                <a:ea typeface="Arial"/>
                <a:cs typeface="Arial"/>
              </a:rPr>
              <a:t>intacs.</a:t>
            </a:r>
            <a:r>
              <a:rPr sz="900" kern="0" spc="-60" dirty="0">
                <a:solidFill>
                  <a:srgbClr val="0E365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30" dirty="0">
                <a:solidFill>
                  <a:srgbClr val="0E3654">
                    <a:alpha val="100000"/>
                  </a:srgbClr>
                </a:solidFill>
                <a:latin typeface="Arial"/>
                <a:ea typeface="Arial"/>
                <a:cs typeface="Arial"/>
              </a:rPr>
              <a:t>infoulal</a:t>
            </a:r>
            <a:endParaRPr sz="9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5766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508885" algn="l" rtl="0" eaLnBrk="0">
              <a:lnSpc>
                <a:spcPts val="126"/>
              </a:lnSpc>
              <a:tabLst/>
            </a:pPr>
            <a:r>
              <a:rPr sz="100" kern="0" spc="20" dirty="0">
                <a:solidFill>
                  <a:srgbClr val="0E3654">
                    <a:alpha val="100000"/>
                  </a:srgbClr>
                </a:solidFill>
                <a:latin typeface="Arial"/>
                <a:ea typeface="Arial"/>
                <a:cs typeface="Arial"/>
              </a:rPr>
              <a:t>M</a:t>
            </a:r>
            <a:endParaRPr sz="100" dirty="0">
              <a:latin typeface="Arial"/>
              <a:ea typeface="Arial"/>
              <a:cs typeface="Arial"/>
            </a:endParaRPr>
          </a:p>
        </p:txBody>
      </p:sp>
      <p:pic>
        <p:nvPicPr>
          <p:cNvPr id="154" name="picture 15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4481109" y="3788264"/>
            <a:ext cx="755282" cy="31932"/>
          </a:xfrm>
          <a:prstGeom prst="rect">
            <a:avLst/>
          </a:prstGeom>
        </p:spPr>
      </p:pic>
      <p:sp>
        <p:nvSpPr>
          <p:cNvPr id="156" name="textbox 156"/>
          <p:cNvSpPr/>
          <p:nvPr/>
        </p:nvSpPr>
        <p:spPr>
          <a:xfrm>
            <a:off x="1194082" y="3500902"/>
            <a:ext cx="3164205" cy="1181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96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6000"/>
              </a:lnSpc>
              <a:tabLst/>
            </a:pPr>
            <a:r>
              <a:rPr sz="800" b="1" kern="0" spc="160" dirty="0">
                <a:solidFill>
                  <a:srgbClr val="808285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DRAFT -</a:t>
            </a:r>
            <a:r>
              <a:rPr sz="800" b="1" kern="0" spc="140" dirty="0">
                <a:solidFill>
                  <a:srgbClr val="808285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800" b="1" kern="0" spc="160" dirty="0">
                <a:solidFill>
                  <a:srgbClr val="808285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REA</a:t>
            </a:r>
            <a:r>
              <a:rPr sz="800" b="1" kern="0" spc="150" dirty="0">
                <a:solidFill>
                  <a:srgbClr val="808285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DY FOR</a:t>
            </a:r>
            <a:r>
              <a:rPr sz="800" b="1" kern="0" spc="140" dirty="0">
                <a:solidFill>
                  <a:srgbClr val="808285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800" b="1" kern="0" spc="150" dirty="0">
                <a:solidFill>
                  <a:srgbClr val="808285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PILOTING</a:t>
            </a:r>
            <a:r>
              <a:rPr sz="800" b="1" kern="0" spc="140" dirty="0">
                <a:solidFill>
                  <a:srgbClr val="808285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800" b="1" kern="0" spc="150" dirty="0">
                <a:solidFill>
                  <a:srgbClr val="808285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-</a:t>
            </a:r>
            <a:r>
              <a:rPr sz="800" b="1" kern="0" spc="140" dirty="0">
                <a:solidFill>
                  <a:srgbClr val="808285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800" b="1" kern="0" spc="150" dirty="0">
                <a:solidFill>
                  <a:srgbClr val="808285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FEEDBACK WELCOME</a:t>
            </a:r>
            <a:endParaRPr sz="800" dirty="0">
              <a:latin typeface="Arial Narrow"/>
              <a:ea typeface="Arial Narrow"/>
              <a:cs typeface="Arial Narrow"/>
            </a:endParaRPr>
          </a:p>
        </p:txBody>
      </p:sp>
      <p:sp>
        <p:nvSpPr>
          <p:cNvPr id="158" name="textbox 158"/>
          <p:cNvSpPr/>
          <p:nvPr/>
        </p:nvSpPr>
        <p:spPr>
          <a:xfrm>
            <a:off x="336605" y="678388"/>
            <a:ext cx="161925" cy="9398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57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5000"/>
              </a:lnSpc>
              <a:tabLst/>
            </a:pPr>
            <a:r>
              <a:rPr sz="600" b="1" kern="0" spc="30" dirty="0">
                <a:solidFill>
                  <a:srgbClr val="FFFFFF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BP2</a:t>
            </a:r>
            <a:endParaRPr sz="600" dirty="0">
              <a:latin typeface="Arial Narrow"/>
              <a:ea typeface="Arial Narrow"/>
              <a:cs typeface="Arial Narrow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rect 160"/>
          <p:cNvSpPr/>
          <p:nvPr/>
        </p:nvSpPr>
        <p:spPr>
          <a:xfrm>
            <a:off x="287988" y="592436"/>
            <a:ext cx="4968001" cy="2699979"/>
          </a:xfrm>
          <a:prstGeom prst="rect">
            <a:avLst/>
          </a:prstGeom>
          <a:solidFill>
            <a:srgbClr val="E8EBF6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62" name="textbox 162"/>
          <p:cNvSpPr/>
          <p:nvPr/>
        </p:nvSpPr>
        <p:spPr>
          <a:xfrm>
            <a:off x="581302" y="623626"/>
            <a:ext cx="4617720" cy="258064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603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indent="5715" algn="l" rtl="0" eaLnBrk="0">
              <a:lnSpc>
                <a:spcPct val="114000"/>
              </a:lnSpc>
              <a:tabLst/>
            </a:pPr>
            <a:r>
              <a:rPr sz="700" b="1" kern="0" spc="4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Define work approach.</a:t>
            </a:r>
            <a:r>
              <a:rPr sz="700" b="1" kern="0" spc="7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Est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ablish, record and keep the work</a:t>
            </a: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approach</a:t>
            </a: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of the team</a:t>
            </a:r>
            <a:r>
              <a:rPr sz="700" kern="0" spc="6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(of teams)</a:t>
            </a:r>
            <a:r>
              <a:rPr sz="700" kern="0" spc="6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up to</a:t>
            </a: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date.</a:t>
            </a:r>
            <a:r>
              <a:rPr sz="700" kern="0" spc="7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Ensure</a:t>
            </a: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that the</a:t>
            </a:r>
            <a:r>
              <a:rPr sz="700" kern="0" spc="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    </a:t>
            </a: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work approa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ch reflects the given level of complexity, fulfils the work</a:t>
            </a:r>
            <a:r>
              <a:rPr sz="700" kern="0" spc="6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boundaries</a:t>
            </a: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and</a:t>
            </a: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defines</a:t>
            </a: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team</a:t>
            </a:r>
            <a:r>
              <a:rPr sz="700" kern="0" spc="6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policies,</a:t>
            </a:r>
            <a:r>
              <a:rPr sz="700" kern="0" spc="6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iteration</a:t>
            </a:r>
            <a:r>
              <a:rPr sz="700" kern="0" spc="5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cycles,</a:t>
            </a:r>
            <a:r>
              <a:rPr sz="700" kern="0" spc="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  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agile events, artefacts, and</a:t>
            </a:r>
            <a:r>
              <a:rPr sz="700" kern="0" spc="10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roles.</a:t>
            </a:r>
            <a:r>
              <a:rPr sz="700" kern="0" spc="7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[OUTCOME 3]</a:t>
            </a:r>
            <a:endParaRPr sz="700" dirty="0">
              <a:latin typeface="Arial Narrow"/>
              <a:ea typeface="Arial Narrow"/>
              <a:cs typeface="Arial Narrow"/>
            </a:endParaRPr>
          </a:p>
          <a:p>
            <a:pPr marL="18415" algn="l" rtl="0" eaLnBrk="0">
              <a:lnSpc>
                <a:spcPct val="76000"/>
              </a:lnSpc>
              <a:spcBef>
                <a:spcPts val="222"/>
              </a:spcBef>
              <a:tabLst/>
            </a:pPr>
            <a:r>
              <a:rPr sz="700" b="1" kern="0" spc="3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Notes &amp;</a:t>
            </a:r>
            <a:r>
              <a:rPr sz="700" b="1" kern="0" spc="11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b="1" kern="0" spc="3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Definitions:</a:t>
            </a:r>
            <a:endParaRPr sz="700" dirty="0">
              <a:latin typeface="Arial Narrow"/>
              <a:ea typeface="Arial Narrow"/>
              <a:cs typeface="Arial Narrow"/>
            </a:endParaRPr>
          </a:p>
          <a:p>
            <a:pPr marL="179705" indent="-59055" algn="l" rtl="0" eaLnBrk="0">
              <a:lnSpc>
                <a:spcPct val="122000"/>
              </a:lnSpc>
              <a:spcBef>
                <a:spcPts val="106"/>
              </a:spcBef>
              <a:tabLst/>
            </a:pP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▪</a:t>
            </a:r>
            <a:r>
              <a:rPr sz="700" i="1" kern="0" spc="12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Typically, agility is based on the pull</a:t>
            </a:r>
            <a:r>
              <a:rPr sz="700" i="1" kern="0" spc="-1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principle as</a:t>
            </a:r>
            <a:r>
              <a:rPr sz="700" i="1" kern="0" spc="7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well as on limiting</a:t>
            </a:r>
            <a:r>
              <a:rPr sz="700" i="1" kern="0" spc="5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the</a:t>
            </a:r>
            <a:r>
              <a:rPr sz="700" i="1" kern="0" spc="5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amount of</a:t>
            </a:r>
            <a:r>
              <a:rPr sz="700" i="1" kern="0" spc="-2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work in progress and on</a:t>
            </a:r>
            <a:r>
              <a:rPr sz="700" i="1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reducing</a:t>
            </a:r>
            <a:r>
              <a:rPr sz="700" i="1" kern="0" spc="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        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multi tasking</a:t>
            </a:r>
            <a:r>
              <a:rPr sz="700" i="1" kern="0" spc="2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.</a:t>
            </a:r>
            <a:endParaRPr sz="700" dirty="0">
              <a:latin typeface="Arial Narrow"/>
              <a:ea typeface="Arial Narrow"/>
              <a:cs typeface="Arial Narrow"/>
            </a:endParaRPr>
          </a:p>
          <a:p>
            <a:pPr marL="182245" indent="-61595" algn="l" rtl="0" eaLnBrk="0">
              <a:lnSpc>
                <a:spcPct val="119000"/>
              </a:lnSpc>
              <a:spcBef>
                <a:spcPts val="1"/>
              </a:spcBef>
              <a:tabLst/>
            </a:pPr>
            <a:r>
              <a:rPr sz="700" i="1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▪</a:t>
            </a:r>
            <a:r>
              <a:rPr sz="700" i="1" kern="0" spc="8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The Definition of</a:t>
            </a:r>
            <a:r>
              <a:rPr sz="700" i="1" kern="0" spc="-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Done</a:t>
            </a:r>
            <a:r>
              <a:rPr sz="700" i="1" kern="0" spc="8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(DoD) i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s a build in quality measure containing minimum,</a:t>
            </a:r>
            <a:r>
              <a:rPr sz="700" i="1" kern="0" spc="5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agreed to</a:t>
            </a:r>
            <a:r>
              <a:rPr sz="700" i="1" kern="0" spc="5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and recorded set of</a:t>
            </a:r>
            <a:r>
              <a:rPr sz="700" i="1" kern="0" spc="-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criteria</a:t>
            </a:r>
            <a:r>
              <a:rPr sz="700" i="1" kern="0" spc="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     </a:t>
            </a:r>
            <a:r>
              <a:rPr sz="700" i="1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upon</a:t>
            </a:r>
            <a:r>
              <a:rPr sz="700" i="1" kern="0" spc="6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which a t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ask or</a:t>
            </a:r>
            <a:r>
              <a:rPr sz="700" i="1" kern="0" spc="-2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increment is considered to</a:t>
            </a:r>
            <a:r>
              <a:rPr sz="700" i="1" kern="0" spc="5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be</a:t>
            </a:r>
            <a:r>
              <a:rPr sz="700" i="1" kern="0" spc="5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done.</a:t>
            </a:r>
            <a:endParaRPr sz="700" dirty="0">
              <a:latin typeface="Arial Narrow"/>
              <a:ea typeface="Arial Narrow"/>
              <a:cs typeface="Arial Narrow"/>
            </a:endParaRPr>
          </a:p>
          <a:p>
            <a:pPr marL="182245" indent="-61595" algn="l" rtl="0" eaLnBrk="0">
              <a:lnSpc>
                <a:spcPct val="119000"/>
              </a:lnSpc>
              <a:spcBef>
                <a:spcPts val="1"/>
              </a:spcBef>
              <a:tabLst/>
            </a:pPr>
            <a:r>
              <a:rPr sz="700" i="1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▪</a:t>
            </a:r>
            <a:r>
              <a:rPr sz="700" i="1" kern="0" spc="8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The Definition of</a:t>
            </a:r>
            <a:r>
              <a:rPr sz="700" i="1" kern="0" spc="-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Ready (DoR) is a b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uild in quality measure</a:t>
            </a:r>
            <a:r>
              <a:rPr sz="700" i="1" kern="0" spc="6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containing minimum,</a:t>
            </a:r>
            <a:r>
              <a:rPr sz="700" i="1" kern="0" spc="5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agreed to</a:t>
            </a:r>
            <a:r>
              <a:rPr sz="700" i="1" kern="0" spc="5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and recorded set of</a:t>
            </a:r>
            <a:r>
              <a:rPr sz="700" i="1" kern="0" spc="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                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criteria upon</a:t>
            </a:r>
            <a:r>
              <a:rPr sz="700" i="1" kern="0" spc="11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which a content is</a:t>
            </a:r>
            <a:r>
              <a:rPr sz="700" i="1" kern="0" spc="6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considered as ready to</a:t>
            </a:r>
            <a:r>
              <a:rPr sz="700" i="1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be pulled.</a:t>
            </a:r>
            <a:endParaRPr sz="700" dirty="0">
              <a:latin typeface="Arial Narrow"/>
              <a:ea typeface="Arial Narrow"/>
              <a:cs typeface="Arial Narrow"/>
            </a:endParaRPr>
          </a:p>
          <a:p>
            <a:pPr marL="120650" algn="l" rtl="0" eaLnBrk="0">
              <a:lnSpc>
                <a:spcPts val="999"/>
              </a:lnSpc>
              <a:tabLst/>
            </a:pPr>
            <a:r>
              <a:rPr sz="700" i="1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▪</a:t>
            </a:r>
            <a:r>
              <a:rPr sz="700" i="1" kern="0" spc="8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Typical team</a:t>
            </a:r>
            <a:r>
              <a:rPr sz="700" i="1" kern="0" spc="8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(of</a:t>
            </a:r>
            <a:r>
              <a:rPr sz="700" i="1" kern="0" spc="-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team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s) policies include Definitions of</a:t>
            </a:r>
            <a:r>
              <a:rPr sz="700" i="1" kern="0" spc="-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Ready and Done based on quality criteria.</a:t>
            </a:r>
            <a:endParaRPr sz="700" dirty="0">
              <a:latin typeface="Arial Narrow"/>
              <a:ea typeface="Arial Narrow"/>
              <a:cs typeface="Arial Narrow"/>
            </a:endParaRPr>
          </a:p>
          <a:p>
            <a:pPr marL="180340" indent="-59689" algn="l" rtl="0" eaLnBrk="0">
              <a:lnSpc>
                <a:spcPct val="119000"/>
              </a:lnSpc>
              <a:spcBef>
                <a:spcPts val="1"/>
              </a:spcBef>
              <a:tabLst/>
            </a:pPr>
            <a:r>
              <a:rPr sz="700" i="1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▪ Stakeholder</a:t>
            </a:r>
            <a:r>
              <a:rPr sz="700" i="1" kern="0" spc="-2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requirements for DoD and DoR include quality req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uirements, and</a:t>
            </a:r>
            <a:r>
              <a:rPr sz="700" i="1" kern="0" spc="-1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possibly regulatory requirements imposed</a:t>
            </a:r>
            <a:r>
              <a:rPr sz="700" i="1" kern="0" spc="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by safety 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or</a:t>
            </a:r>
            <a:r>
              <a:rPr sz="700" i="1" kern="0" spc="-1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security considerations.</a:t>
            </a:r>
            <a:endParaRPr sz="700" dirty="0">
              <a:latin typeface="Arial Narrow"/>
              <a:ea typeface="Arial Narrow"/>
              <a:cs typeface="Arial Narrow"/>
            </a:endParaRPr>
          </a:p>
          <a:p>
            <a:pPr algn="r" rtl="0" eaLnBrk="0">
              <a:lnSpc>
                <a:spcPts val="999"/>
              </a:lnSpc>
              <a:tabLst/>
            </a:pPr>
            <a:r>
              <a:rPr sz="700" i="1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▪</a:t>
            </a:r>
            <a:r>
              <a:rPr sz="700" i="1" kern="0" spc="-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An agile approach often encompasse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s a</a:t>
            </a:r>
            <a:r>
              <a:rPr sz="700" i="1" kern="0" spc="7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whole product lifecycle and a</a:t>
            </a:r>
            <a:r>
              <a:rPr sz="700" i="1" kern="0" spc="5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clear alignment with</a:t>
            </a:r>
            <a:r>
              <a:rPr sz="700" i="1" kern="0" spc="6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the</a:t>
            </a:r>
            <a:r>
              <a:rPr sz="700" i="1" kern="0" spc="6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customer work approach.</a:t>
            </a:r>
            <a:endParaRPr sz="700" dirty="0">
              <a:latin typeface="Arial Narrow"/>
              <a:ea typeface="Arial Narrow"/>
              <a:cs typeface="Arial Narrow"/>
            </a:endParaRPr>
          </a:p>
          <a:p>
            <a:pPr marL="180975" indent="-60325" algn="l" rtl="0" eaLnBrk="0">
              <a:lnSpc>
                <a:spcPct val="119000"/>
              </a:lnSpc>
              <a:spcBef>
                <a:spcPts val="1"/>
              </a:spcBef>
              <a:tabLst/>
            </a:pP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▪</a:t>
            </a:r>
            <a:r>
              <a:rPr sz="700" i="1" kern="0" spc="11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Typically, there is an agreement in place</a:t>
            </a:r>
            <a:r>
              <a:rPr sz="700" i="1" kern="0" spc="7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with the</a:t>
            </a:r>
            <a:r>
              <a:rPr sz="700" i="1" kern="0" spc="5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customer on the</a:t>
            </a:r>
            <a:r>
              <a:rPr sz="700" i="1" kern="0" spc="6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chosen</a:t>
            </a:r>
            <a:r>
              <a:rPr sz="700" i="1" kern="0" spc="5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agile</a:t>
            </a:r>
            <a:r>
              <a:rPr sz="700" i="1" kern="0" spc="5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approach</a:t>
            </a:r>
            <a:r>
              <a:rPr sz="700" i="1" kern="0" spc="5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and how delivered</a:t>
            </a:r>
            <a:r>
              <a:rPr sz="700" i="1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work is</a:t>
            </a:r>
            <a:r>
              <a:rPr sz="700" i="1" kern="0" spc="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       </a:t>
            </a:r>
            <a:r>
              <a:rPr sz="700" i="1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accepted for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each shippable</a:t>
            </a:r>
            <a:r>
              <a:rPr sz="700" i="1" kern="0" spc="7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work increment.</a:t>
            </a:r>
            <a:endParaRPr sz="700" dirty="0">
              <a:latin typeface="Arial Narrow"/>
              <a:ea typeface="Arial Narrow"/>
              <a:cs typeface="Arial Narrow"/>
            </a:endParaRPr>
          </a:p>
          <a:p>
            <a:pPr marL="179705" indent="-59055" algn="l" rtl="0" eaLnBrk="0">
              <a:lnSpc>
                <a:spcPct val="122000"/>
              </a:lnSpc>
              <a:spcBef>
                <a:spcPts val="12"/>
              </a:spcBef>
              <a:tabLst/>
            </a:pPr>
            <a:r>
              <a:rPr sz="700" i="1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▪ If</a:t>
            </a:r>
            <a:r>
              <a:rPr sz="700" i="1" kern="0" spc="-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an itera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tion based approach has been chosen,</a:t>
            </a:r>
            <a:r>
              <a:rPr sz="700" i="1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iterations</a:t>
            </a:r>
            <a:r>
              <a:rPr sz="700" i="1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must be</a:t>
            </a:r>
            <a:r>
              <a:rPr sz="700" i="1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in line</a:t>
            </a:r>
            <a:r>
              <a:rPr sz="700" i="1" kern="0" spc="7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with</a:t>
            </a:r>
            <a:r>
              <a:rPr sz="700" i="1" kern="0" spc="6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t he</a:t>
            </a:r>
            <a:r>
              <a:rPr sz="700" i="1" kern="0" spc="6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chosen</a:t>
            </a:r>
            <a:r>
              <a:rPr sz="700" i="1" kern="0" spc="5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agile</a:t>
            </a:r>
            <a:r>
              <a:rPr sz="700" i="1" kern="0" spc="5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approach</a:t>
            </a:r>
            <a:r>
              <a:rPr sz="700" i="1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and is</a:t>
            </a:r>
            <a:r>
              <a:rPr sz="700" i="1" kern="0" spc="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             </a:t>
            </a:r>
            <a:r>
              <a:rPr sz="700" i="1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influenced by the 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customer and technical feasibility as</a:t>
            </a:r>
            <a:r>
              <a:rPr sz="700" i="1" kern="0" spc="6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well as safety and security aspects.</a:t>
            </a:r>
            <a:endParaRPr sz="700" dirty="0">
              <a:latin typeface="Arial Narrow"/>
              <a:ea typeface="Arial Narrow"/>
              <a:cs typeface="Arial Narrow"/>
            </a:endParaRPr>
          </a:p>
          <a:p>
            <a:pPr marL="12700" algn="l" rtl="0" eaLnBrk="0">
              <a:lnSpc>
                <a:spcPts val="1082"/>
              </a:lnSpc>
              <a:spcBef>
                <a:spcPts val="180"/>
              </a:spcBef>
              <a:tabLst/>
            </a:pPr>
            <a:r>
              <a:rPr sz="700" b="1" kern="0" spc="4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Agile Work</a:t>
            </a:r>
            <a:r>
              <a:rPr sz="700" b="1" kern="0" spc="6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b="1" kern="0" spc="4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Products:</a:t>
            </a:r>
            <a:r>
              <a:rPr sz="700" b="1" kern="0" spc="11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4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Work approach, Definition</a:t>
            </a:r>
            <a:r>
              <a:rPr sz="700" i="1" kern="0" spc="3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of</a:t>
            </a:r>
            <a:r>
              <a:rPr sz="700" i="1" kern="0" spc="-4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3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Done</a:t>
            </a:r>
            <a:r>
              <a:rPr sz="700" i="1" kern="0" spc="7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3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(DoD), Definition of</a:t>
            </a:r>
            <a:r>
              <a:rPr sz="700" i="1" kern="0" spc="-3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3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Ready (DoR)</a:t>
            </a:r>
            <a:endParaRPr sz="700" dirty="0">
              <a:latin typeface="Arial Narrow"/>
              <a:ea typeface="Arial Narrow"/>
              <a:cs typeface="Arial Narrow"/>
            </a:endParaRPr>
          </a:p>
          <a:p>
            <a:pPr marL="15240" algn="l" rtl="0" eaLnBrk="0">
              <a:lnSpc>
                <a:spcPts val="958"/>
              </a:lnSpc>
              <a:spcBef>
                <a:spcPts val="41"/>
              </a:spcBef>
              <a:tabLst/>
            </a:pPr>
            <a:r>
              <a:rPr sz="700" b="1" kern="0" spc="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Supporting</a:t>
            </a:r>
            <a:r>
              <a:rPr sz="700" b="1" kern="0" spc="5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b="1" kern="0" spc="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Agile</a:t>
            </a:r>
            <a:r>
              <a:rPr sz="700" b="1" kern="0" spc="9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b="1" kern="0" spc="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Principles</a:t>
            </a:r>
            <a:r>
              <a:rPr sz="700" b="1" kern="0" spc="6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5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2, 4,</a:t>
            </a:r>
            <a:r>
              <a:rPr sz="700" i="1" kern="0" spc="6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5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5,</a:t>
            </a:r>
            <a:r>
              <a:rPr sz="700" i="1" kern="0" spc="10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5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7,</a:t>
            </a:r>
            <a:r>
              <a:rPr sz="700" i="1" kern="0" spc="7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5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8,</a:t>
            </a:r>
            <a:r>
              <a:rPr sz="700" i="1" kern="0" spc="7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5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9,</a:t>
            </a:r>
            <a:r>
              <a:rPr sz="700" i="1" kern="0" spc="11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5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10,</a:t>
            </a:r>
            <a:r>
              <a:rPr sz="700" i="1" kern="0" spc="12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5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11</a:t>
            </a:r>
            <a:endParaRPr sz="700" dirty="0">
              <a:latin typeface="Arial Narrow"/>
              <a:ea typeface="Arial Narrow"/>
              <a:cs typeface="Arial Narrow"/>
            </a:endParaRPr>
          </a:p>
        </p:txBody>
      </p:sp>
      <p:sp>
        <p:nvSpPr>
          <p:cNvPr id="164" name="textbox 164"/>
          <p:cNvSpPr/>
          <p:nvPr/>
        </p:nvSpPr>
        <p:spPr>
          <a:xfrm>
            <a:off x="288012" y="396005"/>
            <a:ext cx="4968240" cy="137160"/>
          </a:xfrm>
          <a:prstGeom prst="rect">
            <a:avLst/>
          </a:prstGeom>
          <a:solidFill>
            <a:srgbClr val="015AAA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4000"/>
              </a:lnSpc>
              <a:tabLst/>
            </a:pPr>
            <a:endParaRPr sz="200" dirty="0">
              <a:latin typeface="Arial"/>
              <a:ea typeface="Arial"/>
              <a:cs typeface="Arial"/>
            </a:endParaRPr>
          </a:p>
          <a:p>
            <a:pPr marL="44450" algn="l" rtl="0" eaLnBrk="0">
              <a:lnSpc>
                <a:spcPct val="89000"/>
              </a:lnSpc>
              <a:spcBef>
                <a:spcPts val="1"/>
              </a:spcBef>
              <a:tabLst/>
            </a:pPr>
            <a:r>
              <a:rPr sz="700" b="1" kern="0" spc="30" dirty="0">
                <a:solidFill>
                  <a:srgbClr val="FFFFFF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Base</a:t>
            </a:r>
            <a:r>
              <a:rPr sz="700" b="1" kern="0" spc="70" dirty="0">
                <a:solidFill>
                  <a:srgbClr val="FFFFFF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b="1" kern="0" spc="30" dirty="0">
                <a:solidFill>
                  <a:srgbClr val="FFFFFF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practices</a:t>
            </a:r>
            <a:endParaRPr sz="700" dirty="0">
              <a:latin typeface="Arial Narrow"/>
              <a:ea typeface="Arial Narrow"/>
              <a:cs typeface="Arial Narrow"/>
            </a:endParaRPr>
          </a:p>
        </p:txBody>
      </p:sp>
      <p:sp>
        <p:nvSpPr>
          <p:cNvPr id="166" name="textbox 166"/>
          <p:cNvSpPr/>
          <p:nvPr/>
        </p:nvSpPr>
        <p:spPr>
          <a:xfrm>
            <a:off x="2729492" y="3644904"/>
            <a:ext cx="2538730" cy="18859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10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9000"/>
              </a:lnSpc>
              <a:tabLst/>
            </a:pPr>
            <a:r>
              <a:rPr sz="900" b="1" kern="0" spc="30" baseline="-17362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14</a:t>
            </a:r>
            <a:r>
              <a:rPr sz="500" b="1" kern="0" spc="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                                                                                                                 </a:t>
            </a:r>
            <a:r>
              <a:rPr sz="900" kern="0" spc="30" dirty="0">
                <a:solidFill>
                  <a:srgbClr val="0E3654">
                    <a:alpha val="100000"/>
                  </a:srgbClr>
                </a:solidFill>
                <a:latin typeface="Arial"/>
                <a:ea typeface="Arial"/>
                <a:cs typeface="Arial"/>
              </a:rPr>
              <a:t>intacs.</a:t>
            </a:r>
            <a:r>
              <a:rPr sz="900" kern="0" spc="-60" dirty="0">
                <a:solidFill>
                  <a:srgbClr val="0E365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30" dirty="0">
                <a:solidFill>
                  <a:srgbClr val="0E3654">
                    <a:alpha val="100000"/>
                  </a:srgbClr>
                </a:solidFill>
                <a:latin typeface="Arial"/>
                <a:ea typeface="Arial"/>
                <a:cs typeface="Arial"/>
              </a:rPr>
              <a:t>infoulal</a:t>
            </a:r>
            <a:endParaRPr sz="9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5766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508885" algn="l" rtl="0" eaLnBrk="0">
              <a:lnSpc>
                <a:spcPts val="126"/>
              </a:lnSpc>
              <a:tabLst/>
            </a:pPr>
            <a:r>
              <a:rPr sz="100" kern="0" spc="20" dirty="0">
                <a:solidFill>
                  <a:srgbClr val="0E3654">
                    <a:alpha val="100000"/>
                  </a:srgbClr>
                </a:solidFill>
                <a:latin typeface="Arial"/>
                <a:ea typeface="Arial"/>
                <a:cs typeface="Arial"/>
              </a:rPr>
              <a:t>M</a:t>
            </a:r>
            <a:endParaRPr sz="100" dirty="0">
              <a:latin typeface="Arial"/>
              <a:ea typeface="Arial"/>
              <a:cs typeface="Arial"/>
            </a:endParaRPr>
          </a:p>
        </p:txBody>
      </p:sp>
      <p:pic>
        <p:nvPicPr>
          <p:cNvPr id="168" name="picture 16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4481109" y="3788264"/>
            <a:ext cx="755282" cy="31932"/>
          </a:xfrm>
          <a:prstGeom prst="rect">
            <a:avLst/>
          </a:prstGeom>
        </p:spPr>
      </p:pic>
      <p:sp>
        <p:nvSpPr>
          <p:cNvPr id="170" name="textbox 170"/>
          <p:cNvSpPr/>
          <p:nvPr/>
        </p:nvSpPr>
        <p:spPr>
          <a:xfrm>
            <a:off x="1194082" y="3500902"/>
            <a:ext cx="3164205" cy="1181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96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6000"/>
              </a:lnSpc>
              <a:tabLst/>
            </a:pPr>
            <a:r>
              <a:rPr sz="800" b="1" kern="0" spc="160" dirty="0">
                <a:solidFill>
                  <a:srgbClr val="808285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DRAFT -</a:t>
            </a:r>
            <a:r>
              <a:rPr sz="800" b="1" kern="0" spc="140" dirty="0">
                <a:solidFill>
                  <a:srgbClr val="808285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800" b="1" kern="0" spc="160" dirty="0">
                <a:solidFill>
                  <a:srgbClr val="808285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REA</a:t>
            </a:r>
            <a:r>
              <a:rPr sz="800" b="1" kern="0" spc="150" dirty="0">
                <a:solidFill>
                  <a:srgbClr val="808285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DY FOR</a:t>
            </a:r>
            <a:r>
              <a:rPr sz="800" b="1" kern="0" spc="140" dirty="0">
                <a:solidFill>
                  <a:srgbClr val="808285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800" b="1" kern="0" spc="150" dirty="0">
                <a:solidFill>
                  <a:srgbClr val="808285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PILOTING</a:t>
            </a:r>
            <a:r>
              <a:rPr sz="800" b="1" kern="0" spc="140" dirty="0">
                <a:solidFill>
                  <a:srgbClr val="808285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800" b="1" kern="0" spc="150" dirty="0">
                <a:solidFill>
                  <a:srgbClr val="808285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-</a:t>
            </a:r>
            <a:r>
              <a:rPr sz="800" b="1" kern="0" spc="140" dirty="0">
                <a:solidFill>
                  <a:srgbClr val="808285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800" b="1" kern="0" spc="150" dirty="0">
                <a:solidFill>
                  <a:srgbClr val="808285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FEEDBACK WELCOME</a:t>
            </a:r>
            <a:endParaRPr sz="800" dirty="0">
              <a:latin typeface="Arial Narrow"/>
              <a:ea typeface="Arial Narrow"/>
              <a:cs typeface="Arial Narrow"/>
            </a:endParaRPr>
          </a:p>
        </p:txBody>
      </p:sp>
      <p:sp>
        <p:nvSpPr>
          <p:cNvPr id="172" name="textbox 172"/>
          <p:cNvSpPr/>
          <p:nvPr/>
        </p:nvSpPr>
        <p:spPr>
          <a:xfrm>
            <a:off x="336605" y="675035"/>
            <a:ext cx="161925" cy="9461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97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5000"/>
              </a:lnSpc>
              <a:tabLst/>
            </a:pPr>
            <a:r>
              <a:rPr sz="600" b="1" kern="0" spc="30" dirty="0">
                <a:solidFill>
                  <a:srgbClr val="FFFFFF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BP3</a:t>
            </a:r>
            <a:endParaRPr sz="600" dirty="0">
              <a:latin typeface="Arial Narrow"/>
              <a:ea typeface="Arial Narrow"/>
              <a:cs typeface="Arial Narrow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rect 174"/>
          <p:cNvSpPr/>
          <p:nvPr/>
        </p:nvSpPr>
        <p:spPr>
          <a:xfrm>
            <a:off x="287988" y="599386"/>
            <a:ext cx="4968001" cy="2700010"/>
          </a:xfrm>
          <a:prstGeom prst="rect">
            <a:avLst/>
          </a:prstGeom>
          <a:solidFill>
            <a:srgbClr val="E8EBF6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76" name="textbox 176"/>
          <p:cNvSpPr/>
          <p:nvPr/>
        </p:nvSpPr>
        <p:spPr>
          <a:xfrm>
            <a:off x="581302" y="627093"/>
            <a:ext cx="4404360" cy="245300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611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3970" indent="3810" algn="l" rtl="0" eaLnBrk="0">
              <a:lnSpc>
                <a:spcPct val="111000"/>
              </a:lnSpc>
              <a:tabLst/>
            </a:pPr>
            <a:r>
              <a:rPr sz="700" b="1" kern="0" spc="4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Manage Stakeholders and</a:t>
            </a:r>
            <a:r>
              <a:rPr sz="700" b="1" kern="0" spc="6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b="1" kern="0" spc="4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interfaces</a:t>
            </a: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. Stakeho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lders, interfaces and dependencies within</a:t>
            </a:r>
            <a:r>
              <a:rPr sz="700" kern="0" spc="5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and</a:t>
            </a: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outside the team</a:t>
            </a:r>
            <a:r>
              <a:rPr sz="700" kern="0" spc="6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(of</a:t>
            </a:r>
            <a:r>
              <a:rPr sz="700" kern="0" spc="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      </a:t>
            </a: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teams) are ide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ntified, planned for,</a:t>
            </a:r>
            <a:r>
              <a:rPr sz="700" kern="0" spc="6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recorded  and</a:t>
            </a:r>
            <a:r>
              <a:rPr sz="700" kern="0" spc="6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involved.</a:t>
            </a:r>
            <a:r>
              <a:rPr sz="700" kern="0" spc="7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[OUTCOME 4]</a:t>
            </a:r>
            <a:endParaRPr sz="700" dirty="0">
              <a:latin typeface="Arial Narrow"/>
              <a:ea typeface="Arial Narrow"/>
              <a:cs typeface="Arial Narrow"/>
            </a:endParaRPr>
          </a:p>
          <a:p>
            <a:pPr marL="18415" algn="l" rtl="0" eaLnBrk="0">
              <a:lnSpc>
                <a:spcPct val="76000"/>
              </a:lnSpc>
              <a:spcBef>
                <a:spcPts val="221"/>
              </a:spcBef>
              <a:tabLst/>
            </a:pPr>
            <a:r>
              <a:rPr sz="700" b="1" kern="0" spc="3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Notes &amp;</a:t>
            </a:r>
            <a:r>
              <a:rPr sz="700" b="1" kern="0" spc="11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b="1" kern="0" spc="3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Definitions:</a:t>
            </a:r>
            <a:endParaRPr sz="700" dirty="0">
              <a:latin typeface="Arial Narrow"/>
              <a:ea typeface="Arial Narrow"/>
              <a:cs typeface="Arial Narrow"/>
            </a:endParaRPr>
          </a:p>
          <a:p>
            <a:pPr marL="120650" algn="l" rtl="0" eaLnBrk="0">
              <a:lnSpc>
                <a:spcPct val="90000"/>
              </a:lnSpc>
              <a:spcBef>
                <a:spcPts val="363"/>
              </a:spcBef>
              <a:tabLst/>
            </a:pP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▪</a:t>
            </a:r>
            <a:r>
              <a:rPr sz="700" kern="0" spc="7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Dependencies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and interfaces include both technical</a:t>
            </a: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and</a:t>
            </a: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organizational</a:t>
            </a: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ones:</a:t>
            </a:r>
            <a:endParaRPr sz="700" dirty="0">
              <a:latin typeface="Arial Narrow"/>
              <a:ea typeface="Arial Narrow"/>
              <a:cs typeface="Arial Narrow"/>
            </a:endParaRPr>
          </a:p>
          <a:p>
            <a:pPr marL="209550" algn="l" rtl="0" eaLnBrk="0">
              <a:lnSpc>
                <a:spcPct val="90000"/>
              </a:lnSpc>
              <a:spcBef>
                <a:spcPts val="244"/>
              </a:spcBef>
              <a:tabLst/>
            </a:pP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▪ technic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al: e.g., among major architectural elements or safety/security</a:t>
            </a:r>
            <a:r>
              <a:rPr sz="700" kern="0" spc="6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related</a:t>
            </a: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activities/roles;</a:t>
            </a:r>
            <a:endParaRPr sz="700" dirty="0">
              <a:latin typeface="Arial Narrow"/>
              <a:ea typeface="Arial Narrow"/>
              <a:cs typeface="Arial Narrow"/>
            </a:endParaRPr>
          </a:p>
          <a:p>
            <a:pPr marL="209550" algn="l" rtl="0" eaLnBrk="0">
              <a:lnSpc>
                <a:spcPct val="90000"/>
              </a:lnSpc>
              <a:spcBef>
                <a:spcPts val="244"/>
              </a:spcBef>
              <a:tabLst/>
            </a:pP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▪ organizational: e.g., to other teams/stakeholders and between different</a:t>
            </a:r>
            <a:r>
              <a:rPr sz="700" kern="0" spc="1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iteration</a:t>
            </a: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cycles;</a:t>
            </a:r>
            <a:endParaRPr sz="700" dirty="0">
              <a:latin typeface="Arial Narrow"/>
              <a:ea typeface="Arial Narrow"/>
              <a:cs typeface="Arial Narrow"/>
            </a:endParaRPr>
          </a:p>
          <a:p>
            <a:pPr marL="209550" algn="l" rtl="0" eaLnBrk="0">
              <a:lnSpc>
                <a:spcPct val="90000"/>
              </a:lnSpc>
              <a:spcBef>
                <a:spcPts val="242"/>
              </a:spcBef>
              <a:tabLst/>
            </a:pP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▪ Supplied pro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ducts or services: e.g. from</a:t>
            </a: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suppliers</a:t>
            </a: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or from</a:t>
            </a: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customers.</a:t>
            </a:r>
            <a:endParaRPr sz="700" dirty="0">
              <a:latin typeface="Arial Narrow"/>
              <a:ea typeface="Arial Narrow"/>
              <a:cs typeface="Arial Narrow"/>
            </a:endParaRPr>
          </a:p>
          <a:p>
            <a:pPr marL="180975" indent="-60325" algn="l" rtl="0" eaLnBrk="0">
              <a:lnSpc>
                <a:spcPct val="121000"/>
              </a:lnSpc>
              <a:spcBef>
                <a:spcPts val="6"/>
              </a:spcBef>
              <a:tabLst/>
            </a:pP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▪</a:t>
            </a:r>
            <a:r>
              <a:rPr sz="700" kern="0" spc="8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Critical depend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encies should be identified from the start, their</a:t>
            </a:r>
            <a:r>
              <a:rPr sz="700" i="1" kern="0" spc="-1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sequence identified,</a:t>
            </a:r>
            <a:r>
              <a:rPr sz="700" i="1" kern="0" spc="5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and their</a:t>
            </a:r>
            <a:r>
              <a:rPr sz="700" i="1" kern="0" spc="-2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status</a:t>
            </a:r>
            <a:r>
              <a:rPr sz="700" i="1" kern="0" spc="6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tracked</a:t>
            </a:r>
            <a:r>
              <a:rPr sz="700" i="1" kern="0" spc="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             </a:t>
            </a:r>
            <a:r>
              <a:rPr sz="700" i="1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across multi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ple iteration cycles.</a:t>
            </a:r>
            <a:r>
              <a:rPr sz="700" i="1" kern="0" spc="9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The elements of</a:t>
            </a:r>
            <a:r>
              <a:rPr sz="700" i="1" kern="0" spc="-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the backlog</a:t>
            </a:r>
            <a:r>
              <a:rPr sz="700" i="1" kern="0" spc="5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typically contain</a:t>
            </a:r>
            <a:r>
              <a:rPr sz="700" i="1" kern="0" spc="5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a path</a:t>
            </a:r>
            <a:r>
              <a:rPr sz="700" i="1" kern="0" spc="6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to</a:t>
            </a:r>
            <a:r>
              <a:rPr sz="700" i="1" kern="0" spc="5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address</a:t>
            </a:r>
            <a:r>
              <a:rPr sz="700" i="1" kern="0" spc="5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them.</a:t>
            </a:r>
            <a:endParaRPr sz="700" dirty="0">
              <a:latin typeface="Arial Narrow"/>
              <a:ea typeface="Arial Narrow"/>
              <a:cs typeface="Arial Narrow"/>
            </a:endParaRPr>
          </a:p>
          <a:p>
            <a:pPr marL="180975" indent="-60325" algn="l" rtl="0" eaLnBrk="0">
              <a:lnSpc>
                <a:spcPct val="119000"/>
              </a:lnSpc>
              <a:spcBef>
                <a:spcPts val="1"/>
              </a:spcBef>
              <a:tabLst/>
            </a:pP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▪</a:t>
            </a:r>
            <a:r>
              <a:rPr sz="700" kern="0" spc="6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Stakeholder</a:t>
            </a:r>
            <a:r>
              <a:rPr sz="700" i="1" kern="0" spc="-2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involvement includes tracking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the commitment of</a:t>
            </a:r>
            <a:r>
              <a:rPr sz="700" i="1" kern="0" spc="-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involved and affected</a:t>
            </a:r>
            <a:r>
              <a:rPr sz="700" i="1" kern="0" spc="-2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parties as</a:t>
            </a:r>
            <a:r>
              <a:rPr sz="700" i="1" kern="0" spc="7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well as ensuring</a:t>
            </a:r>
            <a:r>
              <a:rPr sz="700" i="1" kern="0" spc="5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the</a:t>
            </a:r>
            <a:r>
              <a:rPr sz="700" i="1" kern="0" spc="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active involveme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nt of</a:t>
            </a:r>
            <a:r>
              <a:rPr sz="700" i="1" kern="0" spc="-5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stakeholders.</a:t>
            </a:r>
            <a:endParaRPr sz="700" dirty="0">
              <a:latin typeface="Arial Narrow"/>
              <a:ea typeface="Arial Narrow"/>
              <a:cs typeface="Arial Narrow"/>
            </a:endParaRPr>
          </a:p>
          <a:p>
            <a:pPr marL="182245" indent="-61595" algn="l" rtl="0" eaLnBrk="0">
              <a:lnSpc>
                <a:spcPct val="119000"/>
              </a:lnSpc>
              <a:spcBef>
                <a:spcPts val="1"/>
              </a:spcBef>
              <a:tabLst/>
            </a:pP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▪ </a:t>
            </a:r>
            <a:r>
              <a:rPr sz="700" i="1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Maintain communication record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s for all interfaces.</a:t>
            </a:r>
            <a:r>
              <a:rPr sz="700" i="1" kern="0" spc="7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Continuously verify the necessity of</a:t>
            </a:r>
            <a:r>
              <a:rPr sz="700" i="1" kern="0" spc="-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all interfaces and remove</a:t>
            </a:r>
            <a:r>
              <a:rPr sz="700" i="1" kern="0" spc="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   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unnecessary interfaces.</a:t>
            </a:r>
            <a:endParaRPr sz="700" dirty="0">
              <a:latin typeface="Arial Narrow"/>
              <a:ea typeface="Arial Narrow"/>
              <a:cs typeface="Arial Narrow"/>
            </a:endParaRPr>
          </a:p>
          <a:p>
            <a:pPr marL="181610" indent="-60960" algn="l" rtl="0" eaLnBrk="0">
              <a:lnSpc>
                <a:spcPct val="119000"/>
              </a:lnSpc>
              <a:spcBef>
                <a:spcPts val="1"/>
              </a:spcBef>
              <a:tabLst/>
            </a:pP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▪ </a:t>
            </a:r>
            <a:r>
              <a:rPr sz="700" i="1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In case of</a:t>
            </a:r>
            <a:r>
              <a:rPr sz="700" i="1" kern="0" spc="-5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mixed agile a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nd classical approaches,</a:t>
            </a:r>
            <a:r>
              <a:rPr sz="700" i="1" kern="0" spc="6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e.g.,</a:t>
            </a:r>
            <a:r>
              <a:rPr sz="700" i="1" kern="0" spc="5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on system</a:t>
            </a:r>
            <a:r>
              <a:rPr sz="700" i="1" kern="0" spc="5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and other discipline level,</a:t>
            </a:r>
            <a:r>
              <a:rPr sz="700" i="1" kern="0" spc="5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clearly define</a:t>
            </a:r>
            <a:r>
              <a:rPr sz="700" i="1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how</a:t>
            </a:r>
            <a:r>
              <a:rPr sz="700" i="1" kern="0" spc="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        </a:t>
            </a:r>
            <a:r>
              <a:rPr sz="700" i="1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different 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approaches integrate and synchronize.</a:t>
            </a:r>
            <a:endParaRPr sz="700" dirty="0">
              <a:latin typeface="Arial Narrow"/>
              <a:ea typeface="Arial Narrow"/>
              <a:cs typeface="Arial Narrow"/>
            </a:endParaRPr>
          </a:p>
          <a:p>
            <a:pPr marL="120650" algn="l" rtl="0" eaLnBrk="0">
              <a:lnSpc>
                <a:spcPts val="1041"/>
              </a:lnSpc>
              <a:tabLst/>
            </a:pP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▪ </a:t>
            </a:r>
            <a:r>
              <a:rPr sz="700" i="1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Agile practitioners are t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ypically organized in communities of</a:t>
            </a:r>
            <a:r>
              <a:rPr sz="700" i="1" kern="0" spc="-8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practice</a:t>
            </a:r>
            <a:r>
              <a:rPr sz="700" i="1" kern="0" spc="7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(CoP, self</a:t>
            </a:r>
            <a:r>
              <a:rPr sz="700" i="1" kern="0" spc="-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organizing networks).</a:t>
            </a:r>
            <a:endParaRPr sz="700" dirty="0">
              <a:latin typeface="Arial Narrow"/>
              <a:ea typeface="Arial Narrow"/>
              <a:cs typeface="Arial Narrow"/>
            </a:endParaRPr>
          </a:p>
          <a:p>
            <a:pPr marL="890270" indent="-877570" algn="l" rtl="0" eaLnBrk="0">
              <a:lnSpc>
                <a:spcPct val="111000"/>
              </a:lnSpc>
              <a:spcBef>
                <a:spcPts val="339"/>
              </a:spcBef>
              <a:tabLst/>
            </a:pPr>
            <a:r>
              <a:rPr sz="700" b="1" kern="0" spc="4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Agile Work</a:t>
            </a:r>
            <a:r>
              <a:rPr sz="700" b="1" kern="0" spc="6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b="1" kern="0" spc="4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Products: </a:t>
            </a:r>
            <a:r>
              <a:rPr sz="700" kern="0" spc="4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Agile work approach (containing </a:t>
            </a:r>
            <a:r>
              <a:rPr sz="700" kern="0" spc="3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e.g. communication and meeting</a:t>
            </a:r>
            <a:r>
              <a:rPr sz="700" kern="0" spc="6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mechanisms,</a:t>
            </a:r>
            <a:r>
              <a:rPr sz="700" kern="0" spc="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                            </a:t>
            </a:r>
            <a:r>
              <a:rPr sz="700" kern="0" spc="4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technical and organ</a:t>
            </a:r>
            <a:r>
              <a:rPr sz="700" kern="0" spc="3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izational interfaces and dependencies),</a:t>
            </a:r>
            <a:r>
              <a:rPr sz="700" kern="0" spc="6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Product</a:t>
            </a:r>
            <a:r>
              <a:rPr sz="700" kern="0" spc="7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backlog</a:t>
            </a:r>
            <a:endParaRPr sz="700" dirty="0">
              <a:latin typeface="Arial Narrow"/>
              <a:ea typeface="Arial Narrow"/>
              <a:cs typeface="Arial Narrow"/>
            </a:endParaRPr>
          </a:p>
          <a:p>
            <a:pPr marL="15240" algn="l" rtl="0" eaLnBrk="0">
              <a:lnSpc>
                <a:spcPts val="1079"/>
              </a:lnSpc>
              <a:tabLst/>
            </a:pPr>
            <a:r>
              <a:rPr sz="700" b="1" kern="0" spc="3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Supporting Agile</a:t>
            </a:r>
            <a:r>
              <a:rPr sz="700" b="1" kern="0" spc="6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b="1" kern="0" spc="3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Principles </a:t>
            </a:r>
            <a:r>
              <a:rPr sz="700" i="1" kern="0" spc="3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2, 4,</a:t>
            </a:r>
            <a:r>
              <a:rPr sz="700" i="1" kern="0" spc="6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3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5,</a:t>
            </a:r>
            <a:r>
              <a:rPr sz="700" i="1" kern="0" spc="12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3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12</a:t>
            </a:r>
            <a:endParaRPr sz="700" dirty="0">
              <a:latin typeface="Arial Narrow"/>
              <a:ea typeface="Arial Narrow"/>
              <a:cs typeface="Arial Narrow"/>
            </a:endParaRPr>
          </a:p>
        </p:txBody>
      </p:sp>
      <p:sp>
        <p:nvSpPr>
          <p:cNvPr id="178" name="textbox 178"/>
          <p:cNvSpPr/>
          <p:nvPr/>
        </p:nvSpPr>
        <p:spPr>
          <a:xfrm>
            <a:off x="288012" y="396005"/>
            <a:ext cx="4968240" cy="137160"/>
          </a:xfrm>
          <a:prstGeom prst="rect">
            <a:avLst/>
          </a:prstGeom>
          <a:solidFill>
            <a:srgbClr val="015AAA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4000"/>
              </a:lnSpc>
              <a:tabLst/>
            </a:pPr>
            <a:endParaRPr sz="200" dirty="0">
              <a:latin typeface="Arial"/>
              <a:ea typeface="Arial"/>
              <a:cs typeface="Arial"/>
            </a:endParaRPr>
          </a:p>
          <a:p>
            <a:pPr marL="48260" algn="l" rtl="0" eaLnBrk="0">
              <a:lnSpc>
                <a:spcPct val="89000"/>
              </a:lnSpc>
              <a:spcBef>
                <a:spcPts val="1"/>
              </a:spcBef>
              <a:tabLst/>
            </a:pPr>
            <a:r>
              <a:rPr sz="700" b="1" kern="0" spc="30" dirty="0">
                <a:solidFill>
                  <a:srgbClr val="FFFFFF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Base</a:t>
            </a:r>
            <a:r>
              <a:rPr sz="700" b="1" kern="0" spc="70" dirty="0">
                <a:solidFill>
                  <a:srgbClr val="FFFFFF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b="1" kern="0" spc="30" dirty="0">
                <a:solidFill>
                  <a:srgbClr val="FFFFFF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practices</a:t>
            </a:r>
            <a:endParaRPr sz="700" dirty="0">
              <a:latin typeface="Arial Narrow"/>
              <a:ea typeface="Arial Narrow"/>
              <a:cs typeface="Arial Narrow"/>
            </a:endParaRPr>
          </a:p>
        </p:txBody>
      </p:sp>
      <p:sp>
        <p:nvSpPr>
          <p:cNvPr id="180" name="textbox 180"/>
          <p:cNvSpPr/>
          <p:nvPr/>
        </p:nvSpPr>
        <p:spPr>
          <a:xfrm>
            <a:off x="2729492" y="3644904"/>
            <a:ext cx="2538730" cy="18859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10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9000"/>
              </a:lnSpc>
              <a:tabLst/>
            </a:pPr>
            <a:r>
              <a:rPr sz="900" b="1" kern="0" spc="30" baseline="-17362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15</a:t>
            </a:r>
            <a:r>
              <a:rPr sz="500" b="1" kern="0" spc="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                                                                                                                 </a:t>
            </a:r>
            <a:r>
              <a:rPr sz="900" kern="0" spc="30" dirty="0">
                <a:solidFill>
                  <a:srgbClr val="0E3654">
                    <a:alpha val="100000"/>
                  </a:srgbClr>
                </a:solidFill>
                <a:latin typeface="Arial"/>
                <a:ea typeface="Arial"/>
                <a:cs typeface="Arial"/>
              </a:rPr>
              <a:t>intacs.</a:t>
            </a:r>
            <a:r>
              <a:rPr sz="900" kern="0" spc="-60" dirty="0">
                <a:solidFill>
                  <a:srgbClr val="0E365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30" dirty="0">
                <a:solidFill>
                  <a:srgbClr val="0E3654">
                    <a:alpha val="100000"/>
                  </a:srgbClr>
                </a:solidFill>
                <a:latin typeface="Arial"/>
                <a:ea typeface="Arial"/>
                <a:cs typeface="Arial"/>
              </a:rPr>
              <a:t>infoulal</a:t>
            </a:r>
            <a:endParaRPr sz="9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5766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508885" algn="l" rtl="0" eaLnBrk="0">
              <a:lnSpc>
                <a:spcPts val="126"/>
              </a:lnSpc>
              <a:tabLst/>
            </a:pPr>
            <a:r>
              <a:rPr sz="100" kern="0" spc="20" dirty="0">
                <a:solidFill>
                  <a:srgbClr val="0E3654">
                    <a:alpha val="100000"/>
                  </a:srgbClr>
                </a:solidFill>
                <a:latin typeface="Arial"/>
                <a:ea typeface="Arial"/>
                <a:cs typeface="Arial"/>
              </a:rPr>
              <a:t>M</a:t>
            </a:r>
            <a:endParaRPr sz="100" dirty="0">
              <a:latin typeface="Arial"/>
              <a:ea typeface="Arial"/>
              <a:cs typeface="Arial"/>
            </a:endParaRPr>
          </a:p>
        </p:txBody>
      </p:sp>
      <p:pic>
        <p:nvPicPr>
          <p:cNvPr id="182" name="picture 18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4481109" y="3788264"/>
            <a:ext cx="755282" cy="31932"/>
          </a:xfrm>
          <a:prstGeom prst="rect">
            <a:avLst/>
          </a:prstGeom>
        </p:spPr>
      </p:pic>
      <p:sp>
        <p:nvSpPr>
          <p:cNvPr id="184" name="textbox 184"/>
          <p:cNvSpPr/>
          <p:nvPr/>
        </p:nvSpPr>
        <p:spPr>
          <a:xfrm>
            <a:off x="1194082" y="3500902"/>
            <a:ext cx="3164205" cy="1181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96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6000"/>
              </a:lnSpc>
              <a:tabLst/>
            </a:pPr>
            <a:r>
              <a:rPr sz="800" b="1" kern="0" spc="160" dirty="0">
                <a:solidFill>
                  <a:srgbClr val="808285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DRAFT -</a:t>
            </a:r>
            <a:r>
              <a:rPr sz="800" b="1" kern="0" spc="140" dirty="0">
                <a:solidFill>
                  <a:srgbClr val="808285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800" b="1" kern="0" spc="160" dirty="0">
                <a:solidFill>
                  <a:srgbClr val="808285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REA</a:t>
            </a:r>
            <a:r>
              <a:rPr sz="800" b="1" kern="0" spc="150" dirty="0">
                <a:solidFill>
                  <a:srgbClr val="808285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DY FOR</a:t>
            </a:r>
            <a:r>
              <a:rPr sz="800" b="1" kern="0" spc="140" dirty="0">
                <a:solidFill>
                  <a:srgbClr val="808285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800" b="1" kern="0" spc="150" dirty="0">
                <a:solidFill>
                  <a:srgbClr val="808285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PILOTING</a:t>
            </a:r>
            <a:r>
              <a:rPr sz="800" b="1" kern="0" spc="140" dirty="0">
                <a:solidFill>
                  <a:srgbClr val="808285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800" b="1" kern="0" spc="150" dirty="0">
                <a:solidFill>
                  <a:srgbClr val="808285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-</a:t>
            </a:r>
            <a:r>
              <a:rPr sz="800" b="1" kern="0" spc="140" dirty="0">
                <a:solidFill>
                  <a:srgbClr val="808285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800" b="1" kern="0" spc="150" dirty="0">
                <a:solidFill>
                  <a:srgbClr val="808285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FEEDBACK WELCOME</a:t>
            </a:r>
            <a:endParaRPr sz="800" dirty="0">
              <a:latin typeface="Arial Narrow"/>
              <a:ea typeface="Arial Narrow"/>
              <a:cs typeface="Arial Narrow"/>
            </a:endParaRPr>
          </a:p>
        </p:txBody>
      </p:sp>
      <p:sp>
        <p:nvSpPr>
          <p:cNvPr id="186" name="textbox 186"/>
          <p:cNvSpPr/>
          <p:nvPr/>
        </p:nvSpPr>
        <p:spPr>
          <a:xfrm>
            <a:off x="344867" y="681983"/>
            <a:ext cx="161925" cy="9398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57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5000"/>
              </a:lnSpc>
              <a:tabLst/>
            </a:pPr>
            <a:r>
              <a:rPr sz="600" b="1" kern="0" spc="30" dirty="0">
                <a:solidFill>
                  <a:srgbClr val="FFFFFF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BP4</a:t>
            </a:r>
            <a:endParaRPr sz="600" dirty="0">
              <a:latin typeface="Arial Narrow"/>
              <a:ea typeface="Arial Narrow"/>
              <a:cs typeface="Arial Narrow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rect 188"/>
          <p:cNvSpPr/>
          <p:nvPr/>
        </p:nvSpPr>
        <p:spPr>
          <a:xfrm>
            <a:off x="288345" y="590388"/>
            <a:ext cx="4967644" cy="1695376"/>
          </a:xfrm>
          <a:prstGeom prst="rect">
            <a:avLst/>
          </a:prstGeom>
          <a:solidFill>
            <a:srgbClr val="E8EBF6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90" name="textbox 190"/>
          <p:cNvSpPr/>
          <p:nvPr/>
        </p:nvSpPr>
        <p:spPr>
          <a:xfrm>
            <a:off x="581302" y="606405"/>
            <a:ext cx="4373245" cy="143700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295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7780" algn="l" rtl="0" eaLnBrk="0">
              <a:lnSpc>
                <a:spcPct val="111000"/>
              </a:lnSpc>
              <a:tabLst/>
            </a:pPr>
            <a:r>
              <a:rPr sz="700" b="1" kern="0" spc="3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Plan</a:t>
            </a:r>
            <a:r>
              <a:rPr sz="700" b="1" kern="0" spc="8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b="1" kern="0" spc="3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Infrastructure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.</a:t>
            </a:r>
            <a:r>
              <a:rPr sz="700" kern="0" spc="8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Identify, plan for and</a:t>
            </a:r>
            <a:r>
              <a:rPr sz="700" kern="0" spc="7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keep the needed work and</a:t>
            </a: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development</a:t>
            </a:r>
            <a:r>
              <a:rPr sz="700" kern="0" spc="6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infrastructure</a:t>
            </a:r>
            <a:r>
              <a:rPr sz="700" kern="0" spc="6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up to</a:t>
            </a: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date.</a:t>
            </a:r>
            <a:r>
              <a:rPr sz="700" kern="0" spc="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                  </a:t>
            </a:r>
            <a:r>
              <a:rPr sz="700" kern="0" spc="3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[OUTCOME 5]</a:t>
            </a:r>
            <a:endParaRPr sz="700" dirty="0">
              <a:latin typeface="Arial Narrow"/>
              <a:ea typeface="Arial Narrow"/>
              <a:cs typeface="Arial Narrow"/>
            </a:endParaRPr>
          </a:p>
          <a:p>
            <a:pPr marL="18415" algn="l" rtl="0" eaLnBrk="0">
              <a:lnSpc>
                <a:spcPct val="76000"/>
              </a:lnSpc>
              <a:spcBef>
                <a:spcPts val="213"/>
              </a:spcBef>
              <a:tabLst/>
            </a:pPr>
            <a:r>
              <a:rPr sz="700" b="1" kern="0" spc="3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Notes &amp;</a:t>
            </a:r>
            <a:r>
              <a:rPr sz="700" b="1" kern="0" spc="11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b="1" kern="0" spc="3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Definitions:</a:t>
            </a:r>
            <a:endParaRPr sz="700" dirty="0">
              <a:latin typeface="Arial Narrow"/>
              <a:ea typeface="Arial Narrow"/>
              <a:cs typeface="Arial Narrow"/>
            </a:endParaRPr>
          </a:p>
          <a:p>
            <a:pPr marL="120650" algn="l" rtl="0" eaLnBrk="0">
              <a:lnSpc>
                <a:spcPct val="90000"/>
              </a:lnSpc>
              <a:spcBef>
                <a:spcPts val="363"/>
              </a:spcBef>
              <a:tabLst/>
            </a:pP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▪</a:t>
            </a:r>
            <a:r>
              <a:rPr sz="700" kern="0" spc="8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Infrastructure typically includes but is</a:t>
            </a:r>
            <a:r>
              <a:rPr sz="700" kern="0" spc="6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not</a:t>
            </a:r>
            <a:r>
              <a:rPr sz="700" kern="0" spc="6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limited to</a:t>
            </a: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an</a:t>
            </a:r>
            <a:r>
              <a:rPr sz="700" kern="0" spc="5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engineering tool</a:t>
            </a: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chain,</a:t>
            </a: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ticketing</a:t>
            </a: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and</a:t>
            </a:r>
            <a:r>
              <a:rPr sz="700" kern="0" spc="6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backlog</a:t>
            </a: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d</a:t>
            </a:r>
            <a:r>
              <a:rPr sz="700" kern="0" spc="2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atabase,</a:t>
            </a:r>
            <a:endParaRPr sz="700" dirty="0">
              <a:latin typeface="Arial Narrow"/>
              <a:ea typeface="Arial Narrow"/>
              <a:cs typeface="Arial Narrow"/>
            </a:endParaRPr>
          </a:p>
          <a:p>
            <a:pPr marL="177800" indent="635" algn="l" rtl="0" eaLnBrk="0">
              <a:lnSpc>
                <a:spcPct val="113000"/>
              </a:lnSpc>
              <a:spcBef>
                <a:spcPts val="123"/>
              </a:spcBef>
              <a:tabLst/>
            </a:pP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verification and integration envi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ronment, communication and collaboration tools,</a:t>
            </a:r>
            <a:r>
              <a:rPr sz="700" kern="0" spc="6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physical</a:t>
            </a: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and</a:t>
            </a: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online workspaces,</a:t>
            </a:r>
            <a:r>
              <a:rPr sz="700" kern="0" spc="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work envi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ronment, licensing, etc.</a:t>
            </a:r>
            <a:endParaRPr sz="700" dirty="0">
              <a:latin typeface="Arial Narrow"/>
              <a:ea typeface="Arial Narrow"/>
              <a:cs typeface="Arial Narrow"/>
            </a:endParaRPr>
          </a:p>
          <a:p>
            <a:pPr marL="120650" algn="l" rtl="0" eaLnBrk="0">
              <a:lnSpc>
                <a:spcPct val="90000"/>
              </a:lnSpc>
              <a:spcBef>
                <a:spcPts val="223"/>
              </a:spcBef>
              <a:tabLst/>
            </a:pP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▪</a:t>
            </a:r>
            <a:r>
              <a:rPr sz="700" kern="0" spc="-2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Align in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frastructure needed for the interfaces to</a:t>
            </a: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all stakeholders within</a:t>
            </a: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and</a:t>
            </a: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outside</a:t>
            </a: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the</a:t>
            </a: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organization.</a:t>
            </a:r>
            <a:endParaRPr sz="700" dirty="0">
              <a:latin typeface="Arial Narrow"/>
              <a:ea typeface="Arial Narrow"/>
              <a:cs typeface="Arial Narrow"/>
            </a:endParaRPr>
          </a:p>
          <a:p>
            <a:pPr marL="180340" indent="-59689" algn="l" rtl="0" eaLnBrk="0">
              <a:lnSpc>
                <a:spcPct val="113000"/>
              </a:lnSpc>
              <a:spcBef>
                <a:spcPts val="123"/>
              </a:spcBef>
              <a:tabLst/>
            </a:pP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▪</a:t>
            </a:r>
            <a:r>
              <a:rPr sz="700" kern="0" spc="-2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Agile approaches typicall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y focus on as much automation of</a:t>
            </a: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processes</a:t>
            </a: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as</a:t>
            </a:r>
            <a:r>
              <a:rPr sz="700" kern="0" spc="6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possible,</a:t>
            </a:r>
            <a:r>
              <a:rPr sz="700" kern="0" spc="5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e.g.</a:t>
            </a:r>
            <a:r>
              <a:rPr sz="700" kern="0" spc="2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for ticketing,</a:t>
            </a: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development,</a:t>
            </a:r>
            <a:r>
              <a:rPr sz="700" kern="0" spc="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continuous integrat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ion and deployment, and transparency of status.</a:t>
            </a:r>
            <a:endParaRPr sz="700" dirty="0">
              <a:latin typeface="Arial Narrow"/>
              <a:ea typeface="Arial Narrow"/>
              <a:cs typeface="Arial Narrow"/>
            </a:endParaRPr>
          </a:p>
          <a:p>
            <a:pPr marL="12700" algn="l" rtl="0" eaLnBrk="0">
              <a:lnSpc>
                <a:spcPts val="1082"/>
              </a:lnSpc>
              <a:spcBef>
                <a:spcPts val="257"/>
              </a:spcBef>
              <a:tabLst/>
            </a:pPr>
            <a:r>
              <a:rPr sz="700" b="1" kern="0" spc="4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Agile Work</a:t>
            </a:r>
            <a:r>
              <a:rPr sz="700" b="1" kern="0" spc="7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b="1" kern="0" spc="4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Products:</a:t>
            </a:r>
            <a:r>
              <a:rPr sz="700" b="1" kern="0" spc="10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4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Work e</a:t>
            </a:r>
            <a:r>
              <a:rPr sz="700" i="1" kern="0" spc="3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nvironment, Product backlog</a:t>
            </a:r>
            <a:endParaRPr sz="700" dirty="0">
              <a:latin typeface="Arial Narrow"/>
              <a:ea typeface="Arial Narrow"/>
              <a:cs typeface="Arial Narrow"/>
            </a:endParaRPr>
          </a:p>
          <a:p>
            <a:pPr marL="15240" algn="l" rtl="0" eaLnBrk="0">
              <a:lnSpc>
                <a:spcPts val="958"/>
              </a:lnSpc>
              <a:spcBef>
                <a:spcPts val="41"/>
              </a:spcBef>
              <a:tabLst/>
            </a:pPr>
            <a:r>
              <a:rPr sz="700" b="1" kern="0" spc="3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Supporting Agile</a:t>
            </a:r>
            <a:r>
              <a:rPr sz="700" b="1" kern="0" spc="6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b="1" kern="0" spc="3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Principles </a:t>
            </a:r>
            <a:r>
              <a:rPr sz="700" i="1" kern="0" spc="3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3,</a:t>
            </a:r>
            <a:r>
              <a:rPr sz="700" i="1" kern="0" spc="8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3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6,</a:t>
            </a:r>
            <a:r>
              <a:rPr sz="700" i="1" kern="0" spc="11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3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10</a:t>
            </a:r>
            <a:endParaRPr sz="700" dirty="0">
              <a:latin typeface="Arial Narrow"/>
              <a:ea typeface="Arial Narrow"/>
              <a:cs typeface="Arial Narrow"/>
            </a:endParaRPr>
          </a:p>
        </p:txBody>
      </p:sp>
      <p:sp>
        <p:nvSpPr>
          <p:cNvPr id="192" name="textbox 192"/>
          <p:cNvSpPr/>
          <p:nvPr/>
        </p:nvSpPr>
        <p:spPr>
          <a:xfrm>
            <a:off x="288012" y="396005"/>
            <a:ext cx="4968240" cy="137160"/>
          </a:xfrm>
          <a:prstGeom prst="rect">
            <a:avLst/>
          </a:prstGeom>
          <a:solidFill>
            <a:srgbClr val="015AAA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4000"/>
              </a:lnSpc>
              <a:tabLst/>
            </a:pPr>
            <a:endParaRPr sz="200" dirty="0">
              <a:latin typeface="Arial"/>
              <a:ea typeface="Arial"/>
              <a:cs typeface="Arial"/>
            </a:endParaRPr>
          </a:p>
          <a:p>
            <a:pPr marL="48260" algn="l" rtl="0" eaLnBrk="0">
              <a:lnSpc>
                <a:spcPct val="89000"/>
              </a:lnSpc>
              <a:spcBef>
                <a:spcPts val="1"/>
              </a:spcBef>
              <a:tabLst/>
            </a:pPr>
            <a:r>
              <a:rPr sz="700" b="1" kern="0" spc="30" dirty="0">
                <a:solidFill>
                  <a:srgbClr val="FFFFFF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Base</a:t>
            </a:r>
            <a:r>
              <a:rPr sz="700" b="1" kern="0" spc="70" dirty="0">
                <a:solidFill>
                  <a:srgbClr val="FFFFFF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b="1" kern="0" spc="30" dirty="0">
                <a:solidFill>
                  <a:srgbClr val="FFFFFF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practices</a:t>
            </a:r>
            <a:endParaRPr sz="700" dirty="0">
              <a:latin typeface="Arial Narrow"/>
              <a:ea typeface="Arial Narrow"/>
              <a:cs typeface="Arial Narrow"/>
            </a:endParaRPr>
          </a:p>
        </p:txBody>
      </p:sp>
      <p:sp>
        <p:nvSpPr>
          <p:cNvPr id="194" name="textbox 194"/>
          <p:cNvSpPr/>
          <p:nvPr/>
        </p:nvSpPr>
        <p:spPr>
          <a:xfrm>
            <a:off x="2729492" y="3644904"/>
            <a:ext cx="2538730" cy="18859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10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9000"/>
              </a:lnSpc>
              <a:tabLst/>
            </a:pPr>
            <a:r>
              <a:rPr sz="900" b="1" kern="0" spc="30" baseline="-17362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16</a:t>
            </a:r>
            <a:r>
              <a:rPr sz="500" b="1" kern="0" spc="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                                                                                                                 </a:t>
            </a:r>
            <a:r>
              <a:rPr sz="900" kern="0" spc="30" dirty="0">
                <a:solidFill>
                  <a:srgbClr val="0E3654">
                    <a:alpha val="100000"/>
                  </a:srgbClr>
                </a:solidFill>
                <a:latin typeface="Arial"/>
                <a:ea typeface="Arial"/>
                <a:cs typeface="Arial"/>
              </a:rPr>
              <a:t>intacs.</a:t>
            </a:r>
            <a:r>
              <a:rPr sz="900" kern="0" spc="-60" dirty="0">
                <a:solidFill>
                  <a:srgbClr val="0E365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30" dirty="0">
                <a:solidFill>
                  <a:srgbClr val="0E3654">
                    <a:alpha val="100000"/>
                  </a:srgbClr>
                </a:solidFill>
                <a:latin typeface="Arial"/>
                <a:ea typeface="Arial"/>
                <a:cs typeface="Arial"/>
              </a:rPr>
              <a:t>infoulal</a:t>
            </a:r>
            <a:endParaRPr sz="9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5766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508885" algn="l" rtl="0" eaLnBrk="0">
              <a:lnSpc>
                <a:spcPts val="126"/>
              </a:lnSpc>
              <a:tabLst/>
            </a:pPr>
            <a:r>
              <a:rPr sz="100" kern="0" spc="20" dirty="0">
                <a:solidFill>
                  <a:srgbClr val="0E3654">
                    <a:alpha val="100000"/>
                  </a:srgbClr>
                </a:solidFill>
                <a:latin typeface="Arial"/>
                <a:ea typeface="Arial"/>
                <a:cs typeface="Arial"/>
              </a:rPr>
              <a:t>M</a:t>
            </a:r>
            <a:endParaRPr sz="100" dirty="0">
              <a:latin typeface="Arial"/>
              <a:ea typeface="Arial"/>
              <a:cs typeface="Arial"/>
            </a:endParaRPr>
          </a:p>
        </p:txBody>
      </p:sp>
      <p:pic>
        <p:nvPicPr>
          <p:cNvPr id="196" name="picture 19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4481109" y="3788264"/>
            <a:ext cx="755282" cy="31932"/>
          </a:xfrm>
          <a:prstGeom prst="rect">
            <a:avLst/>
          </a:prstGeom>
        </p:spPr>
      </p:pic>
      <p:sp>
        <p:nvSpPr>
          <p:cNvPr id="198" name="textbox 198"/>
          <p:cNvSpPr/>
          <p:nvPr/>
        </p:nvSpPr>
        <p:spPr>
          <a:xfrm>
            <a:off x="1194082" y="3500902"/>
            <a:ext cx="3164205" cy="1181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96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6000"/>
              </a:lnSpc>
              <a:tabLst/>
            </a:pPr>
            <a:r>
              <a:rPr sz="800" b="1" kern="0" spc="160" dirty="0">
                <a:solidFill>
                  <a:srgbClr val="808285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DRAFT -</a:t>
            </a:r>
            <a:r>
              <a:rPr sz="800" b="1" kern="0" spc="140" dirty="0">
                <a:solidFill>
                  <a:srgbClr val="808285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800" b="1" kern="0" spc="160" dirty="0">
                <a:solidFill>
                  <a:srgbClr val="808285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REA</a:t>
            </a:r>
            <a:r>
              <a:rPr sz="800" b="1" kern="0" spc="150" dirty="0">
                <a:solidFill>
                  <a:srgbClr val="808285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DY FOR</a:t>
            </a:r>
            <a:r>
              <a:rPr sz="800" b="1" kern="0" spc="140" dirty="0">
                <a:solidFill>
                  <a:srgbClr val="808285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800" b="1" kern="0" spc="150" dirty="0">
                <a:solidFill>
                  <a:srgbClr val="808285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PILOTING</a:t>
            </a:r>
            <a:r>
              <a:rPr sz="800" b="1" kern="0" spc="140" dirty="0">
                <a:solidFill>
                  <a:srgbClr val="808285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800" b="1" kern="0" spc="150" dirty="0">
                <a:solidFill>
                  <a:srgbClr val="808285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-</a:t>
            </a:r>
            <a:r>
              <a:rPr sz="800" b="1" kern="0" spc="140" dirty="0">
                <a:solidFill>
                  <a:srgbClr val="808285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800" b="1" kern="0" spc="150" dirty="0">
                <a:solidFill>
                  <a:srgbClr val="808285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FEEDBACK WELCOME</a:t>
            </a:r>
            <a:endParaRPr sz="800" dirty="0">
              <a:latin typeface="Arial Narrow"/>
              <a:ea typeface="Arial Narrow"/>
              <a:cs typeface="Arial Narrow"/>
            </a:endParaRPr>
          </a:p>
        </p:txBody>
      </p:sp>
      <p:sp>
        <p:nvSpPr>
          <p:cNvPr id="200" name="textbox 200"/>
          <p:cNvSpPr/>
          <p:nvPr/>
        </p:nvSpPr>
        <p:spPr>
          <a:xfrm>
            <a:off x="336962" y="673270"/>
            <a:ext cx="161925" cy="9398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76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5000"/>
              </a:lnSpc>
              <a:tabLst/>
            </a:pPr>
            <a:r>
              <a:rPr sz="600" b="1" kern="0" spc="30" dirty="0">
                <a:solidFill>
                  <a:srgbClr val="FFFFFF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BP5</a:t>
            </a:r>
            <a:endParaRPr sz="600" dirty="0">
              <a:latin typeface="Arial Narrow"/>
              <a:ea typeface="Arial Narrow"/>
              <a:cs typeface="Arial Narrow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rect 202"/>
          <p:cNvSpPr/>
          <p:nvPr/>
        </p:nvSpPr>
        <p:spPr>
          <a:xfrm>
            <a:off x="287988" y="590388"/>
            <a:ext cx="4968026" cy="1933194"/>
          </a:xfrm>
          <a:prstGeom prst="rect">
            <a:avLst/>
          </a:prstGeom>
          <a:solidFill>
            <a:srgbClr val="E8EBF6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04" name="textbox 204"/>
          <p:cNvSpPr/>
          <p:nvPr/>
        </p:nvSpPr>
        <p:spPr>
          <a:xfrm>
            <a:off x="581302" y="604614"/>
            <a:ext cx="4086225" cy="156400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605" rIns="0" bIns="0"/>
          <a:lstStyle/>
          <a:p>
            <a:pPr marL="18415" algn="l" rtl="0" eaLnBrk="0">
              <a:lnSpc>
                <a:spcPct val="110000"/>
              </a:lnSpc>
              <a:spcBef>
                <a:spcPts val="5"/>
              </a:spcBef>
              <a:tabLst/>
            </a:pPr>
            <a:r>
              <a:rPr sz="700" b="1" kern="0" spc="3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Evaluate feasibility.</a:t>
            </a:r>
            <a:r>
              <a:rPr sz="700" b="1" kern="0" spc="9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Evaluate and act on the feasibility of critical elements.</a:t>
            </a:r>
            <a:r>
              <a:rPr sz="700" kern="0" spc="7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[OUTCOME 6]</a:t>
            </a:r>
            <a:r>
              <a:rPr sz="700" kern="0" spc="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                                  </a:t>
            </a:r>
            <a:r>
              <a:rPr sz="700" b="1" kern="0" spc="3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Notes &amp;</a:t>
            </a:r>
            <a:r>
              <a:rPr sz="700" b="1" kern="0" spc="11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b="1" kern="0" spc="3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Definitions:</a:t>
            </a:r>
            <a:endParaRPr sz="700" dirty="0">
              <a:latin typeface="Arial Narrow"/>
              <a:ea typeface="Arial Narrow"/>
              <a:cs typeface="Arial Narrow"/>
            </a:endParaRPr>
          </a:p>
          <a:p>
            <a:pPr marL="120650" algn="l" rtl="0" eaLnBrk="0">
              <a:lnSpc>
                <a:spcPct val="90000"/>
              </a:lnSpc>
              <a:spcBef>
                <a:spcPts val="242"/>
              </a:spcBef>
              <a:tabLst/>
            </a:pP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▪ Critica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lity is related to fundamental and</a:t>
            </a: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conscious</a:t>
            </a: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decisions</a:t>
            </a: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during the</a:t>
            </a: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complete</a:t>
            </a:r>
            <a:r>
              <a:rPr sz="700" kern="0" spc="7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product</a:t>
            </a:r>
            <a:r>
              <a:rPr sz="700" kern="0" spc="6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lifecycle.</a:t>
            </a:r>
            <a:endParaRPr sz="700" dirty="0">
              <a:latin typeface="Arial Narrow"/>
              <a:ea typeface="Arial Narrow"/>
              <a:cs typeface="Arial Narrow"/>
            </a:endParaRPr>
          </a:p>
          <a:p>
            <a:pPr marL="179070" indent="-58420" algn="l" rtl="0" eaLnBrk="0">
              <a:lnSpc>
                <a:spcPct val="113000"/>
              </a:lnSpc>
              <a:spcBef>
                <a:spcPts val="123"/>
              </a:spcBef>
              <a:tabLst/>
            </a:pP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▪ Critical elements address contents related to</a:t>
            </a:r>
            <a:r>
              <a:rPr sz="700" kern="0" spc="6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e.g.</a:t>
            </a:r>
            <a:r>
              <a:rPr sz="700" kern="0" spc="6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product</a:t>
            </a:r>
            <a:r>
              <a:rPr sz="700" kern="0" spc="7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risks,</a:t>
            </a: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architectural</a:t>
            </a: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challenges,</a:t>
            </a:r>
            <a:r>
              <a:rPr sz="700" kern="0" spc="7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key features,</a:t>
            </a:r>
            <a:r>
              <a:rPr sz="700" kern="0" spc="6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key</a:t>
            </a:r>
            <a:r>
              <a:rPr sz="700" kern="0" spc="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technology decisio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ns, key supplied features, relevant safety</a:t>
            </a: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and security</a:t>
            </a:r>
            <a:r>
              <a:rPr sz="700" kern="0" spc="5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contents.</a:t>
            </a:r>
            <a:endParaRPr sz="700" dirty="0">
              <a:latin typeface="Arial Narrow"/>
              <a:ea typeface="Arial Narrow"/>
              <a:cs typeface="Arial Narrow"/>
            </a:endParaRPr>
          </a:p>
          <a:p>
            <a:pPr marL="120650" algn="l" rtl="0" eaLnBrk="0">
              <a:lnSpc>
                <a:spcPct val="90000"/>
              </a:lnSpc>
              <a:spcBef>
                <a:spcPts val="223"/>
              </a:spcBef>
              <a:tabLst/>
            </a:pP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▪ The identification, prioritization and monitoring of critical</a:t>
            </a: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elements</a:t>
            </a:r>
            <a:r>
              <a:rPr sz="700" kern="0" spc="7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is</a:t>
            </a: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a</a:t>
            </a: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continuous</a:t>
            </a:r>
            <a:r>
              <a:rPr sz="700" kern="0" spc="5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ac</a:t>
            </a:r>
            <a:r>
              <a:rPr sz="700" kern="0" spc="2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tivity.</a:t>
            </a:r>
            <a:endParaRPr sz="700" dirty="0">
              <a:latin typeface="Arial Narrow"/>
              <a:ea typeface="Arial Narrow"/>
              <a:cs typeface="Arial Narrow"/>
            </a:endParaRPr>
          </a:p>
          <a:p>
            <a:pPr marL="120650" algn="l" rtl="0" eaLnBrk="0">
              <a:lnSpc>
                <a:spcPct val="90000"/>
              </a:lnSpc>
              <a:spcBef>
                <a:spcPts val="244"/>
              </a:spcBef>
              <a:tabLst/>
            </a:pP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▪ Critical elem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ents should be addressed</a:t>
            </a:r>
            <a:r>
              <a:rPr sz="700" kern="0" spc="6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by</a:t>
            </a:r>
            <a:r>
              <a:rPr sz="700" kern="0" spc="6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potentially shippable work</a:t>
            </a:r>
            <a:r>
              <a:rPr sz="700" kern="0" spc="6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increments.</a:t>
            </a:r>
            <a:endParaRPr sz="700" dirty="0">
              <a:latin typeface="Arial Narrow"/>
              <a:ea typeface="Arial Narrow"/>
              <a:cs typeface="Arial Narrow"/>
            </a:endParaRPr>
          </a:p>
          <a:p>
            <a:pPr marL="182245" indent="-61595" algn="l" rtl="0" eaLnBrk="0">
              <a:lnSpc>
                <a:spcPct val="113000"/>
              </a:lnSpc>
              <a:spcBef>
                <a:spcPts val="123"/>
              </a:spcBef>
              <a:tabLst/>
            </a:pP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▪</a:t>
            </a:r>
            <a:r>
              <a:rPr sz="700" kern="0" spc="15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Many agile approaches are built for adapting to</a:t>
            </a:r>
            <a:r>
              <a:rPr sz="700" kern="0" spc="6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uncertainty</a:t>
            </a:r>
            <a:r>
              <a:rPr sz="700" kern="0" spc="6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in early</a:t>
            </a: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stages</a:t>
            </a: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of development</a:t>
            </a:r>
            <a:r>
              <a:rPr sz="700" kern="0" spc="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                           </a:t>
            </a: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(see</a:t>
            </a:r>
            <a:r>
              <a:rPr sz="700" kern="0" spc="6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MAN.5 for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risk</a:t>
            </a:r>
            <a:r>
              <a:rPr sz="700" kern="0" spc="7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mamagement).</a:t>
            </a:r>
            <a:endParaRPr sz="700" dirty="0">
              <a:latin typeface="Arial Narrow"/>
              <a:ea typeface="Arial Narrow"/>
              <a:cs typeface="Arial Narrow"/>
            </a:endParaRPr>
          </a:p>
          <a:p>
            <a:pPr marL="12700" algn="l" rtl="0" eaLnBrk="0">
              <a:lnSpc>
                <a:spcPct val="89000"/>
              </a:lnSpc>
              <a:spcBef>
                <a:spcPts val="515"/>
              </a:spcBef>
              <a:tabLst/>
            </a:pPr>
            <a:r>
              <a:rPr sz="700" b="1" kern="0" spc="4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Agile Work</a:t>
            </a:r>
            <a:r>
              <a:rPr sz="700" b="1" kern="0" spc="7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b="1" kern="0" spc="4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Products:</a:t>
            </a:r>
            <a:r>
              <a:rPr sz="700" b="1" kern="0" spc="7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4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Prototy</a:t>
            </a:r>
            <a:r>
              <a:rPr sz="700" kern="0" spc="3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pes,</a:t>
            </a:r>
            <a:r>
              <a:rPr sz="700" kern="0" spc="7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Potentially shippable work increment,</a:t>
            </a:r>
            <a:r>
              <a:rPr sz="700" kern="0" spc="7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Product backlog</a:t>
            </a:r>
            <a:endParaRPr sz="700" dirty="0">
              <a:latin typeface="Arial Narrow"/>
              <a:ea typeface="Arial Narrow"/>
              <a:cs typeface="Arial Narrow"/>
            </a:endParaRPr>
          </a:p>
          <a:p>
            <a:pPr marL="893445" algn="l" rtl="0" eaLnBrk="0">
              <a:lnSpc>
                <a:spcPct val="90000"/>
              </a:lnSpc>
              <a:spcBef>
                <a:spcPts val="241"/>
              </a:spcBef>
              <a:tabLst/>
            </a:pPr>
            <a:r>
              <a:rPr sz="700" kern="0" spc="4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(e.g., cont</a:t>
            </a:r>
            <a:r>
              <a:rPr sz="700" kern="0" spc="3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ents characterized as critical elements),</a:t>
            </a:r>
            <a:r>
              <a:rPr sz="700" kern="0" spc="7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Impediments</a:t>
            </a:r>
            <a:r>
              <a:rPr sz="700" kern="0" spc="6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(Risks)</a:t>
            </a:r>
            <a:endParaRPr sz="700" dirty="0">
              <a:latin typeface="Arial Narrow"/>
              <a:ea typeface="Arial Narrow"/>
              <a:cs typeface="Arial Narrow"/>
            </a:endParaRPr>
          </a:p>
          <a:p>
            <a:pPr marL="15240" algn="l" rtl="0" eaLnBrk="0">
              <a:lnSpc>
                <a:spcPts val="1080"/>
              </a:lnSpc>
              <a:tabLst/>
            </a:pPr>
            <a:r>
              <a:rPr sz="700" b="1" kern="0" spc="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Supporting</a:t>
            </a:r>
            <a:r>
              <a:rPr sz="700" b="1" kern="0" spc="5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b="1" kern="0" spc="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Agile</a:t>
            </a:r>
            <a:r>
              <a:rPr sz="700" b="1" kern="0" spc="13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b="1" kern="0" spc="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Principles</a:t>
            </a:r>
            <a:r>
              <a:rPr sz="700" b="1" kern="0" spc="11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5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1,</a:t>
            </a:r>
            <a:r>
              <a:rPr sz="700" i="1" kern="0" spc="6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5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2, 4,</a:t>
            </a:r>
            <a:r>
              <a:rPr sz="700" i="1" kern="0" spc="10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5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7,</a:t>
            </a:r>
            <a:r>
              <a:rPr sz="700" i="1" kern="0" spc="7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5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9,</a:t>
            </a:r>
            <a:r>
              <a:rPr sz="700" i="1" kern="0" spc="11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5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10,</a:t>
            </a:r>
            <a:r>
              <a:rPr sz="700" i="1" kern="0" spc="12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5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11</a:t>
            </a:r>
            <a:endParaRPr sz="700" dirty="0">
              <a:latin typeface="Arial Narrow"/>
              <a:ea typeface="Arial Narrow"/>
              <a:cs typeface="Arial Narrow"/>
            </a:endParaRPr>
          </a:p>
        </p:txBody>
      </p:sp>
      <p:sp>
        <p:nvSpPr>
          <p:cNvPr id="206" name="textbox 206"/>
          <p:cNvSpPr/>
          <p:nvPr/>
        </p:nvSpPr>
        <p:spPr>
          <a:xfrm>
            <a:off x="288726" y="396005"/>
            <a:ext cx="4967605" cy="137160"/>
          </a:xfrm>
          <a:prstGeom prst="rect">
            <a:avLst/>
          </a:prstGeom>
          <a:solidFill>
            <a:srgbClr val="015AAA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4000"/>
              </a:lnSpc>
              <a:tabLst/>
            </a:pPr>
            <a:endParaRPr sz="200" dirty="0">
              <a:latin typeface="Arial"/>
              <a:ea typeface="Arial"/>
              <a:cs typeface="Arial"/>
            </a:endParaRPr>
          </a:p>
          <a:p>
            <a:pPr marL="48260" algn="l" rtl="0" eaLnBrk="0">
              <a:lnSpc>
                <a:spcPct val="89000"/>
              </a:lnSpc>
              <a:spcBef>
                <a:spcPts val="1"/>
              </a:spcBef>
              <a:tabLst/>
            </a:pPr>
            <a:r>
              <a:rPr sz="700" b="1" kern="0" spc="30" dirty="0">
                <a:solidFill>
                  <a:srgbClr val="FFFFFF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Base</a:t>
            </a:r>
            <a:r>
              <a:rPr sz="700" b="1" kern="0" spc="70" dirty="0">
                <a:solidFill>
                  <a:srgbClr val="FFFFFF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b="1" kern="0" spc="30" dirty="0">
                <a:solidFill>
                  <a:srgbClr val="FFFFFF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practices</a:t>
            </a:r>
            <a:endParaRPr sz="700" dirty="0">
              <a:latin typeface="Arial Narrow"/>
              <a:ea typeface="Arial Narrow"/>
              <a:cs typeface="Arial Narrow"/>
            </a:endParaRPr>
          </a:p>
        </p:txBody>
      </p:sp>
      <p:sp>
        <p:nvSpPr>
          <p:cNvPr id="208" name="textbox 208"/>
          <p:cNvSpPr/>
          <p:nvPr/>
        </p:nvSpPr>
        <p:spPr>
          <a:xfrm>
            <a:off x="2729492" y="3644904"/>
            <a:ext cx="2538730" cy="18859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10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9000"/>
              </a:lnSpc>
              <a:tabLst/>
            </a:pPr>
            <a:r>
              <a:rPr sz="900" b="1" kern="0" spc="30" baseline="-17362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17</a:t>
            </a:r>
            <a:r>
              <a:rPr sz="500" b="1" kern="0" spc="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                                                                                                                 </a:t>
            </a:r>
            <a:r>
              <a:rPr sz="900" kern="0" spc="30" dirty="0">
                <a:solidFill>
                  <a:srgbClr val="0E3654">
                    <a:alpha val="100000"/>
                  </a:srgbClr>
                </a:solidFill>
                <a:latin typeface="Arial"/>
                <a:ea typeface="Arial"/>
                <a:cs typeface="Arial"/>
              </a:rPr>
              <a:t>intacs.</a:t>
            </a:r>
            <a:r>
              <a:rPr sz="900" kern="0" spc="-60" dirty="0">
                <a:solidFill>
                  <a:srgbClr val="0E365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30" dirty="0">
                <a:solidFill>
                  <a:srgbClr val="0E3654">
                    <a:alpha val="100000"/>
                  </a:srgbClr>
                </a:solidFill>
                <a:latin typeface="Arial"/>
                <a:ea typeface="Arial"/>
                <a:cs typeface="Arial"/>
              </a:rPr>
              <a:t>infoulal</a:t>
            </a:r>
            <a:endParaRPr sz="9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5766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508885" algn="l" rtl="0" eaLnBrk="0">
              <a:lnSpc>
                <a:spcPts val="126"/>
              </a:lnSpc>
              <a:tabLst/>
            </a:pPr>
            <a:r>
              <a:rPr sz="100" kern="0" spc="20" dirty="0">
                <a:solidFill>
                  <a:srgbClr val="0E3654">
                    <a:alpha val="100000"/>
                  </a:srgbClr>
                </a:solidFill>
                <a:latin typeface="Arial"/>
                <a:ea typeface="Arial"/>
                <a:cs typeface="Arial"/>
              </a:rPr>
              <a:t>M</a:t>
            </a:r>
            <a:endParaRPr sz="100" dirty="0">
              <a:latin typeface="Arial"/>
              <a:ea typeface="Arial"/>
              <a:cs typeface="Arial"/>
            </a:endParaRPr>
          </a:p>
        </p:txBody>
      </p:sp>
      <p:pic>
        <p:nvPicPr>
          <p:cNvPr id="210" name="picture 2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4481109" y="3788264"/>
            <a:ext cx="755282" cy="31932"/>
          </a:xfrm>
          <a:prstGeom prst="rect">
            <a:avLst/>
          </a:prstGeom>
        </p:spPr>
      </p:pic>
      <p:sp>
        <p:nvSpPr>
          <p:cNvPr id="212" name="textbox 212"/>
          <p:cNvSpPr/>
          <p:nvPr/>
        </p:nvSpPr>
        <p:spPr>
          <a:xfrm>
            <a:off x="1194082" y="3500902"/>
            <a:ext cx="3164205" cy="1181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96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6000"/>
              </a:lnSpc>
              <a:tabLst/>
            </a:pPr>
            <a:r>
              <a:rPr sz="800" b="1" kern="0" spc="160" dirty="0">
                <a:solidFill>
                  <a:srgbClr val="808285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DRAFT -</a:t>
            </a:r>
            <a:r>
              <a:rPr sz="800" b="1" kern="0" spc="140" dirty="0">
                <a:solidFill>
                  <a:srgbClr val="808285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800" b="1" kern="0" spc="160" dirty="0">
                <a:solidFill>
                  <a:srgbClr val="808285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REA</a:t>
            </a:r>
            <a:r>
              <a:rPr sz="800" b="1" kern="0" spc="150" dirty="0">
                <a:solidFill>
                  <a:srgbClr val="808285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DY FOR</a:t>
            </a:r>
            <a:r>
              <a:rPr sz="800" b="1" kern="0" spc="140" dirty="0">
                <a:solidFill>
                  <a:srgbClr val="808285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800" b="1" kern="0" spc="150" dirty="0">
                <a:solidFill>
                  <a:srgbClr val="808285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PILOTING</a:t>
            </a:r>
            <a:r>
              <a:rPr sz="800" b="1" kern="0" spc="140" dirty="0">
                <a:solidFill>
                  <a:srgbClr val="808285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800" b="1" kern="0" spc="150" dirty="0">
                <a:solidFill>
                  <a:srgbClr val="808285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-</a:t>
            </a:r>
            <a:r>
              <a:rPr sz="800" b="1" kern="0" spc="140" dirty="0">
                <a:solidFill>
                  <a:srgbClr val="808285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800" b="1" kern="0" spc="150" dirty="0">
                <a:solidFill>
                  <a:srgbClr val="808285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FEEDBACK WELCOME</a:t>
            </a:r>
            <a:endParaRPr sz="800" dirty="0">
              <a:latin typeface="Arial Narrow"/>
              <a:ea typeface="Arial Narrow"/>
              <a:cs typeface="Arial Narrow"/>
            </a:endParaRPr>
          </a:p>
        </p:txBody>
      </p:sp>
      <p:sp>
        <p:nvSpPr>
          <p:cNvPr id="214" name="textbox 214"/>
          <p:cNvSpPr/>
          <p:nvPr/>
        </p:nvSpPr>
        <p:spPr>
          <a:xfrm>
            <a:off x="336605" y="673003"/>
            <a:ext cx="161925" cy="9461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97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5000"/>
              </a:lnSpc>
              <a:tabLst/>
            </a:pPr>
            <a:r>
              <a:rPr sz="600" b="1" kern="0" spc="30" dirty="0">
                <a:solidFill>
                  <a:srgbClr val="FFFFFF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BP6</a:t>
            </a:r>
            <a:endParaRPr sz="600" dirty="0">
              <a:latin typeface="Arial Narrow"/>
              <a:ea typeface="Arial Narrow"/>
              <a:cs typeface="Arial Narrow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rect 216"/>
          <p:cNvSpPr/>
          <p:nvPr/>
        </p:nvSpPr>
        <p:spPr>
          <a:xfrm>
            <a:off x="291583" y="596033"/>
            <a:ext cx="4968002" cy="2172602"/>
          </a:xfrm>
          <a:prstGeom prst="rect">
            <a:avLst/>
          </a:prstGeom>
          <a:solidFill>
            <a:srgbClr val="E8EBF6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18" name="textbox 218"/>
          <p:cNvSpPr/>
          <p:nvPr/>
        </p:nvSpPr>
        <p:spPr>
          <a:xfrm>
            <a:off x="581302" y="609224"/>
            <a:ext cx="4521200" cy="194564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616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5875" indent="2540" algn="l" rtl="0" eaLnBrk="0">
              <a:lnSpc>
                <a:spcPct val="114000"/>
              </a:lnSpc>
              <a:tabLst/>
            </a:pPr>
            <a:r>
              <a:rPr sz="700" b="1" kern="0" spc="4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Estimate Work</a:t>
            </a:r>
            <a:r>
              <a:rPr sz="700" b="1" kern="0" spc="3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.</a:t>
            </a:r>
            <a:r>
              <a:rPr sz="700" b="1" kern="0" spc="7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Perform a high-level estimate on all</a:t>
            </a:r>
            <a:r>
              <a:rPr sz="700" kern="0" spc="6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backlog</a:t>
            </a:r>
            <a:r>
              <a:rPr sz="700" kern="0" spc="6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items.</a:t>
            </a:r>
            <a:r>
              <a:rPr sz="700" kern="0" spc="7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Estimate and</a:t>
            </a:r>
            <a:r>
              <a:rPr sz="700" kern="0" spc="6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prioritize work for the</a:t>
            </a:r>
            <a:r>
              <a:rPr sz="700" kern="0" spc="6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upcoming</a:t>
            </a:r>
            <a:r>
              <a:rPr sz="700" kern="0" spc="6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iteration</a:t>
            </a:r>
            <a:r>
              <a:rPr sz="700" kern="0" spc="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cycles to  ensure a common und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erstanding of the work content within the team</a:t>
            </a:r>
            <a:r>
              <a:rPr sz="700" kern="0" spc="6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(of teams).</a:t>
            </a:r>
            <a:r>
              <a:rPr sz="700" kern="0" spc="7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Refine</a:t>
            </a: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and</a:t>
            </a: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adapt</a:t>
            </a: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estimates to</a:t>
            </a:r>
            <a:r>
              <a:rPr sz="700" kern="0" spc="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 </a:t>
            </a: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continuously impr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ove team collaboration and the quality of the</a:t>
            </a:r>
            <a:r>
              <a:rPr sz="700" kern="0" spc="6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product</a:t>
            </a:r>
            <a:r>
              <a:rPr sz="700" kern="0" spc="6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backlog.</a:t>
            </a:r>
            <a:r>
              <a:rPr sz="700" kern="0" spc="7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[OUTCOME</a:t>
            </a:r>
            <a:r>
              <a:rPr sz="700" kern="0" spc="5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7]</a:t>
            </a:r>
            <a:endParaRPr sz="700" dirty="0">
              <a:latin typeface="Arial Narrow"/>
              <a:ea typeface="Arial Narrow"/>
              <a:cs typeface="Arial Narrow"/>
            </a:endParaRPr>
          </a:p>
          <a:p>
            <a:pPr marL="18415" algn="l" rtl="0" eaLnBrk="0">
              <a:lnSpc>
                <a:spcPct val="76000"/>
              </a:lnSpc>
              <a:spcBef>
                <a:spcPts val="221"/>
              </a:spcBef>
              <a:tabLst/>
            </a:pPr>
            <a:r>
              <a:rPr sz="700" b="1" kern="0" spc="3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Notes &amp;</a:t>
            </a:r>
            <a:r>
              <a:rPr sz="700" b="1" kern="0" spc="11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b="1" kern="0" spc="3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Definitions:</a:t>
            </a:r>
            <a:endParaRPr sz="700" dirty="0">
              <a:latin typeface="Arial Narrow"/>
              <a:ea typeface="Arial Narrow"/>
              <a:cs typeface="Arial Narrow"/>
            </a:endParaRPr>
          </a:p>
          <a:p>
            <a:pPr marL="120650" algn="l" rtl="0" eaLnBrk="0">
              <a:lnSpc>
                <a:spcPct val="90000"/>
              </a:lnSpc>
              <a:spcBef>
                <a:spcPts val="363"/>
              </a:spcBef>
              <a:tabLst/>
            </a:pP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▪ A high level estimate helps to</a:t>
            </a:r>
            <a:r>
              <a:rPr sz="700" kern="0" spc="10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gauge the</a:t>
            </a: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overall</a:t>
            </a:r>
            <a:r>
              <a:rPr sz="700" kern="0" spc="2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feasibility</a:t>
            </a:r>
            <a:r>
              <a:rPr sz="700" kern="0" spc="5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of vision</a:t>
            </a: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and</a:t>
            </a: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strategic themes.</a:t>
            </a:r>
            <a:endParaRPr sz="700" dirty="0">
              <a:latin typeface="Arial Narrow"/>
              <a:ea typeface="Arial Narrow"/>
              <a:cs typeface="Arial Narrow"/>
            </a:endParaRPr>
          </a:p>
          <a:p>
            <a:pPr marL="183515" indent="-62864" algn="l" rtl="0" eaLnBrk="0">
              <a:lnSpc>
                <a:spcPct val="113000"/>
              </a:lnSpc>
              <a:spcBef>
                <a:spcPts val="123"/>
              </a:spcBef>
              <a:tabLst/>
            </a:pP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▪ Work estimation requires sufficiently small backlog</a:t>
            </a:r>
            <a:r>
              <a:rPr sz="700" kern="0" spc="6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items fitting within the</a:t>
            </a:r>
            <a:r>
              <a:rPr sz="700" kern="0" spc="6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upcoming</a:t>
            </a:r>
            <a:r>
              <a:rPr sz="700" kern="0" spc="6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iteration</a:t>
            </a:r>
            <a:r>
              <a:rPr sz="700" kern="0" spc="5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cycle,</a:t>
            </a:r>
            <a:r>
              <a:rPr sz="700" kern="0" spc="6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i.e.,</a:t>
            </a: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satisfying</a:t>
            </a: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2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a</a:t>
            </a:r>
            <a:r>
              <a:rPr sz="700" kern="0" spc="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   </a:t>
            </a: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DoR and cons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idering (potential)</a:t>
            </a:r>
            <a:r>
              <a:rPr sz="700" kern="0" spc="6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impediments.</a:t>
            </a:r>
            <a:endParaRPr sz="700" dirty="0">
              <a:latin typeface="Arial Narrow"/>
              <a:ea typeface="Arial Narrow"/>
              <a:cs typeface="Arial Narrow"/>
            </a:endParaRPr>
          </a:p>
          <a:p>
            <a:pPr marL="120650" algn="l" rtl="0" eaLnBrk="0">
              <a:lnSpc>
                <a:spcPct val="90000"/>
              </a:lnSpc>
              <a:spcBef>
                <a:spcPts val="223"/>
              </a:spcBef>
              <a:tabLst/>
            </a:pP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▪ The selection of work items for estimation should be</a:t>
            </a:r>
            <a:r>
              <a:rPr sz="700" kern="0" spc="12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driven</a:t>
            </a:r>
            <a:r>
              <a:rPr sz="700" kern="0" spc="6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by</a:t>
            </a:r>
            <a:r>
              <a:rPr sz="700" kern="0" spc="6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priority</a:t>
            </a: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and</a:t>
            </a:r>
            <a:r>
              <a:rPr sz="700" kern="0" spc="6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business value.</a:t>
            </a:r>
            <a:endParaRPr sz="700" dirty="0">
              <a:latin typeface="Arial Narrow"/>
              <a:ea typeface="Arial Narrow"/>
              <a:cs typeface="Arial Narrow"/>
            </a:endParaRPr>
          </a:p>
          <a:p>
            <a:pPr marL="180340" indent="-59689" algn="l" rtl="0" eaLnBrk="0">
              <a:lnSpc>
                <a:spcPct val="121000"/>
              </a:lnSpc>
              <a:spcBef>
                <a:spcPts val="128"/>
              </a:spcBef>
              <a:tabLst/>
            </a:pP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▪ Typically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, agile estimation is based on</a:t>
            </a: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experts</a:t>
            </a: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discussing</a:t>
            </a:r>
            <a:r>
              <a:rPr sz="700" kern="0" spc="5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estimates to</a:t>
            </a: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achieve</a:t>
            </a: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a</a:t>
            </a: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shared</a:t>
            </a:r>
            <a:r>
              <a:rPr sz="700" kern="0" spc="6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understanding</a:t>
            </a:r>
            <a:r>
              <a:rPr sz="700" kern="0" spc="5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and</a:t>
            </a:r>
            <a:r>
              <a:rPr sz="700" kern="0" spc="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                 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consensus.</a:t>
            </a:r>
            <a:endParaRPr sz="700" dirty="0">
              <a:latin typeface="Arial Narrow"/>
              <a:ea typeface="Arial Narrow"/>
              <a:cs typeface="Arial Narrow"/>
            </a:endParaRPr>
          </a:p>
          <a:p>
            <a:pPr marL="182880" indent="-62230" algn="l" rtl="0" eaLnBrk="0">
              <a:lnSpc>
                <a:spcPct val="110000"/>
              </a:lnSpc>
              <a:spcBef>
                <a:spcPts val="13"/>
              </a:spcBef>
              <a:tabLst/>
            </a:pP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▪</a:t>
            </a:r>
            <a:r>
              <a:rPr sz="700" kern="0" spc="-2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Appropriate esti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mation method and recorded estimation</a:t>
            </a: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data from</a:t>
            </a:r>
            <a:r>
              <a:rPr sz="700" kern="0" spc="6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previous</a:t>
            </a:r>
            <a:r>
              <a:rPr sz="700" kern="0" spc="5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estimates</a:t>
            </a: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should</a:t>
            </a:r>
            <a:r>
              <a:rPr sz="700" kern="0" spc="6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be</a:t>
            </a:r>
            <a:r>
              <a:rPr sz="700" kern="0" spc="6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used,</a:t>
            </a:r>
            <a:r>
              <a:rPr sz="700" kern="0" spc="6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i.e.,</a:t>
            </a:r>
            <a:r>
              <a:rPr sz="700" kern="0" spc="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                  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based on estimating complexity, relative size,</a:t>
            </a:r>
            <a:r>
              <a:rPr sz="700" kern="0" spc="6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historical</a:t>
            </a: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data</a:t>
            </a: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or analogy.</a:t>
            </a:r>
            <a:endParaRPr sz="700" dirty="0">
              <a:latin typeface="Arial Narrow"/>
              <a:ea typeface="Arial Narrow"/>
              <a:cs typeface="Arial Narrow"/>
            </a:endParaRPr>
          </a:p>
          <a:p>
            <a:pPr marL="120650" algn="l" rtl="0" eaLnBrk="0">
              <a:lnSpc>
                <a:spcPct val="90000"/>
              </a:lnSpc>
              <a:spcBef>
                <a:spcPts val="223"/>
              </a:spcBef>
              <a:tabLst/>
            </a:pP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▪</a:t>
            </a:r>
            <a:r>
              <a:rPr sz="700" kern="0" spc="8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Usually, the estimation method is</a:t>
            </a: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continuously evaluated</a:t>
            </a:r>
            <a:r>
              <a:rPr sz="700" kern="0" spc="5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and</a:t>
            </a:r>
            <a:r>
              <a:rPr sz="700" kern="0" spc="6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refined.</a:t>
            </a:r>
            <a:endParaRPr sz="700" dirty="0">
              <a:latin typeface="Arial Narrow"/>
              <a:ea typeface="Arial Narrow"/>
              <a:cs typeface="Arial Narrow"/>
            </a:endParaRPr>
          </a:p>
          <a:p>
            <a:pPr marL="12700" algn="l" rtl="0" eaLnBrk="0">
              <a:lnSpc>
                <a:spcPts val="1082"/>
              </a:lnSpc>
              <a:spcBef>
                <a:spcPts val="278"/>
              </a:spcBef>
              <a:tabLst/>
            </a:pPr>
            <a:r>
              <a:rPr sz="700" b="1" kern="0" spc="4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Agile Wor</a:t>
            </a:r>
            <a:r>
              <a:rPr sz="700" b="1" kern="0" spc="3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k</a:t>
            </a:r>
            <a:r>
              <a:rPr sz="700" b="1" kern="0" spc="7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b="1" kern="0" spc="3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Products: </a:t>
            </a:r>
            <a:r>
              <a:rPr sz="700" i="1" kern="0" spc="3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Product backlog,</a:t>
            </a:r>
            <a:r>
              <a:rPr sz="700" i="1" kern="0" spc="8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3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Tasks</a:t>
            </a:r>
            <a:endParaRPr sz="700" dirty="0">
              <a:latin typeface="Arial Narrow"/>
              <a:ea typeface="Arial Narrow"/>
              <a:cs typeface="Arial Narrow"/>
            </a:endParaRPr>
          </a:p>
          <a:p>
            <a:pPr marL="15240" algn="l" rtl="0" eaLnBrk="0">
              <a:lnSpc>
                <a:spcPts val="958"/>
              </a:lnSpc>
              <a:spcBef>
                <a:spcPts val="41"/>
              </a:spcBef>
              <a:tabLst/>
            </a:pPr>
            <a:r>
              <a:rPr sz="700" b="1" kern="0" spc="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Supporting</a:t>
            </a:r>
            <a:r>
              <a:rPr sz="700" b="1" kern="0" spc="7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b="1" kern="0" spc="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Agile</a:t>
            </a:r>
            <a:r>
              <a:rPr sz="700" b="1" kern="0" spc="10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b="1" kern="0" spc="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Principles</a:t>
            </a:r>
            <a:r>
              <a:rPr sz="700" b="1" kern="0" spc="7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7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3,</a:t>
            </a:r>
            <a:r>
              <a:rPr sz="700" i="1" kern="0" spc="10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7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7, 8,</a:t>
            </a:r>
            <a:r>
              <a:rPr sz="700" i="1" kern="0" spc="12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7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10,</a:t>
            </a:r>
            <a:r>
              <a:rPr sz="700" i="1" kern="0" spc="12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7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12</a:t>
            </a:r>
            <a:endParaRPr sz="700" dirty="0">
              <a:latin typeface="Arial Narrow"/>
              <a:ea typeface="Arial Narrow"/>
              <a:cs typeface="Arial Narrow"/>
            </a:endParaRPr>
          </a:p>
        </p:txBody>
      </p:sp>
      <p:sp>
        <p:nvSpPr>
          <p:cNvPr id="220" name="textbox 220"/>
          <p:cNvSpPr/>
          <p:nvPr/>
        </p:nvSpPr>
        <p:spPr>
          <a:xfrm>
            <a:off x="288012" y="396005"/>
            <a:ext cx="4968240" cy="137160"/>
          </a:xfrm>
          <a:prstGeom prst="rect">
            <a:avLst/>
          </a:prstGeom>
          <a:solidFill>
            <a:srgbClr val="015AAA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22000"/>
              </a:lnSpc>
              <a:tabLst/>
            </a:pPr>
            <a:endParaRPr sz="200" dirty="0">
              <a:latin typeface="Arial"/>
              <a:ea typeface="Arial"/>
              <a:cs typeface="Arial"/>
            </a:endParaRPr>
          </a:p>
          <a:p>
            <a:pPr marL="43180" algn="l" rtl="0" eaLnBrk="0">
              <a:lnSpc>
                <a:spcPct val="89000"/>
              </a:lnSpc>
              <a:spcBef>
                <a:spcPts val="2"/>
              </a:spcBef>
              <a:tabLst/>
            </a:pPr>
            <a:r>
              <a:rPr sz="700" b="1" kern="0" spc="30" dirty="0">
                <a:solidFill>
                  <a:srgbClr val="FFFFFF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Base</a:t>
            </a:r>
            <a:r>
              <a:rPr sz="700" b="1" kern="0" spc="70" dirty="0">
                <a:solidFill>
                  <a:srgbClr val="FFFFFF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b="1" kern="0" spc="30" dirty="0">
                <a:solidFill>
                  <a:srgbClr val="FFFFFF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practices</a:t>
            </a:r>
            <a:endParaRPr sz="700" dirty="0">
              <a:latin typeface="Arial Narrow"/>
              <a:ea typeface="Arial Narrow"/>
              <a:cs typeface="Arial Narrow"/>
            </a:endParaRPr>
          </a:p>
        </p:txBody>
      </p:sp>
      <p:sp>
        <p:nvSpPr>
          <p:cNvPr id="222" name="textbox 222"/>
          <p:cNvSpPr/>
          <p:nvPr/>
        </p:nvSpPr>
        <p:spPr>
          <a:xfrm>
            <a:off x="2729492" y="3644904"/>
            <a:ext cx="2538730" cy="18859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10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9000"/>
              </a:lnSpc>
              <a:tabLst/>
            </a:pPr>
            <a:r>
              <a:rPr sz="900" b="1" kern="0" spc="30" baseline="-17362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18</a:t>
            </a:r>
            <a:r>
              <a:rPr sz="500" b="1" kern="0" spc="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                                                                                                                 </a:t>
            </a:r>
            <a:r>
              <a:rPr sz="900" kern="0" spc="30" dirty="0">
                <a:solidFill>
                  <a:srgbClr val="0E3654">
                    <a:alpha val="100000"/>
                  </a:srgbClr>
                </a:solidFill>
                <a:latin typeface="Arial"/>
                <a:ea typeface="Arial"/>
                <a:cs typeface="Arial"/>
              </a:rPr>
              <a:t>intacs.</a:t>
            </a:r>
            <a:r>
              <a:rPr sz="900" kern="0" spc="-60" dirty="0">
                <a:solidFill>
                  <a:srgbClr val="0E365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30" dirty="0">
                <a:solidFill>
                  <a:srgbClr val="0E3654">
                    <a:alpha val="100000"/>
                  </a:srgbClr>
                </a:solidFill>
                <a:latin typeface="Arial"/>
                <a:ea typeface="Arial"/>
                <a:cs typeface="Arial"/>
              </a:rPr>
              <a:t>infoulal</a:t>
            </a:r>
            <a:endParaRPr sz="9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5766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508885" algn="l" rtl="0" eaLnBrk="0">
              <a:lnSpc>
                <a:spcPts val="126"/>
              </a:lnSpc>
              <a:tabLst/>
            </a:pPr>
            <a:r>
              <a:rPr sz="100" kern="0" spc="20" dirty="0">
                <a:solidFill>
                  <a:srgbClr val="0E3654">
                    <a:alpha val="100000"/>
                  </a:srgbClr>
                </a:solidFill>
                <a:latin typeface="Arial"/>
                <a:ea typeface="Arial"/>
                <a:cs typeface="Arial"/>
              </a:rPr>
              <a:t>M</a:t>
            </a:r>
            <a:endParaRPr sz="100" dirty="0">
              <a:latin typeface="Arial"/>
              <a:ea typeface="Arial"/>
              <a:cs typeface="Arial"/>
            </a:endParaRPr>
          </a:p>
        </p:txBody>
      </p:sp>
      <p:pic>
        <p:nvPicPr>
          <p:cNvPr id="224" name="picture 22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4481109" y="3788264"/>
            <a:ext cx="755282" cy="31932"/>
          </a:xfrm>
          <a:prstGeom prst="rect">
            <a:avLst/>
          </a:prstGeom>
        </p:spPr>
      </p:pic>
      <p:sp>
        <p:nvSpPr>
          <p:cNvPr id="226" name="textbox 226"/>
          <p:cNvSpPr/>
          <p:nvPr/>
        </p:nvSpPr>
        <p:spPr>
          <a:xfrm>
            <a:off x="1194082" y="3500902"/>
            <a:ext cx="3164205" cy="1181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96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6000"/>
              </a:lnSpc>
              <a:tabLst/>
            </a:pPr>
            <a:r>
              <a:rPr sz="800" b="1" kern="0" spc="160" dirty="0">
                <a:solidFill>
                  <a:srgbClr val="808285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DRAFT -</a:t>
            </a:r>
            <a:r>
              <a:rPr sz="800" b="1" kern="0" spc="140" dirty="0">
                <a:solidFill>
                  <a:srgbClr val="808285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800" b="1" kern="0" spc="160" dirty="0">
                <a:solidFill>
                  <a:srgbClr val="808285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REA</a:t>
            </a:r>
            <a:r>
              <a:rPr sz="800" b="1" kern="0" spc="150" dirty="0">
                <a:solidFill>
                  <a:srgbClr val="808285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DY FOR</a:t>
            </a:r>
            <a:r>
              <a:rPr sz="800" b="1" kern="0" spc="140" dirty="0">
                <a:solidFill>
                  <a:srgbClr val="808285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800" b="1" kern="0" spc="150" dirty="0">
                <a:solidFill>
                  <a:srgbClr val="808285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PILOTING</a:t>
            </a:r>
            <a:r>
              <a:rPr sz="800" b="1" kern="0" spc="140" dirty="0">
                <a:solidFill>
                  <a:srgbClr val="808285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800" b="1" kern="0" spc="150" dirty="0">
                <a:solidFill>
                  <a:srgbClr val="808285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-</a:t>
            </a:r>
            <a:r>
              <a:rPr sz="800" b="1" kern="0" spc="140" dirty="0">
                <a:solidFill>
                  <a:srgbClr val="808285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800" b="1" kern="0" spc="150" dirty="0">
                <a:solidFill>
                  <a:srgbClr val="808285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FEEDBACK WELCOME</a:t>
            </a:r>
            <a:endParaRPr sz="800" dirty="0">
              <a:latin typeface="Arial Narrow"/>
              <a:ea typeface="Arial Narrow"/>
              <a:cs typeface="Arial Narrow"/>
            </a:endParaRPr>
          </a:p>
        </p:txBody>
      </p:sp>
      <p:sp>
        <p:nvSpPr>
          <p:cNvPr id="228" name="textbox 228"/>
          <p:cNvSpPr/>
          <p:nvPr/>
        </p:nvSpPr>
        <p:spPr>
          <a:xfrm>
            <a:off x="340200" y="678896"/>
            <a:ext cx="161925" cy="9398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35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4000"/>
              </a:lnSpc>
              <a:tabLst/>
            </a:pPr>
            <a:r>
              <a:rPr sz="600" b="1" kern="0" spc="30" dirty="0">
                <a:solidFill>
                  <a:srgbClr val="FFFFFF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BP7</a:t>
            </a:r>
            <a:endParaRPr sz="600" dirty="0">
              <a:latin typeface="Arial Narrow"/>
              <a:ea typeface="Arial Narrow"/>
              <a:cs typeface="Arial Narrow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 rot="21600000">
            <a:off x="287988" y="581385"/>
            <a:ext cx="4968001" cy="2946608"/>
            <a:chOff x="0" y="0"/>
            <a:chExt cx="4968001" cy="2946608"/>
          </a:xfrm>
        </p:grpSpPr>
        <p:sp>
          <p:nvSpPr>
            <p:cNvPr id="230" name="textbox 230"/>
            <p:cNvSpPr/>
            <p:nvPr/>
          </p:nvSpPr>
          <p:spPr>
            <a:xfrm>
              <a:off x="0" y="0"/>
              <a:ext cx="4968240" cy="2947035"/>
            </a:xfrm>
            <a:prstGeom prst="rect">
              <a:avLst/>
            </a:prstGeom>
            <a:solidFill>
              <a:srgbClr val="E8EBF6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72000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303530" algn="l" rtl="0" eaLnBrk="0">
                <a:lnSpc>
                  <a:spcPct val="90000"/>
                </a:lnSpc>
                <a:spcBef>
                  <a:spcPts val="1"/>
                </a:spcBef>
                <a:tabLst/>
              </a:pPr>
              <a:r>
                <a:rPr sz="700" b="1" kern="0" spc="40" dirty="0">
                  <a:solidFill>
                    <a:srgbClr val="015AAA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Work</a:t>
              </a:r>
              <a:r>
                <a:rPr sz="700" b="1" kern="0" spc="60" dirty="0">
                  <a:solidFill>
                    <a:srgbClr val="015AAA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 </a:t>
              </a:r>
              <a:r>
                <a:rPr sz="700" b="1" kern="0" spc="40" dirty="0">
                  <a:solidFill>
                    <a:srgbClr val="015AAA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Planning.</a:t>
              </a:r>
              <a:r>
                <a:rPr sz="700" b="1" kern="0" spc="70" dirty="0">
                  <a:solidFill>
                    <a:srgbClr val="015AAA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 </a:t>
              </a:r>
              <a:r>
                <a:rPr sz="700" kern="0" spc="40" dirty="0">
                  <a:solidFill>
                    <a:srgbClr val="231F20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Plan an</a:t>
              </a:r>
              <a:r>
                <a:rPr sz="700" kern="0" spc="30" dirty="0">
                  <a:solidFill>
                    <a:srgbClr val="231F20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d realize the content of the upcoming</a:t>
              </a:r>
              <a:r>
                <a:rPr sz="700" kern="0" spc="60" dirty="0">
                  <a:solidFill>
                    <a:srgbClr val="231F20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 </a:t>
              </a:r>
              <a:r>
                <a:rPr sz="700" kern="0" spc="30" dirty="0">
                  <a:solidFill>
                    <a:srgbClr val="231F20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iteration</a:t>
              </a:r>
              <a:r>
                <a:rPr sz="700" kern="0" spc="50" dirty="0">
                  <a:solidFill>
                    <a:srgbClr val="231F20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 </a:t>
              </a:r>
              <a:r>
                <a:rPr sz="700" kern="0" spc="30" dirty="0">
                  <a:solidFill>
                    <a:srgbClr val="231F20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cycles</a:t>
              </a:r>
              <a:r>
                <a:rPr sz="700" kern="0" spc="60" dirty="0">
                  <a:solidFill>
                    <a:srgbClr val="231F20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 </a:t>
              </a:r>
              <a:r>
                <a:rPr sz="700" kern="0" spc="30" dirty="0">
                  <a:solidFill>
                    <a:srgbClr val="231F20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based</a:t>
              </a:r>
              <a:r>
                <a:rPr sz="700" kern="0" spc="40" dirty="0">
                  <a:solidFill>
                    <a:srgbClr val="231F20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 </a:t>
              </a:r>
              <a:r>
                <a:rPr sz="700" kern="0" spc="30" dirty="0">
                  <a:solidFill>
                    <a:srgbClr val="231F20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on</a:t>
              </a:r>
              <a:r>
                <a:rPr sz="700" kern="0" spc="40" dirty="0">
                  <a:solidFill>
                    <a:srgbClr val="231F20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 </a:t>
              </a:r>
              <a:r>
                <a:rPr sz="700" kern="0" spc="30" dirty="0">
                  <a:solidFill>
                    <a:srgbClr val="231F20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estimates</a:t>
              </a:r>
              <a:r>
                <a:rPr sz="700" kern="0" spc="50" dirty="0">
                  <a:solidFill>
                    <a:srgbClr val="231F20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 </a:t>
              </a:r>
              <a:r>
                <a:rPr sz="700" kern="0" spc="30" dirty="0">
                  <a:solidFill>
                    <a:srgbClr val="231F20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and</a:t>
              </a:r>
              <a:r>
                <a:rPr sz="700" kern="0" spc="40" dirty="0">
                  <a:solidFill>
                    <a:srgbClr val="231F20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 </a:t>
              </a:r>
              <a:r>
                <a:rPr sz="700" kern="0" spc="30" dirty="0">
                  <a:solidFill>
                    <a:srgbClr val="231F20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definitions</a:t>
              </a:r>
              <a:r>
                <a:rPr sz="700" kern="0" spc="40" dirty="0">
                  <a:solidFill>
                    <a:srgbClr val="231F20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 </a:t>
              </a:r>
              <a:r>
                <a:rPr sz="700" kern="0" spc="30" dirty="0">
                  <a:solidFill>
                    <a:srgbClr val="231F20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of</a:t>
              </a:r>
              <a:endParaRPr sz="700" dirty="0">
                <a:latin typeface="Arial Narrow"/>
                <a:ea typeface="Arial Narrow"/>
                <a:cs typeface="Arial Narrow"/>
              </a:endParaRPr>
            </a:p>
            <a:p>
              <a:pPr marL="308610" algn="l" rtl="0" eaLnBrk="0">
                <a:lnSpc>
                  <a:spcPct val="89000"/>
                </a:lnSpc>
                <a:spcBef>
                  <a:spcPts val="252"/>
                </a:spcBef>
                <a:tabLst/>
              </a:pPr>
              <a:r>
                <a:rPr sz="700" kern="0" spc="40" dirty="0">
                  <a:solidFill>
                    <a:srgbClr val="231F20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ready and done.</a:t>
              </a:r>
              <a:r>
                <a:rPr sz="700" kern="0" spc="40" dirty="0">
                  <a:solidFill>
                    <a:srgbClr val="015AAA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[OU</a:t>
              </a:r>
              <a:r>
                <a:rPr sz="700" kern="0" spc="30" dirty="0">
                  <a:solidFill>
                    <a:srgbClr val="015AAA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TCOME</a:t>
              </a:r>
              <a:r>
                <a:rPr sz="700" kern="0" spc="40" dirty="0">
                  <a:solidFill>
                    <a:srgbClr val="015AAA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 </a:t>
              </a:r>
              <a:r>
                <a:rPr sz="700" kern="0" spc="30" dirty="0">
                  <a:solidFill>
                    <a:srgbClr val="015AAA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8]</a:t>
              </a:r>
              <a:endParaRPr sz="700" dirty="0">
                <a:latin typeface="Arial Narrow"/>
                <a:ea typeface="Arial Narrow"/>
                <a:cs typeface="Arial Narrow"/>
              </a:endParaRPr>
            </a:p>
            <a:p>
              <a:pPr marL="309245" algn="l" rtl="0" eaLnBrk="0">
                <a:lnSpc>
                  <a:spcPct val="76000"/>
                </a:lnSpc>
                <a:spcBef>
                  <a:spcPts val="242"/>
                </a:spcBef>
                <a:tabLst/>
              </a:pPr>
              <a:r>
                <a:rPr sz="700" b="1" kern="0" spc="30" dirty="0">
                  <a:solidFill>
                    <a:srgbClr val="015AAA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Notes &amp;</a:t>
              </a:r>
              <a:r>
                <a:rPr sz="700" b="1" kern="0" spc="110" dirty="0">
                  <a:solidFill>
                    <a:srgbClr val="015AAA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 </a:t>
              </a:r>
              <a:r>
                <a:rPr sz="700" b="1" kern="0" spc="30" dirty="0">
                  <a:solidFill>
                    <a:srgbClr val="015AAA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Definitions:</a:t>
              </a:r>
              <a:endParaRPr sz="700" dirty="0">
                <a:latin typeface="Arial Narrow"/>
                <a:ea typeface="Arial Narrow"/>
                <a:cs typeface="Arial Narrow"/>
              </a:endParaRPr>
            </a:p>
            <a:p>
              <a:pPr marL="471169" indent="-59689" algn="l" rtl="0" eaLnBrk="0">
                <a:lnSpc>
                  <a:spcPct val="112000"/>
                </a:lnSpc>
                <a:spcBef>
                  <a:spcPts val="238"/>
                </a:spcBef>
                <a:tabLst/>
              </a:pPr>
              <a:r>
                <a:rPr sz="700" kern="0" spc="30" dirty="0">
                  <a:solidFill>
                    <a:srgbClr val="231F20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▪ Typically, there are different levels of planning</a:t>
              </a:r>
              <a:r>
                <a:rPr sz="700" kern="0" spc="60" dirty="0">
                  <a:solidFill>
                    <a:srgbClr val="231F20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 </a:t>
              </a:r>
              <a:r>
                <a:rPr sz="700" kern="0" spc="30" dirty="0">
                  <a:solidFill>
                    <a:srgbClr val="231F20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related to</a:t>
              </a:r>
              <a:r>
                <a:rPr sz="700" kern="0" spc="60" dirty="0">
                  <a:solidFill>
                    <a:srgbClr val="231F20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 </a:t>
              </a:r>
              <a:r>
                <a:rPr sz="700" kern="0" spc="30" dirty="0">
                  <a:solidFill>
                    <a:srgbClr val="231F20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iteration</a:t>
              </a:r>
              <a:r>
                <a:rPr sz="700" kern="0" spc="50" dirty="0">
                  <a:solidFill>
                    <a:srgbClr val="231F20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 </a:t>
              </a:r>
              <a:r>
                <a:rPr sz="700" kern="0" spc="30" dirty="0">
                  <a:solidFill>
                    <a:srgbClr val="231F20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cycles</a:t>
              </a:r>
              <a:r>
                <a:rPr sz="700" kern="0" spc="40" dirty="0">
                  <a:solidFill>
                    <a:srgbClr val="231F20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 </a:t>
              </a:r>
              <a:r>
                <a:rPr sz="700" kern="0" spc="30" dirty="0">
                  <a:solidFill>
                    <a:srgbClr val="231F20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depending</a:t>
              </a:r>
              <a:r>
                <a:rPr sz="700" kern="0" spc="40" dirty="0">
                  <a:solidFill>
                    <a:srgbClr val="231F20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 </a:t>
              </a:r>
              <a:r>
                <a:rPr sz="700" kern="0" spc="30" dirty="0">
                  <a:solidFill>
                    <a:srgbClr val="231F20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on the</a:t>
              </a:r>
              <a:r>
                <a:rPr sz="700" kern="0" spc="50" dirty="0">
                  <a:solidFill>
                    <a:srgbClr val="231F20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 </a:t>
              </a:r>
              <a:r>
                <a:rPr sz="700" kern="0" spc="30" dirty="0">
                  <a:solidFill>
                    <a:srgbClr val="231F20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complexity</a:t>
              </a:r>
              <a:r>
                <a:rPr sz="700" kern="0" spc="40" dirty="0">
                  <a:solidFill>
                    <a:srgbClr val="231F20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 </a:t>
              </a:r>
              <a:r>
                <a:rPr sz="700" kern="0" spc="30" dirty="0">
                  <a:solidFill>
                    <a:srgbClr val="231F20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of</a:t>
              </a:r>
              <a:r>
                <a:rPr sz="700" kern="0" spc="20" dirty="0">
                  <a:solidFill>
                    <a:srgbClr val="231F20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 the</a:t>
              </a:r>
              <a:r>
                <a:rPr sz="700" kern="0" spc="60" dirty="0">
                  <a:solidFill>
                    <a:srgbClr val="231F20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 </a:t>
              </a:r>
              <a:r>
                <a:rPr sz="700" kern="0" spc="20" dirty="0">
                  <a:solidFill>
                    <a:srgbClr val="231F20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product</a:t>
              </a:r>
              <a:r>
                <a:rPr sz="700" kern="0" spc="0" dirty="0">
                  <a:solidFill>
                    <a:srgbClr val="231F20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           </a:t>
              </a:r>
              <a:r>
                <a:rPr sz="700" kern="0" spc="40" dirty="0">
                  <a:solidFill>
                    <a:srgbClr val="231F20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and team </a:t>
              </a:r>
              <a:r>
                <a:rPr sz="700" kern="0" spc="30" dirty="0">
                  <a:solidFill>
                    <a:srgbClr val="231F20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of teams (e.g., sprints</a:t>
              </a:r>
              <a:r>
                <a:rPr sz="700" kern="0" spc="40" dirty="0">
                  <a:solidFill>
                    <a:srgbClr val="231F20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 </a:t>
              </a:r>
              <a:r>
                <a:rPr sz="700" kern="0" spc="30" dirty="0">
                  <a:solidFill>
                    <a:srgbClr val="231F20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and</a:t>
              </a:r>
              <a:r>
                <a:rPr sz="700" kern="0" spc="60" dirty="0">
                  <a:solidFill>
                    <a:srgbClr val="231F20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 </a:t>
              </a:r>
              <a:r>
                <a:rPr sz="700" kern="0" spc="30" dirty="0">
                  <a:solidFill>
                    <a:srgbClr val="231F20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releases).</a:t>
              </a:r>
              <a:endParaRPr sz="700" dirty="0">
                <a:latin typeface="Arial Narrow"/>
                <a:ea typeface="Arial Narrow"/>
                <a:cs typeface="Arial Narrow"/>
              </a:endParaRPr>
            </a:p>
            <a:p>
              <a:pPr marL="471169" indent="-59689" algn="l" rtl="0" eaLnBrk="0">
                <a:lnSpc>
                  <a:spcPct val="112000"/>
                </a:lnSpc>
                <a:spcBef>
                  <a:spcPts val="98"/>
                </a:spcBef>
                <a:tabLst/>
              </a:pPr>
              <a:r>
                <a:rPr sz="700" kern="0" spc="40" dirty="0">
                  <a:solidFill>
                    <a:srgbClr val="231F20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▪</a:t>
              </a:r>
              <a:r>
                <a:rPr sz="700" kern="0" spc="70" dirty="0">
                  <a:solidFill>
                    <a:srgbClr val="231F20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 </a:t>
              </a:r>
              <a:r>
                <a:rPr sz="700" kern="0" spc="40" dirty="0">
                  <a:solidFill>
                    <a:srgbClr val="231F20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In genera</a:t>
              </a:r>
              <a:r>
                <a:rPr sz="700" kern="0" spc="30" dirty="0">
                  <a:solidFill>
                    <a:srgbClr val="231F20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l, work planning should consider actual team</a:t>
              </a:r>
              <a:r>
                <a:rPr sz="700" kern="0" spc="70" dirty="0">
                  <a:solidFill>
                    <a:srgbClr val="231F20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 </a:t>
              </a:r>
              <a:r>
                <a:rPr sz="700" kern="0" spc="30" dirty="0">
                  <a:solidFill>
                    <a:srgbClr val="231F20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member capacity,</a:t>
              </a:r>
              <a:r>
                <a:rPr sz="700" kern="0" spc="40" dirty="0">
                  <a:solidFill>
                    <a:srgbClr val="231F20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 </a:t>
              </a:r>
              <a:r>
                <a:rPr sz="700" kern="0" spc="30" dirty="0">
                  <a:solidFill>
                    <a:srgbClr val="231F20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availability</a:t>
              </a:r>
              <a:r>
                <a:rPr sz="700" kern="0" spc="40" dirty="0">
                  <a:solidFill>
                    <a:srgbClr val="231F20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 </a:t>
              </a:r>
              <a:r>
                <a:rPr sz="700" kern="0" spc="30" dirty="0">
                  <a:solidFill>
                    <a:srgbClr val="231F20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and velocity</a:t>
              </a:r>
              <a:r>
                <a:rPr sz="700" kern="0" spc="40" dirty="0">
                  <a:solidFill>
                    <a:srgbClr val="231F20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 </a:t>
              </a:r>
              <a:r>
                <a:rPr sz="700" kern="0" spc="30" dirty="0">
                  <a:solidFill>
                    <a:srgbClr val="231F20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as well</a:t>
              </a:r>
              <a:r>
                <a:rPr sz="700" kern="0" spc="50" dirty="0">
                  <a:solidFill>
                    <a:srgbClr val="231F20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 </a:t>
              </a:r>
              <a:r>
                <a:rPr sz="700" kern="0" spc="30" dirty="0">
                  <a:solidFill>
                    <a:srgbClr val="231F20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as the</a:t>
              </a:r>
              <a:r>
                <a:rPr sz="700" kern="0" spc="60" dirty="0">
                  <a:solidFill>
                    <a:srgbClr val="231F20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 </a:t>
              </a:r>
              <a:r>
                <a:rPr sz="700" kern="0" spc="30" dirty="0">
                  <a:solidFill>
                    <a:srgbClr val="231F20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recor-</a:t>
              </a:r>
              <a:r>
                <a:rPr sz="700" kern="0" spc="0" dirty="0">
                  <a:solidFill>
                    <a:srgbClr val="231F20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        </a:t>
              </a:r>
              <a:r>
                <a:rPr sz="700" kern="0" spc="40" dirty="0">
                  <a:solidFill>
                    <a:srgbClr val="231F20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ded work appro</a:t>
              </a:r>
              <a:r>
                <a:rPr sz="700" kern="0" spc="30" dirty="0">
                  <a:solidFill>
                    <a:srgbClr val="231F20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ach, dependencies and feasibility.</a:t>
              </a:r>
              <a:endParaRPr sz="700" dirty="0">
                <a:latin typeface="Arial Narrow"/>
                <a:ea typeface="Arial Narrow"/>
                <a:cs typeface="Arial Narrow"/>
              </a:endParaRPr>
            </a:p>
            <a:p>
              <a:pPr marL="471169" indent="-59689" algn="l" rtl="0" eaLnBrk="0">
                <a:lnSpc>
                  <a:spcPct val="112000"/>
                </a:lnSpc>
                <a:spcBef>
                  <a:spcPts val="98"/>
                </a:spcBef>
                <a:tabLst/>
              </a:pPr>
              <a:r>
                <a:rPr sz="700" kern="0" spc="30" dirty="0">
                  <a:solidFill>
                    <a:srgbClr val="231F20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▪</a:t>
              </a:r>
              <a:r>
                <a:rPr sz="700" kern="0" spc="70" dirty="0">
                  <a:solidFill>
                    <a:srgbClr val="231F20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 </a:t>
              </a:r>
              <a:r>
                <a:rPr sz="700" kern="0" spc="30" dirty="0">
                  <a:solidFill>
                    <a:srgbClr val="231F20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Planning is usually based on selecting</a:t>
              </a:r>
              <a:r>
                <a:rPr sz="700" kern="0" spc="60" dirty="0">
                  <a:solidFill>
                    <a:srgbClr val="231F20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 </a:t>
              </a:r>
              <a:r>
                <a:rPr sz="700" kern="0" spc="30" dirty="0">
                  <a:solidFill>
                    <a:srgbClr val="231F20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(pulling)</a:t>
              </a:r>
              <a:r>
                <a:rPr sz="700" kern="0" spc="40" dirty="0">
                  <a:solidFill>
                    <a:srgbClr val="231F20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 </a:t>
              </a:r>
              <a:r>
                <a:rPr sz="700" kern="0" spc="30" dirty="0">
                  <a:solidFill>
                    <a:srgbClr val="231F20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content from the</a:t>
              </a:r>
              <a:r>
                <a:rPr sz="700" kern="0" spc="70" dirty="0">
                  <a:solidFill>
                    <a:srgbClr val="231F20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 </a:t>
              </a:r>
              <a:r>
                <a:rPr sz="700" kern="0" spc="30" dirty="0">
                  <a:solidFill>
                    <a:srgbClr val="231F20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prioritized</a:t>
              </a:r>
              <a:r>
                <a:rPr sz="700" kern="0" spc="60" dirty="0">
                  <a:solidFill>
                    <a:srgbClr val="231F20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 </a:t>
              </a:r>
              <a:r>
                <a:rPr sz="700" kern="0" spc="30" dirty="0">
                  <a:solidFill>
                    <a:srgbClr val="231F20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product</a:t>
              </a:r>
              <a:r>
                <a:rPr sz="700" kern="0" spc="60" dirty="0">
                  <a:solidFill>
                    <a:srgbClr val="231F20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 </a:t>
              </a:r>
              <a:r>
                <a:rPr sz="700" kern="0" spc="30" dirty="0">
                  <a:solidFill>
                    <a:srgbClr val="231F20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backlog</a:t>
              </a:r>
              <a:r>
                <a:rPr sz="700" kern="0" spc="60" dirty="0">
                  <a:solidFill>
                    <a:srgbClr val="231F20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 </a:t>
              </a:r>
              <a:r>
                <a:rPr sz="700" kern="0" spc="30" dirty="0">
                  <a:solidFill>
                    <a:srgbClr val="231F20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meeting</a:t>
              </a:r>
              <a:r>
                <a:rPr sz="700" kern="0" spc="70" dirty="0">
                  <a:solidFill>
                    <a:srgbClr val="231F20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 </a:t>
              </a:r>
              <a:r>
                <a:rPr sz="700" kern="0" spc="30" dirty="0">
                  <a:solidFill>
                    <a:srgbClr val="231F20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DoR</a:t>
              </a:r>
              <a:r>
                <a:rPr sz="700" kern="0" spc="50" dirty="0">
                  <a:solidFill>
                    <a:srgbClr val="231F20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 </a:t>
              </a:r>
              <a:r>
                <a:rPr sz="700" kern="0" spc="30" dirty="0">
                  <a:solidFill>
                    <a:srgbClr val="231F20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criteri</a:t>
              </a:r>
              <a:r>
                <a:rPr sz="700" kern="0" spc="20" dirty="0">
                  <a:solidFill>
                    <a:srgbClr val="231F20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a,</a:t>
              </a:r>
              <a:r>
                <a:rPr sz="700" kern="0" spc="0" dirty="0">
                  <a:solidFill>
                    <a:srgbClr val="231F20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                </a:t>
              </a:r>
              <a:r>
                <a:rPr sz="700" kern="0" spc="40" dirty="0">
                  <a:solidFill>
                    <a:srgbClr val="231F20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estimates, </a:t>
              </a:r>
              <a:r>
                <a:rPr sz="700" kern="0" spc="30" dirty="0">
                  <a:solidFill>
                    <a:srgbClr val="231F20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overall vision and strategic themes.</a:t>
              </a:r>
              <a:endParaRPr sz="700" dirty="0">
                <a:latin typeface="Arial Narrow"/>
                <a:ea typeface="Arial Narrow"/>
                <a:cs typeface="Arial Narrow"/>
              </a:endParaRPr>
            </a:p>
            <a:p>
              <a:pPr marL="469265" indent="-57785" algn="l" rtl="0" eaLnBrk="0">
                <a:lnSpc>
                  <a:spcPct val="112000"/>
                </a:lnSpc>
                <a:spcBef>
                  <a:spcPts val="98"/>
                </a:spcBef>
                <a:tabLst/>
              </a:pPr>
              <a:r>
                <a:rPr sz="700" kern="0" spc="30" dirty="0">
                  <a:solidFill>
                    <a:srgbClr val="231F20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▪ Typically, planned work for each level is the</a:t>
              </a:r>
              <a:r>
                <a:rPr sz="700" kern="0" spc="60" dirty="0">
                  <a:solidFill>
                    <a:srgbClr val="231F20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 </a:t>
              </a:r>
              <a:r>
                <a:rPr sz="700" kern="0" spc="30" dirty="0">
                  <a:solidFill>
                    <a:srgbClr val="231F20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result</a:t>
              </a:r>
              <a:r>
                <a:rPr sz="700" kern="0" spc="40" dirty="0">
                  <a:solidFill>
                    <a:srgbClr val="231F20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 </a:t>
              </a:r>
              <a:r>
                <a:rPr sz="700" kern="0" spc="30" dirty="0">
                  <a:solidFill>
                    <a:srgbClr val="231F20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of a</a:t>
              </a:r>
              <a:r>
                <a:rPr sz="700" kern="0" spc="60" dirty="0">
                  <a:solidFill>
                    <a:srgbClr val="231F20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 </a:t>
              </a:r>
              <a:r>
                <a:rPr sz="700" kern="0" spc="30" dirty="0">
                  <a:solidFill>
                    <a:srgbClr val="231F20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planning workshop for the</a:t>
              </a:r>
              <a:r>
                <a:rPr sz="700" kern="0" spc="60" dirty="0">
                  <a:solidFill>
                    <a:srgbClr val="231F20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 </a:t>
              </a:r>
              <a:r>
                <a:rPr sz="700" kern="0" spc="30" dirty="0">
                  <a:solidFill>
                    <a:srgbClr val="231F20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upcoming</a:t>
              </a:r>
              <a:r>
                <a:rPr sz="700" kern="0" spc="60" dirty="0">
                  <a:solidFill>
                    <a:srgbClr val="231F20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 </a:t>
              </a:r>
              <a:r>
                <a:rPr sz="700" kern="0" spc="30" dirty="0">
                  <a:solidFill>
                    <a:srgbClr val="231F20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iteration</a:t>
              </a:r>
              <a:r>
                <a:rPr sz="700" kern="0" spc="50" dirty="0">
                  <a:solidFill>
                    <a:srgbClr val="231F20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 </a:t>
              </a:r>
              <a:r>
                <a:rPr sz="700" kern="0" spc="30" dirty="0">
                  <a:solidFill>
                    <a:srgbClr val="231F20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cycl</a:t>
              </a:r>
              <a:r>
                <a:rPr sz="700" kern="0" spc="20" dirty="0">
                  <a:solidFill>
                    <a:srgbClr val="231F20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es</a:t>
              </a:r>
              <a:r>
                <a:rPr sz="700" kern="0" spc="60" dirty="0">
                  <a:solidFill>
                    <a:srgbClr val="231F20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 </a:t>
              </a:r>
              <a:r>
                <a:rPr sz="700" kern="0" spc="20" dirty="0">
                  <a:solidFill>
                    <a:srgbClr val="231F20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by</a:t>
              </a:r>
              <a:r>
                <a:rPr sz="700" kern="0" spc="0" dirty="0">
                  <a:solidFill>
                    <a:srgbClr val="231F20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                       </a:t>
              </a:r>
              <a:r>
                <a:rPr sz="700" kern="0" spc="30" dirty="0">
                  <a:solidFill>
                    <a:srgbClr val="231F20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focusing on the near</a:t>
              </a:r>
              <a:r>
                <a:rPr sz="700" kern="0" spc="100" dirty="0">
                  <a:solidFill>
                    <a:srgbClr val="231F20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 </a:t>
              </a:r>
              <a:r>
                <a:rPr sz="700" kern="0" spc="30" dirty="0">
                  <a:solidFill>
                    <a:srgbClr val="231F20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and</a:t>
              </a:r>
              <a:r>
                <a:rPr sz="700" kern="0" spc="70" dirty="0">
                  <a:solidFill>
                    <a:srgbClr val="231F20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 </a:t>
              </a:r>
              <a:r>
                <a:rPr sz="700" kern="0" spc="30" dirty="0">
                  <a:solidFill>
                    <a:srgbClr val="231F20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known future.</a:t>
              </a:r>
              <a:endParaRPr sz="700" dirty="0">
                <a:latin typeface="Arial Narrow"/>
                <a:ea typeface="Arial Narrow"/>
                <a:cs typeface="Arial Narrow"/>
              </a:endParaRPr>
            </a:p>
            <a:p>
              <a:pPr marL="473710" indent="-62230" algn="l" rtl="0" eaLnBrk="0">
                <a:lnSpc>
                  <a:spcPct val="113000"/>
                </a:lnSpc>
                <a:spcBef>
                  <a:spcPts val="89"/>
                </a:spcBef>
                <a:tabLst/>
              </a:pPr>
              <a:r>
                <a:rPr sz="700" kern="0" spc="30" dirty="0">
                  <a:solidFill>
                    <a:srgbClr val="231F20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▪ Typically, the team decides on the work distribution mechanisms within</a:t>
              </a:r>
              <a:r>
                <a:rPr sz="700" kern="0" spc="80" dirty="0">
                  <a:solidFill>
                    <a:srgbClr val="231F20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 </a:t>
              </a:r>
              <a:r>
                <a:rPr sz="700" kern="0" spc="30" dirty="0">
                  <a:solidFill>
                    <a:srgbClr val="231F20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the team</a:t>
              </a:r>
              <a:r>
                <a:rPr sz="700" kern="0" spc="60" dirty="0">
                  <a:solidFill>
                    <a:srgbClr val="231F20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 </a:t>
              </a:r>
              <a:r>
                <a:rPr sz="700" kern="0" spc="30" dirty="0">
                  <a:solidFill>
                    <a:srgbClr val="231F20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(of teams),</a:t>
              </a:r>
              <a:r>
                <a:rPr sz="700" kern="0" spc="40" dirty="0">
                  <a:solidFill>
                    <a:srgbClr val="231F20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 </a:t>
              </a:r>
              <a:r>
                <a:rPr sz="700" kern="0" spc="30" dirty="0">
                  <a:solidFill>
                    <a:srgbClr val="231F20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e.g.,</a:t>
              </a:r>
              <a:r>
                <a:rPr sz="700" kern="0" spc="70" dirty="0">
                  <a:solidFill>
                    <a:srgbClr val="231F20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 </a:t>
              </a:r>
              <a:r>
                <a:rPr sz="700" kern="0" spc="30" dirty="0">
                  <a:solidFill>
                    <a:srgbClr val="231F20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principles</a:t>
              </a:r>
              <a:r>
                <a:rPr sz="700" kern="0" spc="60" dirty="0">
                  <a:solidFill>
                    <a:srgbClr val="231F20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 </a:t>
              </a:r>
              <a:r>
                <a:rPr sz="700" kern="0" spc="30" dirty="0">
                  <a:solidFill>
                    <a:srgbClr val="231F20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like</a:t>
              </a:r>
              <a:r>
                <a:rPr sz="700" kern="0" spc="60" dirty="0">
                  <a:solidFill>
                    <a:srgbClr val="231F20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 </a:t>
              </a:r>
              <a:r>
                <a:rPr sz="700" kern="0" spc="30" dirty="0">
                  <a:solidFill>
                    <a:srgbClr val="231F20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push,</a:t>
              </a:r>
              <a:r>
                <a:rPr sz="700" kern="0" spc="0" dirty="0">
                  <a:solidFill>
                    <a:srgbClr val="231F20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         </a:t>
              </a:r>
              <a:r>
                <a:rPr sz="700" kern="0" spc="20" dirty="0">
                  <a:solidFill>
                    <a:srgbClr val="231F20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pull,</a:t>
              </a:r>
              <a:r>
                <a:rPr sz="700" kern="0" spc="110" dirty="0">
                  <a:solidFill>
                    <a:srgbClr val="231F20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 </a:t>
              </a:r>
              <a:r>
                <a:rPr sz="700" kern="0" spc="20" dirty="0">
                  <a:solidFill>
                    <a:srgbClr val="231F20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round</a:t>
              </a:r>
              <a:r>
                <a:rPr sz="700" kern="0" spc="60" dirty="0">
                  <a:solidFill>
                    <a:srgbClr val="231F20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 </a:t>
              </a:r>
              <a:r>
                <a:rPr sz="700" kern="0" spc="20" dirty="0">
                  <a:solidFill>
                    <a:srgbClr val="231F20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robin.</a:t>
              </a:r>
              <a:endParaRPr sz="700" dirty="0">
                <a:latin typeface="Arial Narrow"/>
                <a:ea typeface="Arial Narrow"/>
                <a:cs typeface="Arial Narrow"/>
              </a:endParaRPr>
            </a:p>
            <a:p>
              <a:pPr marL="470535" indent="-59055" algn="l" rtl="0" eaLnBrk="0">
                <a:lnSpc>
                  <a:spcPct val="112000"/>
                </a:lnSpc>
                <a:spcBef>
                  <a:spcPts val="90"/>
                </a:spcBef>
                <a:tabLst/>
              </a:pPr>
              <a:r>
                <a:rPr sz="700" kern="0" spc="30" dirty="0">
                  <a:solidFill>
                    <a:srgbClr val="231F20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▪ Typically, work is planned to avoid</a:t>
              </a:r>
              <a:r>
                <a:rPr sz="700" kern="0" spc="60" dirty="0">
                  <a:solidFill>
                    <a:srgbClr val="231F20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 </a:t>
              </a:r>
              <a:r>
                <a:rPr sz="700" kern="0" spc="30" dirty="0">
                  <a:solidFill>
                    <a:srgbClr val="231F20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multitasking and</a:t>
              </a:r>
              <a:r>
                <a:rPr sz="700" kern="0" spc="60" dirty="0">
                  <a:solidFill>
                    <a:srgbClr val="231F20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 </a:t>
              </a:r>
              <a:r>
                <a:rPr sz="700" kern="0" spc="30" dirty="0">
                  <a:solidFill>
                    <a:srgbClr val="231F20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by</a:t>
              </a:r>
              <a:r>
                <a:rPr sz="700" kern="0" spc="60" dirty="0">
                  <a:solidFill>
                    <a:srgbClr val="231F20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 </a:t>
              </a:r>
              <a:r>
                <a:rPr sz="700" kern="0" spc="30" dirty="0">
                  <a:solidFill>
                    <a:srgbClr val="231F20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limiting the</a:t>
              </a:r>
              <a:r>
                <a:rPr sz="700" kern="0" spc="40" dirty="0">
                  <a:solidFill>
                    <a:srgbClr val="231F20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 </a:t>
              </a:r>
              <a:r>
                <a:rPr sz="700" kern="0" spc="30" dirty="0">
                  <a:solidFill>
                    <a:srgbClr val="231F20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amount</a:t>
              </a:r>
              <a:r>
                <a:rPr sz="700" kern="0" spc="40" dirty="0">
                  <a:solidFill>
                    <a:srgbClr val="231F20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 </a:t>
              </a:r>
              <a:r>
                <a:rPr sz="700" kern="0" spc="30" dirty="0">
                  <a:solidFill>
                    <a:srgbClr val="231F20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of work</a:t>
              </a:r>
              <a:r>
                <a:rPr sz="700" kern="0" spc="70" dirty="0">
                  <a:solidFill>
                    <a:srgbClr val="231F20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 </a:t>
              </a:r>
              <a:r>
                <a:rPr sz="700" kern="0" spc="30" dirty="0">
                  <a:solidFill>
                    <a:srgbClr val="231F20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in</a:t>
              </a:r>
              <a:r>
                <a:rPr sz="700" kern="0" spc="60" dirty="0">
                  <a:solidFill>
                    <a:srgbClr val="231F20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 </a:t>
              </a:r>
              <a:r>
                <a:rPr sz="700" kern="0" spc="30" dirty="0">
                  <a:solidFill>
                    <a:srgbClr val="231F20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progress;</a:t>
              </a:r>
              <a:r>
                <a:rPr sz="700" kern="0" spc="60" dirty="0">
                  <a:solidFill>
                    <a:srgbClr val="231F20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 </a:t>
              </a:r>
              <a:r>
                <a:rPr sz="700" kern="0" spc="30" dirty="0">
                  <a:solidFill>
                    <a:srgbClr val="231F20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i.e.</a:t>
              </a:r>
              <a:r>
                <a:rPr sz="700" kern="0" spc="60" dirty="0">
                  <a:solidFill>
                    <a:srgbClr val="231F20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 </a:t>
              </a:r>
              <a:r>
                <a:rPr sz="700" kern="0" spc="30" dirty="0">
                  <a:solidFill>
                    <a:srgbClr val="231F20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int</a:t>
              </a:r>
              <a:r>
                <a:rPr sz="700" kern="0" spc="20" dirty="0">
                  <a:solidFill>
                    <a:srgbClr val="231F20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erruption and</a:t>
              </a:r>
              <a:r>
                <a:rPr sz="700" kern="0" spc="0" dirty="0">
                  <a:solidFill>
                    <a:srgbClr val="231F20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              </a:t>
              </a:r>
              <a:r>
                <a:rPr sz="700" kern="0" spc="40" dirty="0">
                  <a:solidFill>
                    <a:srgbClr val="231F20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segmentati</a:t>
              </a:r>
              <a:r>
                <a:rPr sz="700" kern="0" spc="30" dirty="0">
                  <a:solidFill>
                    <a:srgbClr val="231F20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on of activities is reduced to</a:t>
              </a:r>
              <a:r>
                <a:rPr sz="700" kern="0" spc="40" dirty="0">
                  <a:solidFill>
                    <a:srgbClr val="231F20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 </a:t>
              </a:r>
              <a:r>
                <a:rPr sz="700" kern="0" spc="30" dirty="0">
                  <a:solidFill>
                    <a:srgbClr val="231F20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a</a:t>
              </a:r>
              <a:r>
                <a:rPr sz="700" kern="0" spc="70" dirty="0">
                  <a:solidFill>
                    <a:srgbClr val="231F20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 </a:t>
              </a:r>
              <a:r>
                <a:rPr sz="700" kern="0" spc="30" dirty="0">
                  <a:solidFill>
                    <a:srgbClr val="231F20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minimum.</a:t>
              </a:r>
              <a:endParaRPr sz="700" dirty="0">
                <a:latin typeface="Arial Narrow"/>
                <a:ea typeface="Arial Narrow"/>
                <a:cs typeface="Arial Narrow"/>
              </a:endParaRPr>
            </a:p>
            <a:p>
              <a:pPr marL="470535" indent="-59055" algn="l" rtl="0" eaLnBrk="0">
                <a:lnSpc>
                  <a:spcPct val="114000"/>
                </a:lnSpc>
                <a:spcBef>
                  <a:spcPts val="104"/>
                </a:spcBef>
                <a:tabLst/>
              </a:pPr>
              <a:r>
                <a:rPr sz="700" kern="0" spc="30" dirty="0">
                  <a:solidFill>
                    <a:srgbClr val="231F20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▪ Typically, one or multiple iterations form a</a:t>
              </a:r>
              <a:r>
                <a:rPr sz="700" kern="0" spc="60" dirty="0">
                  <a:solidFill>
                    <a:srgbClr val="231F20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 </a:t>
              </a:r>
              <a:r>
                <a:rPr sz="700" kern="0" spc="30" dirty="0">
                  <a:solidFill>
                    <a:srgbClr val="231F20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potentially</a:t>
              </a:r>
              <a:r>
                <a:rPr sz="700" kern="0" spc="40" dirty="0">
                  <a:solidFill>
                    <a:srgbClr val="231F20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 </a:t>
              </a:r>
              <a:r>
                <a:rPr sz="700" kern="0" spc="30" dirty="0">
                  <a:solidFill>
                    <a:srgbClr val="231F20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shippable work</a:t>
              </a:r>
              <a:r>
                <a:rPr sz="700" kern="0" spc="60" dirty="0">
                  <a:solidFill>
                    <a:srgbClr val="231F20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 </a:t>
              </a:r>
              <a:r>
                <a:rPr sz="700" kern="0" spc="30" dirty="0">
                  <a:solidFill>
                    <a:srgbClr val="231F20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increment</a:t>
              </a:r>
              <a:r>
                <a:rPr sz="700" kern="0" spc="60" dirty="0">
                  <a:solidFill>
                    <a:srgbClr val="231F20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 </a:t>
              </a:r>
              <a:r>
                <a:rPr sz="700" kern="0" spc="30" dirty="0">
                  <a:solidFill>
                    <a:srgbClr val="231F20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(SWI)=</a:t>
              </a:r>
              <a:r>
                <a:rPr sz="700" kern="0" spc="70" dirty="0">
                  <a:solidFill>
                    <a:srgbClr val="231F20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 </a:t>
              </a:r>
              <a:r>
                <a:rPr sz="700" kern="0" spc="30" dirty="0">
                  <a:solidFill>
                    <a:srgbClr val="231F20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Release.</a:t>
              </a:r>
              <a:r>
                <a:rPr sz="700" kern="0" spc="70" dirty="0">
                  <a:solidFill>
                    <a:srgbClr val="231F20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 </a:t>
              </a:r>
              <a:r>
                <a:rPr sz="700" kern="0" spc="30" dirty="0">
                  <a:solidFill>
                    <a:srgbClr val="231F20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Being</a:t>
              </a:r>
              <a:r>
                <a:rPr sz="700" kern="0" spc="60" dirty="0">
                  <a:solidFill>
                    <a:srgbClr val="231F20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 </a:t>
              </a:r>
              <a:r>
                <a:rPr sz="700" kern="0" spc="30" dirty="0">
                  <a:solidFill>
                    <a:srgbClr val="231F20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potentiall</a:t>
              </a:r>
              <a:r>
                <a:rPr sz="700" kern="0" spc="20" dirty="0">
                  <a:solidFill>
                    <a:srgbClr val="231F20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y</a:t>
              </a:r>
              <a:r>
                <a:rPr sz="700" kern="0" spc="0" dirty="0">
                  <a:solidFill>
                    <a:srgbClr val="231F20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               </a:t>
              </a:r>
              <a:r>
                <a:rPr sz="700" kern="0" spc="40" dirty="0">
                  <a:solidFill>
                    <a:srgbClr val="231F20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shippable does </a:t>
              </a:r>
              <a:r>
                <a:rPr sz="700" kern="0" spc="30" dirty="0">
                  <a:solidFill>
                    <a:srgbClr val="231F20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not mean the results</a:t>
              </a:r>
              <a:r>
                <a:rPr sz="700" kern="0" spc="50" dirty="0">
                  <a:solidFill>
                    <a:srgbClr val="231F20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 </a:t>
              </a:r>
              <a:r>
                <a:rPr sz="700" kern="0" spc="30" dirty="0">
                  <a:solidFill>
                    <a:srgbClr val="231F20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have</a:t>
              </a:r>
              <a:r>
                <a:rPr sz="700" kern="0" spc="40" dirty="0">
                  <a:solidFill>
                    <a:srgbClr val="231F20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 </a:t>
              </a:r>
              <a:r>
                <a:rPr sz="700" kern="0" spc="30" dirty="0">
                  <a:solidFill>
                    <a:srgbClr val="231F20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to</a:t>
              </a:r>
              <a:r>
                <a:rPr sz="700" kern="0" spc="60" dirty="0">
                  <a:solidFill>
                    <a:srgbClr val="231F20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 </a:t>
              </a:r>
              <a:r>
                <a:rPr sz="700" kern="0" spc="30" dirty="0">
                  <a:solidFill>
                    <a:srgbClr val="231F20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be</a:t>
              </a:r>
              <a:r>
                <a:rPr sz="700" kern="0" spc="40" dirty="0">
                  <a:solidFill>
                    <a:srgbClr val="231F20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 </a:t>
              </a:r>
              <a:r>
                <a:rPr sz="700" kern="0" spc="30" dirty="0">
                  <a:solidFill>
                    <a:srgbClr val="231F20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delivered to</a:t>
              </a:r>
              <a:r>
                <a:rPr sz="700" kern="0" spc="50" dirty="0">
                  <a:solidFill>
                    <a:srgbClr val="231F20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 </a:t>
              </a:r>
              <a:r>
                <a:rPr sz="700" kern="0" spc="30" dirty="0">
                  <a:solidFill>
                    <a:srgbClr val="231F20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customers.</a:t>
              </a:r>
              <a:r>
                <a:rPr sz="700" kern="0" spc="50" dirty="0">
                  <a:solidFill>
                    <a:srgbClr val="231F20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 </a:t>
              </a:r>
              <a:r>
                <a:rPr sz="700" kern="0" spc="30" dirty="0">
                  <a:solidFill>
                    <a:srgbClr val="231F20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Shipping</a:t>
              </a:r>
              <a:r>
                <a:rPr sz="700" kern="0" spc="60" dirty="0">
                  <a:solidFill>
                    <a:srgbClr val="231F20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 </a:t>
              </a:r>
              <a:r>
                <a:rPr sz="700" kern="0" spc="30" dirty="0">
                  <a:solidFill>
                    <a:srgbClr val="231F20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is</a:t>
              </a:r>
              <a:r>
                <a:rPr sz="700" kern="0" spc="40" dirty="0">
                  <a:solidFill>
                    <a:srgbClr val="231F20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 </a:t>
              </a:r>
              <a:r>
                <a:rPr sz="700" kern="0" spc="30" dirty="0">
                  <a:solidFill>
                    <a:srgbClr val="231F20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a</a:t>
              </a:r>
              <a:r>
                <a:rPr sz="700" kern="0" spc="60" dirty="0">
                  <a:solidFill>
                    <a:srgbClr val="231F20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 </a:t>
              </a:r>
              <a:r>
                <a:rPr sz="700" kern="0" spc="30" dirty="0">
                  <a:solidFill>
                    <a:srgbClr val="231F20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recorded</a:t>
              </a:r>
              <a:r>
                <a:rPr sz="700" kern="0" spc="70" dirty="0">
                  <a:solidFill>
                    <a:srgbClr val="231F20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 </a:t>
              </a:r>
              <a:r>
                <a:rPr sz="700" kern="0" spc="30" dirty="0">
                  <a:solidFill>
                    <a:srgbClr val="231F20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business</a:t>
              </a:r>
              <a:r>
                <a:rPr sz="700" kern="0" spc="40" dirty="0">
                  <a:solidFill>
                    <a:srgbClr val="231F20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 </a:t>
              </a:r>
              <a:r>
                <a:rPr sz="700" kern="0" spc="30" dirty="0">
                  <a:solidFill>
                    <a:srgbClr val="231F20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decision</a:t>
              </a:r>
              <a:r>
                <a:rPr sz="700" kern="0" spc="0" dirty="0">
                  <a:solidFill>
                    <a:srgbClr val="231F20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               </a:t>
              </a:r>
              <a:r>
                <a:rPr sz="700" kern="0" spc="40" dirty="0">
                  <a:solidFill>
                    <a:srgbClr val="231F20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and should provide </a:t>
              </a:r>
              <a:r>
                <a:rPr sz="700" kern="0" spc="30" dirty="0">
                  <a:solidFill>
                    <a:srgbClr val="231F20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customer value and feedback.</a:t>
              </a:r>
              <a:endParaRPr sz="700" dirty="0">
                <a:latin typeface="Arial Narrow"/>
                <a:ea typeface="Arial Narrow"/>
                <a:cs typeface="Arial Narrow"/>
              </a:endParaRPr>
            </a:p>
            <a:p>
              <a:pPr marL="473710" indent="-62230" algn="l" rtl="0" eaLnBrk="0">
                <a:lnSpc>
                  <a:spcPct val="112000"/>
                </a:lnSpc>
                <a:spcBef>
                  <a:spcPts val="90"/>
                </a:spcBef>
                <a:tabLst/>
              </a:pPr>
              <a:r>
                <a:rPr sz="700" kern="0" spc="40" dirty="0">
                  <a:solidFill>
                    <a:srgbClr val="231F20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▪ The term </a:t>
              </a:r>
              <a:r>
                <a:rPr sz="700" kern="0" spc="30" dirty="0">
                  <a:solidFill>
                    <a:srgbClr val="231F20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“sample” is often used</a:t>
              </a:r>
              <a:r>
                <a:rPr sz="700" kern="0" spc="60" dirty="0">
                  <a:solidFill>
                    <a:srgbClr val="231F20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 </a:t>
              </a:r>
              <a:r>
                <a:rPr sz="700" kern="0" spc="30" dirty="0">
                  <a:solidFill>
                    <a:srgbClr val="231F20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in</a:t>
              </a:r>
              <a:r>
                <a:rPr sz="700" kern="0" spc="40" dirty="0">
                  <a:solidFill>
                    <a:srgbClr val="231F20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 </a:t>
              </a:r>
              <a:r>
                <a:rPr sz="700" kern="0" spc="30" dirty="0">
                  <a:solidFill>
                    <a:srgbClr val="231F20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automotive for a</a:t>
              </a:r>
              <a:r>
                <a:rPr sz="700" kern="0" spc="60" dirty="0">
                  <a:solidFill>
                    <a:srgbClr val="231F20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 </a:t>
              </a:r>
              <a:r>
                <a:rPr sz="700" kern="0" spc="30" dirty="0">
                  <a:solidFill>
                    <a:srgbClr val="231F20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larger shippable</a:t>
              </a:r>
              <a:r>
                <a:rPr sz="700" kern="0" spc="20" dirty="0">
                  <a:solidFill>
                    <a:srgbClr val="231F20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 </a:t>
              </a:r>
              <a:r>
                <a:rPr sz="700" kern="0" spc="30" dirty="0">
                  <a:solidFill>
                    <a:srgbClr val="231F20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work</a:t>
              </a:r>
              <a:r>
                <a:rPr sz="700" kern="0" spc="70" dirty="0">
                  <a:solidFill>
                    <a:srgbClr val="231F20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 </a:t>
              </a:r>
              <a:r>
                <a:rPr sz="700" kern="0" spc="30" dirty="0">
                  <a:solidFill>
                    <a:srgbClr val="231F20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increment</a:t>
              </a:r>
              <a:r>
                <a:rPr sz="700" kern="0" spc="40" dirty="0">
                  <a:solidFill>
                    <a:srgbClr val="231F20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 </a:t>
              </a:r>
              <a:r>
                <a:rPr sz="700" kern="0" spc="30" dirty="0">
                  <a:solidFill>
                    <a:srgbClr val="231F20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containing</a:t>
              </a:r>
              <a:r>
                <a:rPr sz="700" kern="0" spc="60" dirty="0">
                  <a:solidFill>
                    <a:srgbClr val="231F20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 </a:t>
              </a:r>
              <a:r>
                <a:rPr sz="700" kern="0" spc="30" dirty="0">
                  <a:solidFill>
                    <a:srgbClr val="231F20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results</a:t>
              </a:r>
              <a:r>
                <a:rPr sz="700" kern="0" spc="50" dirty="0">
                  <a:solidFill>
                    <a:srgbClr val="231F20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 </a:t>
              </a:r>
              <a:r>
                <a:rPr sz="700" kern="0" spc="30" dirty="0">
                  <a:solidFill>
                    <a:srgbClr val="231F20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of multiple</a:t>
              </a:r>
              <a:r>
                <a:rPr sz="700" kern="0" spc="0" dirty="0">
                  <a:solidFill>
                    <a:srgbClr val="231F20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                 </a:t>
              </a:r>
              <a:r>
                <a:rPr sz="700" kern="0" spc="30" dirty="0">
                  <a:solidFill>
                    <a:srgbClr val="231F20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iteration cycles and</a:t>
              </a:r>
              <a:r>
                <a:rPr sz="700" kern="0" spc="40" dirty="0">
                  <a:solidFill>
                    <a:srgbClr val="231F20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 </a:t>
              </a:r>
              <a:r>
                <a:rPr sz="700" kern="0" spc="30" dirty="0">
                  <a:solidFill>
                    <a:srgbClr val="231F20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disciplines</a:t>
              </a:r>
              <a:r>
                <a:rPr sz="700" kern="0" spc="20" dirty="0">
                  <a:solidFill>
                    <a:srgbClr val="231F20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.</a:t>
              </a:r>
              <a:endParaRPr sz="700" dirty="0">
                <a:latin typeface="Arial Narrow"/>
                <a:ea typeface="Arial Narrow"/>
                <a:cs typeface="Arial Narrow"/>
              </a:endParaRPr>
            </a:p>
            <a:p>
              <a:pPr marL="306070" indent="-3175" algn="l" rtl="0" eaLnBrk="0">
                <a:lnSpc>
                  <a:spcPct val="111000"/>
                </a:lnSpc>
                <a:spcBef>
                  <a:spcPts val="254"/>
                </a:spcBef>
                <a:tabLst/>
              </a:pPr>
              <a:r>
                <a:rPr sz="700" b="1" kern="0" spc="30" dirty="0">
                  <a:solidFill>
                    <a:srgbClr val="015AAA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Agile Work</a:t>
              </a:r>
              <a:r>
                <a:rPr sz="700" b="1" kern="0" spc="60" dirty="0">
                  <a:solidFill>
                    <a:srgbClr val="015AAA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 </a:t>
              </a:r>
              <a:r>
                <a:rPr sz="700" b="1" kern="0" spc="30" dirty="0">
                  <a:solidFill>
                    <a:srgbClr val="015AAA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Products:</a:t>
              </a:r>
              <a:r>
                <a:rPr sz="700" b="1" kern="0" spc="70" dirty="0">
                  <a:solidFill>
                    <a:srgbClr val="015AAA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 </a:t>
              </a:r>
              <a:r>
                <a:rPr sz="700" kern="0" spc="30" dirty="0">
                  <a:solidFill>
                    <a:srgbClr val="015AAA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Product backlog, Tasks (e.g., part of the</a:t>
              </a:r>
              <a:r>
                <a:rPr sz="700" kern="0" spc="60" dirty="0">
                  <a:solidFill>
                    <a:srgbClr val="015AAA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 </a:t>
              </a:r>
              <a:r>
                <a:rPr sz="700" kern="0" spc="30" dirty="0">
                  <a:solidFill>
                    <a:srgbClr val="015AAA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backlog),</a:t>
              </a:r>
              <a:r>
                <a:rPr sz="700" kern="0" spc="70" dirty="0">
                  <a:solidFill>
                    <a:srgbClr val="015AAA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 </a:t>
              </a:r>
              <a:r>
                <a:rPr sz="700" kern="0" spc="30" dirty="0">
                  <a:solidFill>
                    <a:srgbClr val="015AAA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Plan for the</a:t>
              </a:r>
              <a:r>
                <a:rPr sz="700" kern="0" spc="70" dirty="0">
                  <a:solidFill>
                    <a:srgbClr val="015AAA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 </a:t>
              </a:r>
              <a:r>
                <a:rPr sz="700" kern="0" spc="30" dirty="0">
                  <a:solidFill>
                    <a:srgbClr val="015AAA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upcoming</a:t>
              </a:r>
              <a:r>
                <a:rPr sz="700" kern="0" spc="40" dirty="0">
                  <a:solidFill>
                    <a:srgbClr val="015AAA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 </a:t>
              </a:r>
              <a:r>
                <a:rPr sz="700" kern="0" spc="30" dirty="0">
                  <a:solidFill>
                    <a:srgbClr val="015AAA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activities</a:t>
              </a:r>
              <a:r>
                <a:rPr sz="700" kern="0" spc="60" dirty="0">
                  <a:solidFill>
                    <a:srgbClr val="015AAA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 </a:t>
              </a:r>
              <a:r>
                <a:rPr sz="700" kern="0" spc="30" dirty="0">
                  <a:solidFill>
                    <a:srgbClr val="015AAA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in</a:t>
              </a:r>
              <a:r>
                <a:rPr sz="700" kern="0" spc="40" dirty="0">
                  <a:solidFill>
                    <a:srgbClr val="015AAA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 </a:t>
              </a:r>
              <a:r>
                <a:rPr sz="700" kern="0" spc="30" dirty="0">
                  <a:solidFill>
                    <a:srgbClr val="015AAA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a task</a:t>
              </a:r>
              <a:r>
                <a:rPr sz="700" kern="0" spc="70" dirty="0">
                  <a:solidFill>
                    <a:srgbClr val="015AAA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 </a:t>
              </a:r>
              <a:r>
                <a:rPr sz="700" kern="0" spc="30" dirty="0">
                  <a:solidFill>
                    <a:srgbClr val="015AAA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li</a:t>
              </a:r>
              <a:r>
                <a:rPr sz="700" kern="0" spc="20" dirty="0">
                  <a:solidFill>
                    <a:srgbClr val="015AAA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st,</a:t>
              </a:r>
              <a:r>
                <a:rPr sz="700" kern="0" spc="0" dirty="0">
                  <a:solidFill>
                    <a:srgbClr val="015AAA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             </a:t>
              </a:r>
              <a:r>
                <a:rPr sz="700" kern="0" spc="40" dirty="0">
                  <a:solidFill>
                    <a:srgbClr val="015AAA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Shippable work </a:t>
              </a:r>
              <a:r>
                <a:rPr sz="700" kern="0" spc="30" dirty="0">
                  <a:solidFill>
                    <a:srgbClr val="015AAA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increment (SWI)</a:t>
              </a:r>
              <a:r>
                <a:rPr sz="700" kern="0" spc="50" dirty="0">
                  <a:solidFill>
                    <a:srgbClr val="015AAA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 </a:t>
              </a:r>
              <a:r>
                <a:rPr sz="700" kern="0" spc="30" dirty="0">
                  <a:solidFill>
                    <a:srgbClr val="015AAA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=</a:t>
              </a:r>
              <a:r>
                <a:rPr sz="700" kern="0" spc="70" dirty="0">
                  <a:solidFill>
                    <a:srgbClr val="015AAA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 </a:t>
              </a:r>
              <a:r>
                <a:rPr sz="700" kern="0" spc="30" dirty="0">
                  <a:solidFill>
                    <a:srgbClr val="015AAA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Release</a:t>
              </a:r>
              <a:endParaRPr sz="700" dirty="0">
                <a:latin typeface="Arial Narrow"/>
                <a:ea typeface="Arial Narrow"/>
                <a:cs typeface="Arial Narrow"/>
              </a:endParaRPr>
            </a:p>
            <a:p>
              <a:pPr marL="306070" algn="l" rtl="0" eaLnBrk="0">
                <a:lnSpc>
                  <a:spcPts val="1079"/>
                </a:lnSpc>
                <a:tabLst/>
              </a:pPr>
              <a:r>
                <a:rPr sz="700" b="1" kern="0" spc="0" dirty="0">
                  <a:solidFill>
                    <a:srgbClr val="015AAA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Supporting</a:t>
              </a:r>
              <a:r>
                <a:rPr sz="700" b="1" kern="0" spc="40" dirty="0">
                  <a:solidFill>
                    <a:srgbClr val="015AAA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 </a:t>
              </a:r>
              <a:r>
                <a:rPr sz="700" b="1" kern="0" spc="0" dirty="0">
                  <a:solidFill>
                    <a:srgbClr val="015AAA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Agile</a:t>
              </a:r>
              <a:r>
                <a:rPr sz="700" b="1" kern="0" spc="60" dirty="0">
                  <a:solidFill>
                    <a:srgbClr val="015AAA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 </a:t>
              </a:r>
              <a:r>
                <a:rPr sz="700" b="1" kern="0" spc="0" dirty="0">
                  <a:solidFill>
                    <a:srgbClr val="015AAA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Principles</a:t>
              </a:r>
              <a:r>
                <a:rPr sz="700" b="1" kern="0" spc="120" dirty="0">
                  <a:solidFill>
                    <a:srgbClr val="015AAA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 </a:t>
              </a:r>
              <a:r>
                <a:rPr sz="700" i="1" kern="0" spc="40" dirty="0">
                  <a:solidFill>
                    <a:srgbClr val="015AAA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1,</a:t>
              </a:r>
              <a:r>
                <a:rPr sz="700" i="1" kern="0" spc="60" dirty="0">
                  <a:solidFill>
                    <a:srgbClr val="015AAA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 </a:t>
              </a:r>
              <a:r>
                <a:rPr sz="700" i="1" kern="0" spc="40" dirty="0">
                  <a:solidFill>
                    <a:srgbClr val="015AAA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3, 4,</a:t>
              </a:r>
              <a:r>
                <a:rPr sz="700" i="1" kern="0" spc="60" dirty="0">
                  <a:solidFill>
                    <a:srgbClr val="015AAA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 </a:t>
              </a:r>
              <a:r>
                <a:rPr sz="700" i="1" kern="0" spc="40" dirty="0">
                  <a:solidFill>
                    <a:srgbClr val="015AAA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5,</a:t>
              </a:r>
              <a:r>
                <a:rPr sz="700" i="1" kern="0" spc="100" dirty="0">
                  <a:solidFill>
                    <a:srgbClr val="015AAA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 </a:t>
              </a:r>
              <a:r>
                <a:rPr sz="700" i="1" kern="0" spc="40" dirty="0">
                  <a:solidFill>
                    <a:srgbClr val="015AAA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7,</a:t>
              </a:r>
              <a:r>
                <a:rPr sz="700" i="1" kern="0" spc="70" dirty="0">
                  <a:solidFill>
                    <a:srgbClr val="015AAA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 </a:t>
              </a:r>
              <a:r>
                <a:rPr sz="700" i="1" kern="0" spc="40" dirty="0">
                  <a:solidFill>
                    <a:srgbClr val="015AAA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8,</a:t>
              </a:r>
              <a:r>
                <a:rPr sz="700" i="1" kern="0" spc="60" dirty="0">
                  <a:solidFill>
                    <a:srgbClr val="015AAA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 </a:t>
              </a:r>
              <a:r>
                <a:rPr sz="700" i="1" kern="0" spc="40" dirty="0">
                  <a:solidFill>
                    <a:srgbClr val="015AAA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9,</a:t>
              </a:r>
              <a:r>
                <a:rPr sz="700" i="1" kern="0" spc="120" dirty="0">
                  <a:solidFill>
                    <a:srgbClr val="015AAA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 </a:t>
              </a:r>
              <a:r>
                <a:rPr sz="700" i="1" kern="0" spc="40" dirty="0">
                  <a:solidFill>
                    <a:srgbClr val="015AAA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10,</a:t>
              </a:r>
              <a:r>
                <a:rPr sz="700" i="1" kern="0" spc="120" dirty="0">
                  <a:solidFill>
                    <a:srgbClr val="015AAA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 </a:t>
              </a:r>
              <a:r>
                <a:rPr sz="700" i="1" kern="0" spc="30" dirty="0">
                  <a:solidFill>
                    <a:srgbClr val="015AAA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11,</a:t>
              </a:r>
              <a:r>
                <a:rPr sz="700" i="1" kern="0" spc="120" dirty="0">
                  <a:solidFill>
                    <a:srgbClr val="015AAA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 </a:t>
              </a:r>
              <a:r>
                <a:rPr sz="700" i="1" kern="0" spc="30" dirty="0">
                  <a:solidFill>
                    <a:srgbClr val="015AAA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12</a:t>
              </a:r>
              <a:endParaRPr sz="700" dirty="0">
                <a:latin typeface="Arial Narrow"/>
                <a:ea typeface="Arial Narrow"/>
                <a:cs typeface="Arial Narrow"/>
              </a:endParaRPr>
            </a:p>
          </p:txBody>
        </p:sp>
        <p:sp>
          <p:nvSpPr>
            <p:cNvPr id="232" name="textbox 232"/>
            <p:cNvSpPr/>
            <p:nvPr/>
          </p:nvSpPr>
          <p:spPr>
            <a:xfrm>
              <a:off x="48616" y="82627"/>
              <a:ext cx="161925" cy="9080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3799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71000"/>
                </a:lnSpc>
                <a:tabLst/>
              </a:pPr>
              <a:r>
                <a:rPr sz="600" b="1" kern="0" spc="30" dirty="0">
                  <a:solidFill>
                    <a:srgbClr val="FFFFFF">
                      <a:alpha val="100000"/>
                    </a:srgbClr>
                  </a:solidFill>
                  <a:latin typeface="Arial Narrow"/>
                  <a:ea typeface="Arial Narrow"/>
                  <a:cs typeface="Arial Narrow"/>
                </a:rPr>
                <a:t>BP8</a:t>
              </a:r>
              <a:endParaRPr sz="600" dirty="0">
                <a:latin typeface="Arial Narrow"/>
                <a:ea typeface="Arial Narrow"/>
                <a:cs typeface="Arial Narrow"/>
              </a:endParaRPr>
            </a:p>
          </p:txBody>
        </p:sp>
      </p:grpSp>
      <p:sp>
        <p:nvSpPr>
          <p:cNvPr id="234" name="textbox 234"/>
          <p:cNvSpPr/>
          <p:nvPr/>
        </p:nvSpPr>
        <p:spPr>
          <a:xfrm>
            <a:off x="288012" y="396005"/>
            <a:ext cx="4968240" cy="137160"/>
          </a:xfrm>
          <a:prstGeom prst="rect">
            <a:avLst/>
          </a:prstGeom>
          <a:solidFill>
            <a:srgbClr val="015AAA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4000"/>
              </a:lnSpc>
              <a:tabLst/>
            </a:pPr>
            <a:endParaRPr sz="200" dirty="0">
              <a:latin typeface="Arial"/>
              <a:ea typeface="Arial"/>
              <a:cs typeface="Arial"/>
            </a:endParaRPr>
          </a:p>
          <a:p>
            <a:pPr marL="39370" algn="l" rtl="0" eaLnBrk="0">
              <a:lnSpc>
                <a:spcPct val="89000"/>
              </a:lnSpc>
              <a:spcBef>
                <a:spcPts val="1"/>
              </a:spcBef>
              <a:tabLst/>
            </a:pPr>
            <a:r>
              <a:rPr sz="700" b="1" kern="0" spc="30" dirty="0">
                <a:solidFill>
                  <a:srgbClr val="FFFFFF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Base</a:t>
            </a:r>
            <a:r>
              <a:rPr sz="700" b="1" kern="0" spc="70" dirty="0">
                <a:solidFill>
                  <a:srgbClr val="FFFFFF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b="1" kern="0" spc="30" dirty="0">
                <a:solidFill>
                  <a:srgbClr val="FFFFFF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practices</a:t>
            </a:r>
            <a:endParaRPr sz="700" dirty="0">
              <a:latin typeface="Arial Narrow"/>
              <a:ea typeface="Arial Narrow"/>
              <a:cs typeface="Arial Narrow"/>
            </a:endParaRPr>
          </a:p>
        </p:txBody>
      </p:sp>
      <p:sp>
        <p:nvSpPr>
          <p:cNvPr id="236" name="textbox 236"/>
          <p:cNvSpPr/>
          <p:nvPr/>
        </p:nvSpPr>
        <p:spPr>
          <a:xfrm>
            <a:off x="2729492" y="3644904"/>
            <a:ext cx="2538730" cy="18859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10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9000"/>
              </a:lnSpc>
              <a:tabLst/>
            </a:pPr>
            <a:r>
              <a:rPr sz="900" b="1" kern="0" spc="30" baseline="-17362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19</a:t>
            </a:r>
            <a:r>
              <a:rPr sz="500" b="1" kern="0" spc="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                                                                                                                 </a:t>
            </a:r>
            <a:r>
              <a:rPr sz="900" kern="0" spc="30" dirty="0">
                <a:solidFill>
                  <a:srgbClr val="0E3654">
                    <a:alpha val="100000"/>
                  </a:srgbClr>
                </a:solidFill>
                <a:latin typeface="Arial"/>
                <a:ea typeface="Arial"/>
                <a:cs typeface="Arial"/>
              </a:rPr>
              <a:t>intacs.</a:t>
            </a:r>
            <a:r>
              <a:rPr sz="900" kern="0" spc="-60" dirty="0">
                <a:solidFill>
                  <a:srgbClr val="0E365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30" dirty="0">
                <a:solidFill>
                  <a:srgbClr val="0E3654">
                    <a:alpha val="100000"/>
                  </a:srgbClr>
                </a:solidFill>
                <a:latin typeface="Arial"/>
                <a:ea typeface="Arial"/>
                <a:cs typeface="Arial"/>
              </a:rPr>
              <a:t>infoulal</a:t>
            </a:r>
            <a:endParaRPr sz="9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5766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508885" algn="l" rtl="0" eaLnBrk="0">
              <a:lnSpc>
                <a:spcPts val="126"/>
              </a:lnSpc>
              <a:tabLst/>
            </a:pPr>
            <a:r>
              <a:rPr sz="100" kern="0" spc="20" dirty="0">
                <a:solidFill>
                  <a:srgbClr val="0E3654">
                    <a:alpha val="100000"/>
                  </a:srgbClr>
                </a:solidFill>
                <a:latin typeface="Arial"/>
                <a:ea typeface="Arial"/>
                <a:cs typeface="Arial"/>
              </a:rPr>
              <a:t>M</a:t>
            </a:r>
            <a:endParaRPr sz="100" dirty="0">
              <a:latin typeface="Arial"/>
              <a:ea typeface="Arial"/>
              <a:cs typeface="Arial"/>
            </a:endParaRPr>
          </a:p>
        </p:txBody>
      </p:sp>
      <p:pic>
        <p:nvPicPr>
          <p:cNvPr id="238" name="picture 23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4481109" y="3788264"/>
            <a:ext cx="755282" cy="31932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rect 240"/>
          <p:cNvSpPr/>
          <p:nvPr/>
        </p:nvSpPr>
        <p:spPr>
          <a:xfrm>
            <a:off x="287988" y="590388"/>
            <a:ext cx="4968714" cy="1903402"/>
          </a:xfrm>
          <a:prstGeom prst="rect">
            <a:avLst/>
          </a:prstGeom>
          <a:solidFill>
            <a:srgbClr val="E8EBF6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42" name="textbox 242"/>
          <p:cNvSpPr/>
          <p:nvPr/>
        </p:nvSpPr>
        <p:spPr>
          <a:xfrm>
            <a:off x="581302" y="603598"/>
            <a:ext cx="4431030" cy="16941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270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5240" indent="2540" algn="l" rtl="0" eaLnBrk="0">
              <a:lnSpc>
                <a:spcPct val="111000"/>
              </a:lnSpc>
              <a:tabLst/>
            </a:pPr>
            <a:r>
              <a:rPr sz="700" b="1" kern="0" spc="4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Inspect and Adapt.</a:t>
            </a:r>
            <a:r>
              <a:rPr sz="700" b="1" kern="0" spc="8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Inspect,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measure and visualize the status and</a:t>
            </a:r>
            <a:r>
              <a:rPr sz="700" kern="0" spc="6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progress of work.</a:t>
            </a:r>
            <a:r>
              <a:rPr sz="700" kern="0" spc="-2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Adapt as</a:t>
            </a:r>
            <a:r>
              <a:rPr sz="700" kern="0" spc="6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needed to</a:t>
            </a:r>
            <a:r>
              <a:rPr sz="700" kern="0" spc="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                         </a:t>
            </a: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ensure consistency and to manage impact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s on strategic</a:t>
            </a: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themes</a:t>
            </a: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and vision.</a:t>
            </a:r>
            <a:r>
              <a:rPr sz="700" kern="0" spc="7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[OUTCOME</a:t>
            </a:r>
            <a:r>
              <a:rPr sz="700" kern="0" spc="4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9]</a:t>
            </a:r>
            <a:endParaRPr sz="700" dirty="0">
              <a:latin typeface="Arial Narrow"/>
              <a:ea typeface="Arial Narrow"/>
              <a:cs typeface="Arial Narrow"/>
            </a:endParaRPr>
          </a:p>
          <a:p>
            <a:pPr marL="18415" algn="l" rtl="0" eaLnBrk="0">
              <a:lnSpc>
                <a:spcPct val="76000"/>
              </a:lnSpc>
              <a:spcBef>
                <a:spcPts val="221"/>
              </a:spcBef>
              <a:tabLst/>
            </a:pPr>
            <a:r>
              <a:rPr sz="700" b="1" kern="0" spc="3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Notes &amp;</a:t>
            </a:r>
            <a:r>
              <a:rPr sz="700" b="1" kern="0" spc="11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b="1" kern="0" spc="3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Definitions:</a:t>
            </a:r>
            <a:endParaRPr sz="700" dirty="0">
              <a:latin typeface="Arial Narrow"/>
              <a:ea typeface="Arial Narrow"/>
              <a:cs typeface="Arial Narrow"/>
            </a:endParaRPr>
          </a:p>
          <a:p>
            <a:pPr marL="182245" indent="-61595" algn="l" rtl="0" eaLnBrk="0">
              <a:lnSpc>
                <a:spcPct val="113000"/>
              </a:lnSpc>
              <a:spcBef>
                <a:spcPts val="242"/>
              </a:spcBef>
              <a:tabLst/>
            </a:pP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▪</a:t>
            </a:r>
            <a:r>
              <a:rPr sz="700" kern="0" spc="7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Intervals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and events to inspect the status depend</a:t>
            </a: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on</a:t>
            </a: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the</a:t>
            </a: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complexity</a:t>
            </a: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of the</a:t>
            </a:r>
            <a:r>
              <a:rPr sz="700" kern="0" spc="7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product</a:t>
            </a: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and team</a:t>
            </a: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of teams</a:t>
            </a:r>
            <a:r>
              <a:rPr sz="700" kern="0" spc="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                        </a:t>
            </a: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(e.g., small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iterations on team level and</a:t>
            </a:r>
            <a:r>
              <a:rPr sz="700" kern="0" spc="6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larger</a:t>
            </a:r>
            <a:r>
              <a:rPr sz="700" kern="0" spc="5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increments</a:t>
            </a: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on</a:t>
            </a: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team</a:t>
            </a: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of teams or</a:t>
            </a:r>
            <a:r>
              <a:rPr sz="700" kern="0" spc="5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program</a:t>
            </a:r>
            <a:r>
              <a:rPr sz="700" kern="0" spc="6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level).</a:t>
            </a:r>
            <a:endParaRPr sz="700" dirty="0">
              <a:latin typeface="Arial Narrow"/>
              <a:ea typeface="Arial Narrow"/>
              <a:cs typeface="Arial Narrow"/>
            </a:endParaRPr>
          </a:p>
          <a:p>
            <a:pPr marL="120650" algn="l" rtl="0" eaLnBrk="0">
              <a:lnSpc>
                <a:spcPct val="90000"/>
              </a:lnSpc>
              <a:spcBef>
                <a:spcPts val="223"/>
              </a:spcBef>
              <a:tabLst/>
            </a:pP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▪ Typically, progress and status of work of a team</a:t>
            </a:r>
            <a:r>
              <a:rPr sz="700" kern="0" spc="6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is visible and</a:t>
            </a:r>
            <a:r>
              <a:rPr sz="700" kern="0" spc="6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reviewed</a:t>
            </a: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da</a:t>
            </a:r>
            <a:r>
              <a:rPr sz="700" kern="0" spc="2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ily.</a:t>
            </a:r>
            <a:endParaRPr sz="700" dirty="0">
              <a:latin typeface="Arial Narrow"/>
              <a:ea typeface="Arial Narrow"/>
              <a:cs typeface="Arial Narrow"/>
            </a:endParaRPr>
          </a:p>
          <a:p>
            <a:pPr marL="183515" indent="-62864" algn="l" rtl="0" eaLnBrk="0">
              <a:lnSpc>
                <a:spcPct val="113000"/>
              </a:lnSpc>
              <a:spcBef>
                <a:spcPts val="123"/>
              </a:spcBef>
              <a:tabLst/>
            </a:pP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▪</a:t>
            </a:r>
            <a:r>
              <a:rPr sz="700" kern="0" spc="1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Measurements are typically related to team (of teams) capacity, velocity,</a:t>
            </a: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and</a:t>
            </a:r>
            <a:r>
              <a:rPr sz="700" kern="0" spc="6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rate</a:t>
            </a: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of completion</a:t>
            </a:r>
            <a:r>
              <a:rPr sz="700" kern="0" spc="7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based</a:t>
            </a: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on</a:t>
            </a: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agreed to</a:t>
            </a:r>
            <a:r>
              <a:rPr sz="700" kern="0" spc="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Definition of Ready and</a:t>
            </a:r>
            <a:r>
              <a:rPr sz="700" kern="0" spc="7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Definition</a:t>
            </a: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of</a:t>
            </a:r>
            <a:r>
              <a:rPr sz="700" kern="0" spc="5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Done</a:t>
            </a:r>
            <a:r>
              <a:rPr sz="700" kern="0" spc="2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.</a:t>
            </a:r>
            <a:endParaRPr sz="700" dirty="0">
              <a:latin typeface="Arial Narrow"/>
              <a:ea typeface="Arial Narrow"/>
              <a:cs typeface="Arial Narrow"/>
            </a:endParaRPr>
          </a:p>
          <a:p>
            <a:pPr marL="120650" algn="l" rtl="0" eaLnBrk="0">
              <a:lnSpc>
                <a:spcPct val="89000"/>
              </a:lnSpc>
              <a:spcBef>
                <a:spcPts val="232"/>
              </a:spcBef>
              <a:tabLst/>
            </a:pP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▪ The status is usually visible on demand</a:t>
            </a:r>
            <a:r>
              <a:rPr sz="700" kern="0" spc="11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at</a:t>
            </a: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any time</a:t>
            </a:r>
            <a:r>
              <a:rPr sz="700" kern="0" spc="7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by</a:t>
            </a:r>
            <a:r>
              <a:rPr sz="700" kern="0" spc="6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physical</a:t>
            </a: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or online team</a:t>
            </a:r>
            <a:r>
              <a:rPr sz="700" kern="0" spc="6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boards</a:t>
            </a:r>
            <a:r>
              <a:rPr sz="700" kern="0" spc="5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or charts.</a:t>
            </a:r>
            <a:endParaRPr sz="700" dirty="0">
              <a:latin typeface="Arial Narrow"/>
              <a:ea typeface="Arial Narrow"/>
              <a:cs typeface="Arial Narrow"/>
            </a:endParaRPr>
          </a:p>
          <a:p>
            <a:pPr marL="179070" indent="-58420" algn="l" rtl="0" eaLnBrk="0">
              <a:lnSpc>
                <a:spcPct val="113000"/>
              </a:lnSpc>
              <a:spcBef>
                <a:spcPts val="123"/>
              </a:spcBef>
              <a:tabLst/>
            </a:pP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▪ Transparency supports ac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hieving consistency among current and overall</a:t>
            </a:r>
            <a:r>
              <a:rPr sz="700" kern="0" spc="6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planning,</a:t>
            </a:r>
            <a:r>
              <a:rPr sz="700" kern="0" spc="6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product</a:t>
            </a:r>
            <a:r>
              <a:rPr sz="700" kern="0" spc="6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backlog,</a:t>
            </a: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team</a:t>
            </a: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skills</a:t>
            </a: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and</a:t>
            </a:r>
            <a:r>
              <a:rPr sz="700" kern="0" spc="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team capa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city to ensure a</a:t>
            </a: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sustainable</a:t>
            </a:r>
            <a:r>
              <a:rPr sz="700" kern="0" spc="6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pace.</a:t>
            </a:r>
            <a:endParaRPr sz="700" dirty="0">
              <a:latin typeface="Arial Narrow"/>
              <a:ea typeface="Arial Narrow"/>
              <a:cs typeface="Arial Narrow"/>
            </a:endParaRPr>
          </a:p>
          <a:p>
            <a:pPr algn="l" rtl="0" eaLnBrk="0">
              <a:lnSpc>
                <a:spcPct val="108000"/>
              </a:lnSpc>
              <a:tabLst/>
            </a:pPr>
            <a:endParaRPr sz="200" dirty="0">
              <a:latin typeface="Arial"/>
              <a:ea typeface="Arial"/>
              <a:cs typeface="Arial"/>
            </a:endParaRPr>
          </a:p>
          <a:p>
            <a:pPr marL="15240" indent="-2540" algn="l" rtl="0" eaLnBrk="0">
              <a:lnSpc>
                <a:spcPct val="125000"/>
              </a:lnSpc>
              <a:spcBef>
                <a:spcPts val="1"/>
              </a:spcBef>
              <a:tabLst/>
            </a:pPr>
            <a:r>
              <a:rPr sz="700" b="1" kern="0" spc="4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Agile Work</a:t>
            </a:r>
            <a:r>
              <a:rPr sz="700" b="1" kern="0" spc="6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b="1" kern="0" spc="4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Pro</a:t>
            </a:r>
            <a:r>
              <a:rPr sz="700" b="1" kern="0" spc="3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ducts: </a:t>
            </a:r>
            <a:r>
              <a:rPr sz="700" i="1" kern="0" spc="3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Reporting,</a:t>
            </a:r>
            <a:r>
              <a:rPr sz="700" i="1" kern="0" spc="9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3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Tasks,</a:t>
            </a:r>
            <a:r>
              <a:rPr sz="700" i="1" kern="0" spc="7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3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(updated) Product backlog,</a:t>
            </a:r>
            <a:r>
              <a:rPr sz="700" i="1" kern="0" spc="8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3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(updated)</a:t>
            </a:r>
            <a:r>
              <a:rPr sz="700" i="1" kern="0" spc="10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3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Vision and strategic themes</a:t>
            </a:r>
            <a:r>
              <a:rPr sz="700" i="1" kern="0" spc="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                    </a:t>
            </a:r>
            <a:r>
              <a:rPr sz="700" b="1" kern="0" spc="3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Supporting Agil</a:t>
            </a:r>
            <a:r>
              <a:rPr sz="700" b="1" kern="0" spc="2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e</a:t>
            </a:r>
            <a:r>
              <a:rPr sz="700" b="1" kern="0" spc="6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b="1" kern="0" spc="2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Principles</a:t>
            </a:r>
            <a:r>
              <a:rPr sz="700" b="1" kern="0" spc="12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2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1,</a:t>
            </a:r>
            <a:r>
              <a:rPr sz="700" i="1" kern="0" spc="7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2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5,</a:t>
            </a:r>
            <a:r>
              <a:rPr sz="700" i="1" kern="0" spc="7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2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6,</a:t>
            </a:r>
            <a:r>
              <a:rPr sz="700" i="1" kern="0" spc="10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2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7,</a:t>
            </a:r>
            <a:r>
              <a:rPr sz="700" i="1" kern="0" spc="7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2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8</a:t>
            </a:r>
            <a:endParaRPr sz="700" dirty="0">
              <a:latin typeface="Arial Narrow"/>
              <a:ea typeface="Arial Narrow"/>
              <a:cs typeface="Arial Narrow"/>
            </a:endParaRPr>
          </a:p>
        </p:txBody>
      </p:sp>
      <p:sp>
        <p:nvSpPr>
          <p:cNvPr id="244" name="textbox 244"/>
          <p:cNvSpPr/>
          <p:nvPr/>
        </p:nvSpPr>
        <p:spPr>
          <a:xfrm>
            <a:off x="288012" y="396005"/>
            <a:ext cx="4968240" cy="137160"/>
          </a:xfrm>
          <a:prstGeom prst="rect">
            <a:avLst/>
          </a:prstGeom>
          <a:solidFill>
            <a:srgbClr val="015AAA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4000"/>
              </a:lnSpc>
              <a:tabLst/>
            </a:pPr>
            <a:endParaRPr sz="200" dirty="0">
              <a:latin typeface="Arial"/>
              <a:ea typeface="Arial"/>
              <a:cs typeface="Arial"/>
            </a:endParaRPr>
          </a:p>
          <a:p>
            <a:pPr marL="40005" algn="l" rtl="0" eaLnBrk="0">
              <a:lnSpc>
                <a:spcPct val="89000"/>
              </a:lnSpc>
              <a:spcBef>
                <a:spcPts val="1"/>
              </a:spcBef>
              <a:tabLst/>
            </a:pPr>
            <a:r>
              <a:rPr sz="700" b="1" kern="0" spc="30" dirty="0">
                <a:solidFill>
                  <a:srgbClr val="FFFFFF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Base</a:t>
            </a:r>
            <a:r>
              <a:rPr sz="700" b="1" kern="0" spc="70" dirty="0">
                <a:solidFill>
                  <a:srgbClr val="FFFFFF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b="1" kern="0" spc="30" dirty="0">
                <a:solidFill>
                  <a:srgbClr val="FFFFFF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practices</a:t>
            </a:r>
            <a:endParaRPr sz="700" dirty="0">
              <a:latin typeface="Arial Narrow"/>
              <a:ea typeface="Arial Narrow"/>
              <a:cs typeface="Arial Narrow"/>
            </a:endParaRPr>
          </a:p>
        </p:txBody>
      </p:sp>
      <p:sp>
        <p:nvSpPr>
          <p:cNvPr id="246" name="textbox 246"/>
          <p:cNvSpPr/>
          <p:nvPr/>
        </p:nvSpPr>
        <p:spPr>
          <a:xfrm>
            <a:off x="2726139" y="3644904"/>
            <a:ext cx="2543175" cy="1727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09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tabLst/>
            </a:pPr>
            <a:r>
              <a:rPr sz="500" b="1" kern="0" spc="1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20                                  </a:t>
            </a:r>
            <a:r>
              <a:rPr sz="500" b="1" kern="0" spc="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                                                                             </a:t>
            </a:r>
            <a:r>
              <a:rPr sz="1000" u="sng" kern="0" spc="0" dirty="0">
                <a:solidFill>
                  <a:srgbClr val="0E3654">
                    <a:alpha val="100000"/>
                  </a:srgbClr>
                </a:solidFill>
                <a:latin typeface="Arial"/>
                <a:ea typeface="Arial"/>
                <a:cs typeface="Arial"/>
              </a:rPr>
              <a:t>intacs</a:t>
            </a:r>
            <a:r>
              <a:rPr sz="1000" u="sng" kern="0" spc="0" dirty="0">
                <a:solidFill>
                  <a:srgbClr val="0E3654">
                    <a:alpha val="100000"/>
                  </a:srgbClr>
                </a:solidFill>
                <a:latin typeface="Arial"/>
                <a:ea typeface="Arial"/>
                <a:cs typeface="Arial"/>
              </a:rPr>
              <a:t>.</a:t>
            </a:r>
            <a:r>
              <a:rPr sz="1000" u="sng" kern="0" spc="-180" dirty="0">
                <a:solidFill>
                  <a:srgbClr val="0E365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u="sng" kern="0" spc="0" dirty="0">
                <a:solidFill>
                  <a:srgbClr val="0E3654">
                    <a:alpha val="100000"/>
                  </a:srgbClr>
                </a:solidFill>
                <a:latin typeface="Arial"/>
                <a:ea typeface="Arial"/>
                <a:cs typeface="Arial"/>
              </a:rPr>
              <a:t>infoul</a:t>
            </a:r>
            <a:r>
              <a:rPr sz="1000" kern="0" spc="0" dirty="0">
                <a:solidFill>
                  <a:srgbClr val="0E3654">
                    <a:alpha val="100000"/>
                  </a:srgbClr>
                </a:solidFill>
                <a:latin typeface="Arial"/>
                <a:ea typeface="Arial"/>
                <a:cs typeface="Arial"/>
              </a:rPr>
              <a:t>al</a:t>
            </a:r>
            <a:endParaRPr sz="1000" dirty="0">
              <a:latin typeface="Arial"/>
              <a:ea typeface="Arial"/>
              <a:cs typeface="Arial"/>
            </a:endParaRPr>
          </a:p>
        </p:txBody>
      </p:sp>
      <p:sp>
        <p:nvSpPr>
          <p:cNvPr id="248" name="textbox 248"/>
          <p:cNvSpPr/>
          <p:nvPr/>
        </p:nvSpPr>
        <p:spPr>
          <a:xfrm>
            <a:off x="1194082" y="3500902"/>
            <a:ext cx="3164205" cy="1181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96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6000"/>
              </a:lnSpc>
              <a:tabLst/>
            </a:pPr>
            <a:r>
              <a:rPr sz="800" b="1" kern="0" spc="160" dirty="0">
                <a:solidFill>
                  <a:srgbClr val="808285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DRAFT -</a:t>
            </a:r>
            <a:r>
              <a:rPr sz="800" b="1" kern="0" spc="140" dirty="0">
                <a:solidFill>
                  <a:srgbClr val="808285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800" b="1" kern="0" spc="160" dirty="0">
                <a:solidFill>
                  <a:srgbClr val="808285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REA</a:t>
            </a:r>
            <a:r>
              <a:rPr sz="800" b="1" kern="0" spc="150" dirty="0">
                <a:solidFill>
                  <a:srgbClr val="808285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DY FOR</a:t>
            </a:r>
            <a:r>
              <a:rPr sz="800" b="1" kern="0" spc="140" dirty="0">
                <a:solidFill>
                  <a:srgbClr val="808285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800" b="1" kern="0" spc="150" dirty="0">
                <a:solidFill>
                  <a:srgbClr val="808285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PILOTING</a:t>
            </a:r>
            <a:r>
              <a:rPr sz="800" b="1" kern="0" spc="140" dirty="0">
                <a:solidFill>
                  <a:srgbClr val="808285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800" b="1" kern="0" spc="150" dirty="0">
                <a:solidFill>
                  <a:srgbClr val="808285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-</a:t>
            </a:r>
            <a:r>
              <a:rPr sz="800" b="1" kern="0" spc="140" dirty="0">
                <a:solidFill>
                  <a:srgbClr val="808285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800" b="1" kern="0" spc="150" dirty="0">
                <a:solidFill>
                  <a:srgbClr val="808285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FEEDBACK WELCOME</a:t>
            </a:r>
            <a:endParaRPr sz="800" dirty="0">
              <a:latin typeface="Arial Narrow"/>
              <a:ea typeface="Arial Narrow"/>
              <a:cs typeface="Arial Narrow"/>
            </a:endParaRPr>
          </a:p>
        </p:txBody>
      </p:sp>
      <p:sp>
        <p:nvSpPr>
          <p:cNvPr id="250" name="textbox 250"/>
          <p:cNvSpPr/>
          <p:nvPr/>
        </p:nvSpPr>
        <p:spPr>
          <a:xfrm>
            <a:off x="336605" y="673003"/>
            <a:ext cx="161925" cy="9461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56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5000"/>
              </a:lnSpc>
              <a:tabLst/>
            </a:pPr>
            <a:r>
              <a:rPr sz="600" b="1" kern="0" spc="30" dirty="0">
                <a:solidFill>
                  <a:srgbClr val="FFFFFF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BP9</a:t>
            </a:r>
            <a:endParaRPr sz="600" dirty="0">
              <a:latin typeface="Arial Narrow"/>
              <a:ea typeface="Arial Narrow"/>
              <a:cs typeface="Arial Narrow"/>
            </a:endParaRPr>
          </a:p>
        </p:txBody>
      </p:sp>
      <p:sp>
        <p:nvSpPr>
          <p:cNvPr id="252" name="textbox 252"/>
          <p:cNvSpPr/>
          <p:nvPr/>
        </p:nvSpPr>
        <p:spPr>
          <a:xfrm>
            <a:off x="5226288" y="3775564"/>
            <a:ext cx="41275" cy="419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26"/>
              </a:lnSpc>
              <a:tabLst/>
            </a:pPr>
            <a:r>
              <a:rPr sz="100" kern="0" spc="20" dirty="0">
                <a:solidFill>
                  <a:srgbClr val="0E3654">
                    <a:alpha val="100000"/>
                  </a:srgbClr>
                </a:solidFill>
                <a:latin typeface="Arial"/>
                <a:ea typeface="Arial"/>
                <a:cs typeface="Arial"/>
              </a:rPr>
              <a:t>M</a:t>
            </a:r>
            <a:endParaRPr sz="100" dirty="0"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rect 254"/>
          <p:cNvSpPr/>
          <p:nvPr/>
        </p:nvSpPr>
        <p:spPr>
          <a:xfrm>
            <a:off x="287988" y="599386"/>
            <a:ext cx="4968714" cy="2109600"/>
          </a:xfrm>
          <a:prstGeom prst="rect">
            <a:avLst/>
          </a:prstGeom>
          <a:solidFill>
            <a:srgbClr val="E8EBF6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56" name="textbox 256"/>
          <p:cNvSpPr/>
          <p:nvPr/>
        </p:nvSpPr>
        <p:spPr>
          <a:xfrm>
            <a:off x="580489" y="613619"/>
            <a:ext cx="4544695" cy="156654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911" rIns="0" bIns="0"/>
          <a:lstStyle/>
          <a:p>
            <a:pPr marL="18415" indent="635" algn="l" rtl="0" eaLnBrk="0">
              <a:lnSpc>
                <a:spcPct val="111000"/>
              </a:lnSpc>
              <a:spcBef>
                <a:spcPts val="7"/>
              </a:spcBef>
              <a:tabLst/>
            </a:pPr>
            <a:r>
              <a:rPr sz="700" b="1" kern="0" spc="4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Manage</a:t>
            </a:r>
            <a:r>
              <a:rPr sz="700" b="1" kern="0" spc="6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b="1" kern="0" spc="4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Impediments.</a:t>
            </a:r>
            <a:r>
              <a:rPr sz="700" b="1" kern="0" spc="9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I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dentify, monitor, and resolve impediments within</a:t>
            </a: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and</a:t>
            </a: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across</a:t>
            </a:r>
            <a:r>
              <a:rPr sz="700" kern="0" spc="6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iteration</a:t>
            </a:r>
            <a:r>
              <a:rPr sz="700" kern="0" spc="5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cycles</a:t>
            </a:r>
            <a:r>
              <a:rPr sz="700" kern="0" spc="6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by teams</a:t>
            </a:r>
            <a:r>
              <a:rPr sz="700" kern="0" spc="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                     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(of teams).</a:t>
            </a:r>
            <a:r>
              <a:rPr sz="700" kern="0" spc="12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[OUTCOME</a:t>
            </a:r>
            <a:r>
              <a:rPr sz="700" kern="0" spc="9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10]</a:t>
            </a:r>
            <a:endParaRPr sz="700" dirty="0">
              <a:latin typeface="Arial Narrow"/>
              <a:ea typeface="Arial Narrow"/>
              <a:cs typeface="Arial Narrow"/>
            </a:endParaRPr>
          </a:p>
          <a:p>
            <a:pPr marL="19685" algn="l" rtl="0" eaLnBrk="0">
              <a:lnSpc>
                <a:spcPct val="76000"/>
              </a:lnSpc>
              <a:spcBef>
                <a:spcPts val="221"/>
              </a:spcBef>
              <a:tabLst/>
            </a:pPr>
            <a:r>
              <a:rPr sz="700" b="1" kern="0" spc="3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Notes &amp;</a:t>
            </a:r>
            <a:r>
              <a:rPr sz="700" b="1" kern="0" spc="11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b="1" kern="0" spc="3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Definitions:</a:t>
            </a:r>
            <a:endParaRPr sz="700" dirty="0">
              <a:latin typeface="Arial Narrow"/>
              <a:ea typeface="Arial Narrow"/>
              <a:cs typeface="Arial Narrow"/>
            </a:endParaRPr>
          </a:p>
          <a:p>
            <a:pPr marL="177800" indent="-56514" algn="l" rtl="0" eaLnBrk="0">
              <a:lnSpc>
                <a:spcPct val="113000"/>
              </a:lnSpc>
              <a:spcBef>
                <a:spcPts val="242"/>
              </a:spcBef>
              <a:tabLst/>
            </a:pP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▪</a:t>
            </a:r>
            <a:r>
              <a:rPr sz="700" kern="0" spc="-2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An impedi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ment is any issue or</a:t>
            </a:r>
            <a:r>
              <a:rPr sz="700" kern="0" spc="5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risk towards</a:t>
            </a:r>
            <a:r>
              <a:rPr sz="700" kern="0" spc="5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either achieving</a:t>
            </a: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current</a:t>
            </a:r>
            <a:r>
              <a:rPr sz="700" kern="0" spc="7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iteration/increment</a:t>
            </a: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goals</a:t>
            </a: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or</a:t>
            </a:r>
            <a:r>
              <a:rPr sz="700" kern="0" spc="5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likely</a:t>
            </a: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affecting</a:t>
            </a:r>
            <a:r>
              <a:rPr sz="700" kern="0" spc="6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planned</a:t>
            </a:r>
            <a:r>
              <a:rPr sz="700" kern="0" spc="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work or visions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and strategic themes (potential</a:t>
            </a:r>
            <a:r>
              <a:rPr sz="700" kern="0" spc="6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impediment</a:t>
            </a:r>
            <a:r>
              <a:rPr sz="700" kern="0" spc="5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=</a:t>
            </a:r>
            <a:r>
              <a:rPr sz="700" kern="0" spc="6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risk).</a:t>
            </a:r>
            <a:endParaRPr sz="700" dirty="0">
              <a:latin typeface="Arial Narrow"/>
              <a:ea typeface="Arial Narrow"/>
              <a:cs typeface="Arial Narrow"/>
            </a:endParaRPr>
          </a:p>
          <a:p>
            <a:pPr marL="180975" indent="-59689" algn="l" rtl="0" eaLnBrk="0">
              <a:lnSpc>
                <a:spcPct val="113000"/>
              </a:lnSpc>
              <a:spcBef>
                <a:spcPts val="102"/>
              </a:spcBef>
              <a:tabLst/>
            </a:pP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▪</a:t>
            </a:r>
            <a:r>
              <a:rPr sz="700" kern="0" spc="6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Managing impediments supports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consistency among current</a:t>
            </a:r>
            <a:r>
              <a:rPr sz="700" kern="0" spc="6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planning and vision,</a:t>
            </a:r>
            <a:r>
              <a:rPr sz="700" kern="0" spc="7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product</a:t>
            </a:r>
            <a:r>
              <a:rPr sz="700" kern="0" spc="6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backlog,</a:t>
            </a: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and team</a:t>
            </a:r>
            <a:r>
              <a:rPr sz="700" kern="0" spc="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                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capacity to ensure a sustainable</a:t>
            </a:r>
            <a:r>
              <a:rPr sz="700" kern="0" spc="11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pace.</a:t>
            </a:r>
            <a:endParaRPr sz="700" dirty="0">
              <a:latin typeface="Arial Narrow"/>
              <a:ea typeface="Arial Narrow"/>
              <a:cs typeface="Arial Narrow"/>
            </a:endParaRPr>
          </a:p>
          <a:p>
            <a:pPr marL="183515" indent="-62230" algn="l" rtl="0" eaLnBrk="0">
              <a:lnSpc>
                <a:spcPct val="113000"/>
              </a:lnSpc>
              <a:spcBef>
                <a:spcPts val="102"/>
              </a:spcBef>
              <a:tabLst/>
            </a:pP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▪</a:t>
            </a:r>
            <a:r>
              <a:rPr sz="700" kern="0" spc="8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Impediments are typi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cally identified by the team</a:t>
            </a:r>
            <a:r>
              <a:rPr sz="700" kern="0" spc="6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(of teams) while</a:t>
            </a:r>
            <a:r>
              <a:rPr sz="700" kern="0" spc="6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reviewing the</a:t>
            </a:r>
            <a:r>
              <a:rPr sz="700" kern="0" spc="6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progress of work.</a:t>
            </a:r>
            <a:r>
              <a:rPr sz="700" kern="0" spc="-1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Addressing them</a:t>
            </a:r>
            <a:r>
              <a:rPr sz="700" kern="0" spc="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       </a:t>
            </a: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helps in adapt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ing work planning as well</a:t>
            </a: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as vision</a:t>
            </a: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and</a:t>
            </a: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strategic themes.</a:t>
            </a:r>
            <a:endParaRPr sz="700" dirty="0">
              <a:latin typeface="Arial Narrow"/>
              <a:ea typeface="Arial Narrow"/>
              <a:cs typeface="Arial Narrow"/>
            </a:endParaRPr>
          </a:p>
          <a:p>
            <a:pPr marL="121285" algn="l" rtl="0" eaLnBrk="0">
              <a:lnSpc>
                <a:spcPct val="90000"/>
              </a:lnSpc>
              <a:spcBef>
                <a:spcPts val="223"/>
              </a:spcBef>
              <a:tabLst/>
            </a:pP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▪ Work resulti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ng from impediments is</a:t>
            </a:r>
            <a:r>
              <a:rPr sz="700" kern="0" spc="2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typically</a:t>
            </a:r>
            <a:r>
              <a:rPr sz="700" kern="0" spc="7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managed</a:t>
            </a: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as</a:t>
            </a:r>
            <a:r>
              <a:rPr sz="700" kern="0" spc="6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backlog</a:t>
            </a:r>
            <a:r>
              <a:rPr sz="700" kern="0" spc="6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item.</a:t>
            </a:r>
            <a:endParaRPr sz="700" dirty="0">
              <a:latin typeface="Arial Narrow"/>
              <a:ea typeface="Arial Narrow"/>
              <a:cs typeface="Arial Narrow"/>
            </a:endParaRPr>
          </a:p>
          <a:p>
            <a:pPr algn="l" rtl="0" eaLnBrk="0">
              <a:lnSpc>
                <a:spcPct val="117000"/>
              </a:lnSpc>
              <a:tabLst/>
            </a:pPr>
            <a:endParaRPr sz="200" dirty="0">
              <a:latin typeface="Arial"/>
              <a:ea typeface="Arial"/>
              <a:cs typeface="Arial"/>
            </a:endParaRPr>
          </a:p>
          <a:p>
            <a:pPr marL="18415" indent="-5715" algn="l" rtl="0" eaLnBrk="0">
              <a:lnSpc>
                <a:spcPct val="125000"/>
              </a:lnSpc>
              <a:spcBef>
                <a:spcPts val="1"/>
              </a:spcBef>
              <a:tabLst/>
            </a:pPr>
            <a:r>
              <a:rPr sz="700" b="1" i="1" kern="0" spc="4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Agile</a:t>
            </a:r>
            <a:r>
              <a:rPr sz="700" b="1" i="1" kern="0" spc="9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b="1" i="1" kern="0" spc="4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Work Produ</a:t>
            </a:r>
            <a:r>
              <a:rPr sz="700" b="1" i="1" kern="0" spc="3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cts: </a:t>
            </a:r>
            <a:r>
              <a:rPr sz="700" i="1" kern="0" spc="3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Implementation backlog,</a:t>
            </a:r>
            <a:r>
              <a:rPr sz="700" i="1" kern="0" spc="9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3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Tasks,</a:t>
            </a:r>
            <a:r>
              <a:rPr sz="700" i="1" kern="0" spc="7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3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(updated) Backlog,</a:t>
            </a:r>
            <a:r>
              <a:rPr sz="700" i="1" kern="0" spc="8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3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(updated)</a:t>
            </a:r>
            <a:r>
              <a:rPr sz="700" i="1" kern="0" spc="10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3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Vision and strategic themes</a:t>
            </a:r>
            <a:r>
              <a:rPr sz="700" i="1" kern="0" spc="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               </a:t>
            </a:r>
            <a:r>
              <a:rPr sz="700" b="1" i="1" kern="0" spc="3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Supportin</a:t>
            </a:r>
            <a:r>
              <a:rPr sz="700" b="1" kern="0" spc="3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g Ag</a:t>
            </a:r>
            <a:r>
              <a:rPr sz="700" b="1" kern="0" spc="2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ile</a:t>
            </a:r>
            <a:r>
              <a:rPr sz="700" b="1" kern="0" spc="7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b="1" kern="0" spc="2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Principles</a:t>
            </a:r>
            <a:r>
              <a:rPr sz="700" b="1" kern="0" spc="11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2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1,</a:t>
            </a:r>
            <a:r>
              <a:rPr sz="700" i="1" kern="0" spc="7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2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5,</a:t>
            </a:r>
            <a:r>
              <a:rPr sz="700" i="1" kern="0" spc="7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2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6,</a:t>
            </a:r>
            <a:r>
              <a:rPr sz="700" i="1" kern="0" spc="10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2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7,</a:t>
            </a:r>
            <a:r>
              <a:rPr sz="700" i="1" kern="0" spc="7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2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8</a:t>
            </a:r>
            <a:endParaRPr sz="700" dirty="0">
              <a:latin typeface="Arial Narrow"/>
              <a:ea typeface="Arial Narrow"/>
              <a:cs typeface="Arial Narrow"/>
            </a:endParaRPr>
          </a:p>
        </p:txBody>
      </p:sp>
      <p:sp>
        <p:nvSpPr>
          <p:cNvPr id="258" name="textbox 258"/>
          <p:cNvSpPr/>
          <p:nvPr/>
        </p:nvSpPr>
        <p:spPr>
          <a:xfrm>
            <a:off x="288012" y="396005"/>
            <a:ext cx="4968240" cy="137160"/>
          </a:xfrm>
          <a:prstGeom prst="rect">
            <a:avLst/>
          </a:prstGeom>
          <a:solidFill>
            <a:srgbClr val="015AAA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4000"/>
              </a:lnSpc>
              <a:tabLst/>
            </a:pPr>
            <a:endParaRPr sz="200" dirty="0">
              <a:latin typeface="Arial"/>
              <a:ea typeface="Arial"/>
              <a:cs typeface="Arial"/>
            </a:endParaRPr>
          </a:p>
          <a:p>
            <a:pPr marL="40005" algn="l" rtl="0" eaLnBrk="0">
              <a:lnSpc>
                <a:spcPct val="89000"/>
              </a:lnSpc>
              <a:spcBef>
                <a:spcPts val="1"/>
              </a:spcBef>
              <a:tabLst/>
            </a:pPr>
            <a:r>
              <a:rPr sz="700" b="1" kern="0" spc="30" dirty="0">
                <a:solidFill>
                  <a:srgbClr val="FFFFFF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Base</a:t>
            </a:r>
            <a:r>
              <a:rPr sz="700" b="1" kern="0" spc="70" dirty="0">
                <a:solidFill>
                  <a:srgbClr val="FFFFFF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b="1" kern="0" spc="30" dirty="0">
                <a:solidFill>
                  <a:srgbClr val="FFFFFF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practices</a:t>
            </a:r>
            <a:endParaRPr sz="700" dirty="0">
              <a:latin typeface="Arial Narrow"/>
              <a:ea typeface="Arial Narrow"/>
              <a:cs typeface="Arial Narrow"/>
            </a:endParaRPr>
          </a:p>
        </p:txBody>
      </p:sp>
      <p:sp>
        <p:nvSpPr>
          <p:cNvPr id="260" name="textbox 260"/>
          <p:cNvSpPr/>
          <p:nvPr/>
        </p:nvSpPr>
        <p:spPr>
          <a:xfrm>
            <a:off x="2726139" y="3644904"/>
            <a:ext cx="2543175" cy="1727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09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tabLst/>
            </a:pPr>
            <a:r>
              <a:rPr sz="500" b="1" kern="0" spc="1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21                                  </a:t>
            </a:r>
            <a:r>
              <a:rPr sz="500" b="1" kern="0" spc="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                                                                             </a:t>
            </a:r>
            <a:r>
              <a:rPr sz="1000" u="sng" kern="0" spc="0" dirty="0">
                <a:solidFill>
                  <a:srgbClr val="0E3654">
                    <a:alpha val="100000"/>
                  </a:srgbClr>
                </a:solidFill>
                <a:latin typeface="Arial"/>
                <a:ea typeface="Arial"/>
                <a:cs typeface="Arial"/>
              </a:rPr>
              <a:t>intacs</a:t>
            </a:r>
            <a:r>
              <a:rPr sz="1000" u="sng" kern="0" spc="0" dirty="0">
                <a:solidFill>
                  <a:srgbClr val="0E3654">
                    <a:alpha val="100000"/>
                  </a:srgbClr>
                </a:solidFill>
                <a:latin typeface="Arial"/>
                <a:ea typeface="Arial"/>
                <a:cs typeface="Arial"/>
              </a:rPr>
              <a:t>.</a:t>
            </a:r>
            <a:r>
              <a:rPr sz="1000" u="sng" kern="0" spc="-180" dirty="0">
                <a:solidFill>
                  <a:srgbClr val="0E365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u="sng" kern="0" spc="0" dirty="0">
                <a:solidFill>
                  <a:srgbClr val="0E3654">
                    <a:alpha val="100000"/>
                  </a:srgbClr>
                </a:solidFill>
                <a:latin typeface="Arial"/>
                <a:ea typeface="Arial"/>
                <a:cs typeface="Arial"/>
              </a:rPr>
              <a:t>infoul</a:t>
            </a:r>
            <a:r>
              <a:rPr sz="1000" kern="0" spc="0" dirty="0">
                <a:solidFill>
                  <a:srgbClr val="0E3654">
                    <a:alpha val="100000"/>
                  </a:srgbClr>
                </a:solidFill>
                <a:latin typeface="Arial"/>
                <a:ea typeface="Arial"/>
                <a:cs typeface="Arial"/>
              </a:rPr>
              <a:t>al</a:t>
            </a:r>
            <a:endParaRPr sz="1000" dirty="0">
              <a:latin typeface="Arial"/>
              <a:ea typeface="Arial"/>
              <a:cs typeface="Arial"/>
            </a:endParaRPr>
          </a:p>
        </p:txBody>
      </p:sp>
      <p:sp>
        <p:nvSpPr>
          <p:cNvPr id="262" name="textbox 262"/>
          <p:cNvSpPr/>
          <p:nvPr/>
        </p:nvSpPr>
        <p:spPr>
          <a:xfrm>
            <a:off x="1194082" y="3500902"/>
            <a:ext cx="3164205" cy="1181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96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6000"/>
              </a:lnSpc>
              <a:tabLst/>
            </a:pPr>
            <a:r>
              <a:rPr sz="800" b="1" kern="0" spc="160" dirty="0">
                <a:solidFill>
                  <a:srgbClr val="808285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DRAFT -</a:t>
            </a:r>
            <a:r>
              <a:rPr sz="800" b="1" kern="0" spc="140" dirty="0">
                <a:solidFill>
                  <a:srgbClr val="808285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800" b="1" kern="0" spc="160" dirty="0">
                <a:solidFill>
                  <a:srgbClr val="808285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REA</a:t>
            </a:r>
            <a:r>
              <a:rPr sz="800" b="1" kern="0" spc="150" dirty="0">
                <a:solidFill>
                  <a:srgbClr val="808285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DY FOR</a:t>
            </a:r>
            <a:r>
              <a:rPr sz="800" b="1" kern="0" spc="140" dirty="0">
                <a:solidFill>
                  <a:srgbClr val="808285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800" b="1" kern="0" spc="150" dirty="0">
                <a:solidFill>
                  <a:srgbClr val="808285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PILOTING</a:t>
            </a:r>
            <a:r>
              <a:rPr sz="800" b="1" kern="0" spc="140" dirty="0">
                <a:solidFill>
                  <a:srgbClr val="808285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800" b="1" kern="0" spc="150" dirty="0">
                <a:solidFill>
                  <a:srgbClr val="808285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-</a:t>
            </a:r>
            <a:r>
              <a:rPr sz="800" b="1" kern="0" spc="140" dirty="0">
                <a:solidFill>
                  <a:srgbClr val="808285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800" b="1" kern="0" spc="150" dirty="0">
                <a:solidFill>
                  <a:srgbClr val="808285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FEEDBACK WELCOME</a:t>
            </a:r>
            <a:endParaRPr sz="800" dirty="0">
              <a:latin typeface="Arial Narrow"/>
              <a:ea typeface="Arial Narrow"/>
              <a:cs typeface="Arial Narrow"/>
            </a:endParaRPr>
          </a:p>
        </p:txBody>
      </p:sp>
      <p:sp>
        <p:nvSpPr>
          <p:cNvPr id="264" name="textbox 264"/>
          <p:cNvSpPr/>
          <p:nvPr/>
        </p:nvSpPr>
        <p:spPr>
          <a:xfrm>
            <a:off x="316317" y="681983"/>
            <a:ext cx="202565" cy="9461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97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5000"/>
              </a:lnSpc>
              <a:tabLst/>
            </a:pPr>
            <a:r>
              <a:rPr sz="600" b="1" kern="0" spc="0" dirty="0">
                <a:solidFill>
                  <a:srgbClr val="FFFFFF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BP</a:t>
            </a:r>
            <a:r>
              <a:rPr sz="600" b="1" kern="0" spc="70" dirty="0">
                <a:solidFill>
                  <a:srgbClr val="FFFFFF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10</a:t>
            </a:r>
            <a:endParaRPr sz="600" dirty="0">
              <a:latin typeface="Arial Narrow"/>
              <a:ea typeface="Arial Narrow"/>
              <a:cs typeface="Arial Narrow"/>
            </a:endParaRPr>
          </a:p>
        </p:txBody>
      </p:sp>
      <p:sp>
        <p:nvSpPr>
          <p:cNvPr id="266" name="textbox 266"/>
          <p:cNvSpPr/>
          <p:nvPr/>
        </p:nvSpPr>
        <p:spPr>
          <a:xfrm>
            <a:off x="5226288" y="3775564"/>
            <a:ext cx="41275" cy="419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26"/>
              </a:lnSpc>
              <a:tabLst/>
            </a:pPr>
            <a:r>
              <a:rPr sz="100" kern="0" spc="20" dirty="0">
                <a:solidFill>
                  <a:srgbClr val="0E3654">
                    <a:alpha val="100000"/>
                  </a:srgbClr>
                </a:solidFill>
                <a:latin typeface="Arial"/>
                <a:ea typeface="Arial"/>
                <a:cs typeface="Arial"/>
              </a:rPr>
              <a:t>M</a:t>
            </a:r>
            <a:endParaRPr sz="100" dirty="0"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rect 268"/>
          <p:cNvSpPr/>
          <p:nvPr/>
        </p:nvSpPr>
        <p:spPr>
          <a:xfrm>
            <a:off x="287988" y="590388"/>
            <a:ext cx="4968714" cy="2109594"/>
          </a:xfrm>
          <a:prstGeom prst="rect">
            <a:avLst/>
          </a:prstGeom>
          <a:solidFill>
            <a:srgbClr val="E8EBF6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70" name="textbox 270"/>
          <p:cNvSpPr/>
          <p:nvPr/>
        </p:nvSpPr>
        <p:spPr>
          <a:xfrm>
            <a:off x="580489" y="604716"/>
            <a:ext cx="4507230" cy="143700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73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9050" algn="l" rtl="0" eaLnBrk="0">
              <a:lnSpc>
                <a:spcPct val="89000"/>
              </a:lnSpc>
              <a:tabLst/>
            </a:pPr>
            <a:r>
              <a:rPr sz="700" b="1" kern="0" spc="4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Improve Work Appro</a:t>
            </a:r>
            <a:r>
              <a:rPr sz="700" b="1" kern="0" spc="3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ach.</a:t>
            </a:r>
            <a:endParaRPr sz="700" dirty="0">
              <a:latin typeface="Arial Narrow"/>
              <a:ea typeface="Arial Narrow"/>
              <a:cs typeface="Arial Narrow"/>
            </a:endParaRPr>
          </a:p>
          <a:p>
            <a:pPr marL="20955" algn="l" rtl="0" eaLnBrk="0">
              <a:lnSpc>
                <a:spcPct val="89000"/>
              </a:lnSpc>
              <a:spcBef>
                <a:spcPts val="252"/>
              </a:spcBef>
              <a:tabLst/>
            </a:pP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Inspect and adapt the work ap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proach based on short</a:t>
            </a:r>
            <a:r>
              <a:rPr sz="700" kern="0" spc="6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learning</a:t>
            </a: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cycles within</a:t>
            </a: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the team</a:t>
            </a:r>
            <a:r>
              <a:rPr sz="700" kern="0" spc="6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(of teams).</a:t>
            </a: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 </a:t>
            </a:r>
            <a:r>
              <a:rPr sz="700" kern="0" spc="3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[OUTCOME</a:t>
            </a:r>
            <a:r>
              <a:rPr sz="700" kern="0" spc="5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3]</a:t>
            </a:r>
            <a:endParaRPr sz="700" dirty="0">
              <a:latin typeface="Arial Narrow"/>
              <a:ea typeface="Arial Narrow"/>
              <a:cs typeface="Arial Narrow"/>
            </a:endParaRPr>
          </a:p>
          <a:p>
            <a:pPr marL="19685" algn="l" rtl="0" eaLnBrk="0">
              <a:lnSpc>
                <a:spcPct val="76000"/>
              </a:lnSpc>
              <a:spcBef>
                <a:spcPts val="242"/>
              </a:spcBef>
              <a:tabLst/>
            </a:pPr>
            <a:r>
              <a:rPr sz="700" b="1" kern="0" spc="3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Notes &amp;</a:t>
            </a:r>
            <a:r>
              <a:rPr sz="700" b="1" kern="0" spc="11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b="1" kern="0" spc="3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Definitions:</a:t>
            </a:r>
            <a:endParaRPr sz="700" dirty="0">
              <a:latin typeface="Arial Narrow"/>
              <a:ea typeface="Arial Narrow"/>
              <a:cs typeface="Arial Narrow"/>
            </a:endParaRPr>
          </a:p>
          <a:p>
            <a:pPr marL="180975" indent="-59689" algn="l" rtl="0" eaLnBrk="0">
              <a:lnSpc>
                <a:spcPct val="114000"/>
              </a:lnSpc>
              <a:spcBef>
                <a:spcPts val="233"/>
              </a:spcBef>
              <a:tabLst/>
            </a:pP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▪ The way of workin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g in the team (of teams) is</a:t>
            </a:r>
            <a:r>
              <a:rPr sz="700" kern="0" spc="6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regularly discussed to</a:t>
            </a:r>
            <a:r>
              <a:rPr sz="700" kern="0" spc="6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identify</a:t>
            </a:r>
            <a:r>
              <a:rPr sz="700" kern="0" spc="7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improvements to the</a:t>
            </a:r>
            <a:r>
              <a:rPr sz="700" kern="0" spc="6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recorded work</a:t>
            </a:r>
            <a:r>
              <a:rPr sz="700" kern="0" spc="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         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approach.</a:t>
            </a:r>
            <a:endParaRPr sz="700" dirty="0">
              <a:latin typeface="Arial Narrow"/>
              <a:ea typeface="Arial Narrow"/>
              <a:cs typeface="Arial Narrow"/>
            </a:endParaRPr>
          </a:p>
          <a:p>
            <a:pPr marL="182880" indent="-61595" algn="l" rtl="0" eaLnBrk="0">
              <a:lnSpc>
                <a:spcPct val="113000"/>
              </a:lnSpc>
              <a:spcBef>
                <a:spcPts val="94"/>
              </a:spcBef>
              <a:tabLst/>
            </a:pP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▪ Typically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current processes, interfaces, and work</a:t>
            </a:r>
            <a:r>
              <a:rPr sz="700" kern="0" spc="6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products are</a:t>
            </a:r>
            <a:r>
              <a:rPr sz="700" kern="0" spc="6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inspected</a:t>
            </a:r>
            <a:r>
              <a:rPr sz="700" kern="0" spc="5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as</a:t>
            </a:r>
            <a:r>
              <a:rPr sz="700" kern="0" spc="6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part</a:t>
            </a: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of the work</a:t>
            </a: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approach</a:t>
            </a:r>
            <a:r>
              <a:rPr sz="700" kern="0" spc="5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and</a:t>
            </a: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adapted</a:t>
            </a: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at</a:t>
            </a:r>
            <a:r>
              <a:rPr sz="700" kern="0" spc="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least per iteration</a:t>
            </a: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cycle</a:t>
            </a: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and</a:t>
            </a: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event</a:t>
            </a:r>
            <a:r>
              <a:rPr sz="700" kern="0" spc="5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driv</a:t>
            </a:r>
            <a:r>
              <a:rPr sz="700" kern="0" spc="2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en.</a:t>
            </a:r>
            <a:endParaRPr sz="700" dirty="0">
              <a:latin typeface="Arial Narrow"/>
              <a:ea typeface="Arial Narrow"/>
              <a:cs typeface="Arial Narrow"/>
            </a:endParaRPr>
          </a:p>
          <a:p>
            <a:pPr marL="121285" algn="l" rtl="0" eaLnBrk="0">
              <a:lnSpc>
                <a:spcPct val="90000"/>
              </a:lnSpc>
              <a:spcBef>
                <a:spcPts val="223"/>
              </a:spcBef>
              <a:tabLst/>
            </a:pP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▪</a:t>
            </a:r>
            <a:r>
              <a:rPr sz="700" kern="0" spc="8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Improvement wo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rk from identified improvements is typically</a:t>
            </a:r>
            <a:r>
              <a:rPr sz="700" kern="0" spc="6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managed</a:t>
            </a: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as</a:t>
            </a:r>
            <a:r>
              <a:rPr sz="700" kern="0" spc="6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part of the</a:t>
            </a:r>
            <a:r>
              <a:rPr sz="700" kern="0" spc="7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backlog.</a:t>
            </a:r>
            <a:endParaRPr sz="700" dirty="0">
              <a:latin typeface="Arial Narrow"/>
              <a:ea typeface="Arial Narrow"/>
              <a:cs typeface="Arial Narrow"/>
            </a:endParaRPr>
          </a:p>
          <a:p>
            <a:pPr marL="12700" algn="l" rtl="0" eaLnBrk="0">
              <a:lnSpc>
                <a:spcPct val="90000"/>
              </a:lnSpc>
              <a:spcBef>
                <a:spcPts val="528"/>
              </a:spcBef>
              <a:tabLst/>
            </a:pPr>
            <a:r>
              <a:rPr sz="700" b="1" i="1" kern="0" spc="4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Agile</a:t>
            </a:r>
            <a:r>
              <a:rPr sz="700" b="1" i="1" kern="0" spc="9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b="1" i="1" kern="0" spc="4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Work Products: </a:t>
            </a:r>
            <a:r>
              <a:rPr sz="700" kern="0" spc="4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(updated) Work</a:t>
            </a:r>
            <a:r>
              <a:rPr sz="700" kern="0" spc="-2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4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A</a:t>
            </a:r>
            <a:r>
              <a:rPr sz="700" kern="0" spc="3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pproach, (updated)</a:t>
            </a:r>
            <a:r>
              <a:rPr sz="700" kern="0" spc="7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Definition of Done (DoD),</a:t>
            </a:r>
            <a:endParaRPr sz="700" dirty="0">
              <a:latin typeface="Arial Narrow"/>
              <a:ea typeface="Arial Narrow"/>
              <a:cs typeface="Arial Narrow"/>
            </a:endParaRPr>
          </a:p>
          <a:p>
            <a:pPr marL="894714" algn="l" rtl="0" eaLnBrk="0">
              <a:lnSpc>
                <a:spcPct val="90000"/>
              </a:lnSpc>
              <a:spcBef>
                <a:spcPts val="241"/>
              </a:spcBef>
              <a:tabLst/>
            </a:pPr>
            <a:r>
              <a:rPr sz="700" kern="0" spc="3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(updated)</a:t>
            </a:r>
            <a:r>
              <a:rPr sz="700" kern="0" spc="9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Definition of Ready (DoR), Tasks</a:t>
            </a:r>
            <a:endParaRPr sz="700" dirty="0">
              <a:latin typeface="Arial Narrow"/>
              <a:ea typeface="Arial Narrow"/>
              <a:cs typeface="Arial Narrow"/>
            </a:endParaRPr>
          </a:p>
          <a:p>
            <a:pPr marL="18415" algn="l" rtl="0" eaLnBrk="0">
              <a:lnSpc>
                <a:spcPts val="1079"/>
              </a:lnSpc>
              <a:tabLst/>
            </a:pPr>
            <a:r>
              <a:rPr sz="700" b="1" i="1" kern="0" spc="3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Supporting Agile Principles</a:t>
            </a:r>
            <a:r>
              <a:rPr sz="700" b="1" i="1" kern="0" spc="6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3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5,</a:t>
            </a:r>
            <a:r>
              <a:rPr sz="700" i="1" kern="0" spc="8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3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6,</a:t>
            </a:r>
            <a:r>
              <a:rPr sz="700" i="1" kern="0" spc="12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2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12</a:t>
            </a:r>
            <a:endParaRPr sz="700" dirty="0">
              <a:latin typeface="Arial Narrow"/>
              <a:ea typeface="Arial Narrow"/>
              <a:cs typeface="Arial Narrow"/>
            </a:endParaRPr>
          </a:p>
        </p:txBody>
      </p:sp>
      <p:sp>
        <p:nvSpPr>
          <p:cNvPr id="272" name="textbox 272"/>
          <p:cNvSpPr/>
          <p:nvPr/>
        </p:nvSpPr>
        <p:spPr>
          <a:xfrm>
            <a:off x="288012" y="396005"/>
            <a:ext cx="4968240" cy="137160"/>
          </a:xfrm>
          <a:prstGeom prst="rect">
            <a:avLst/>
          </a:prstGeom>
          <a:solidFill>
            <a:srgbClr val="015AAA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4000"/>
              </a:lnSpc>
              <a:tabLst/>
            </a:pPr>
            <a:endParaRPr sz="200" dirty="0">
              <a:latin typeface="Arial"/>
              <a:ea typeface="Arial"/>
              <a:cs typeface="Arial"/>
            </a:endParaRPr>
          </a:p>
          <a:p>
            <a:pPr marL="40005" algn="l" rtl="0" eaLnBrk="0">
              <a:lnSpc>
                <a:spcPct val="89000"/>
              </a:lnSpc>
              <a:spcBef>
                <a:spcPts val="1"/>
              </a:spcBef>
              <a:tabLst/>
            </a:pPr>
            <a:r>
              <a:rPr sz="700" b="1" kern="0" spc="30" dirty="0">
                <a:solidFill>
                  <a:srgbClr val="FFFFFF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Base</a:t>
            </a:r>
            <a:r>
              <a:rPr sz="700" b="1" kern="0" spc="70" dirty="0">
                <a:solidFill>
                  <a:srgbClr val="FFFFFF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b="1" kern="0" spc="30" dirty="0">
                <a:solidFill>
                  <a:srgbClr val="FFFFFF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practices</a:t>
            </a:r>
            <a:endParaRPr sz="700" dirty="0">
              <a:latin typeface="Arial Narrow"/>
              <a:ea typeface="Arial Narrow"/>
              <a:cs typeface="Arial Narrow"/>
            </a:endParaRPr>
          </a:p>
        </p:txBody>
      </p:sp>
      <p:sp>
        <p:nvSpPr>
          <p:cNvPr id="274" name="textbox 274"/>
          <p:cNvSpPr/>
          <p:nvPr/>
        </p:nvSpPr>
        <p:spPr>
          <a:xfrm>
            <a:off x="2726139" y="3644904"/>
            <a:ext cx="2543175" cy="1727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09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tabLst/>
            </a:pPr>
            <a:r>
              <a:rPr sz="500" b="1" kern="0" spc="1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22                                  </a:t>
            </a:r>
            <a:r>
              <a:rPr sz="500" b="1" kern="0" spc="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                                                                             </a:t>
            </a:r>
            <a:r>
              <a:rPr sz="1000" u="sng" kern="0" spc="0" dirty="0">
                <a:solidFill>
                  <a:srgbClr val="0E3654">
                    <a:alpha val="100000"/>
                  </a:srgbClr>
                </a:solidFill>
                <a:latin typeface="Arial"/>
                <a:ea typeface="Arial"/>
                <a:cs typeface="Arial"/>
              </a:rPr>
              <a:t>intacs</a:t>
            </a:r>
            <a:r>
              <a:rPr sz="1000" u="sng" kern="0" spc="0" dirty="0">
                <a:solidFill>
                  <a:srgbClr val="0E3654">
                    <a:alpha val="100000"/>
                  </a:srgbClr>
                </a:solidFill>
                <a:latin typeface="Arial"/>
                <a:ea typeface="Arial"/>
                <a:cs typeface="Arial"/>
              </a:rPr>
              <a:t>.</a:t>
            </a:r>
            <a:r>
              <a:rPr sz="1000" u="sng" kern="0" spc="-180" dirty="0">
                <a:solidFill>
                  <a:srgbClr val="0E365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u="sng" kern="0" spc="0" dirty="0">
                <a:solidFill>
                  <a:srgbClr val="0E3654">
                    <a:alpha val="100000"/>
                  </a:srgbClr>
                </a:solidFill>
                <a:latin typeface="Arial"/>
                <a:ea typeface="Arial"/>
                <a:cs typeface="Arial"/>
              </a:rPr>
              <a:t>infoul</a:t>
            </a:r>
            <a:r>
              <a:rPr sz="1000" kern="0" spc="0" dirty="0">
                <a:solidFill>
                  <a:srgbClr val="0E3654">
                    <a:alpha val="100000"/>
                  </a:srgbClr>
                </a:solidFill>
                <a:latin typeface="Arial"/>
                <a:ea typeface="Arial"/>
                <a:cs typeface="Arial"/>
              </a:rPr>
              <a:t>al</a:t>
            </a:r>
            <a:endParaRPr sz="1000" dirty="0">
              <a:latin typeface="Arial"/>
              <a:ea typeface="Arial"/>
              <a:cs typeface="Arial"/>
            </a:endParaRPr>
          </a:p>
        </p:txBody>
      </p:sp>
      <p:sp>
        <p:nvSpPr>
          <p:cNvPr id="276" name="textbox 276"/>
          <p:cNvSpPr/>
          <p:nvPr/>
        </p:nvSpPr>
        <p:spPr>
          <a:xfrm>
            <a:off x="1194082" y="3500902"/>
            <a:ext cx="3164205" cy="1181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96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6000"/>
              </a:lnSpc>
              <a:tabLst/>
            </a:pPr>
            <a:r>
              <a:rPr sz="800" b="1" kern="0" spc="160" dirty="0">
                <a:solidFill>
                  <a:srgbClr val="808285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DRAFT -</a:t>
            </a:r>
            <a:r>
              <a:rPr sz="800" b="1" kern="0" spc="140" dirty="0">
                <a:solidFill>
                  <a:srgbClr val="808285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800" b="1" kern="0" spc="160" dirty="0">
                <a:solidFill>
                  <a:srgbClr val="808285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REA</a:t>
            </a:r>
            <a:r>
              <a:rPr sz="800" b="1" kern="0" spc="150" dirty="0">
                <a:solidFill>
                  <a:srgbClr val="808285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DY FOR</a:t>
            </a:r>
            <a:r>
              <a:rPr sz="800" b="1" kern="0" spc="140" dirty="0">
                <a:solidFill>
                  <a:srgbClr val="808285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800" b="1" kern="0" spc="150" dirty="0">
                <a:solidFill>
                  <a:srgbClr val="808285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PILOTING</a:t>
            </a:r>
            <a:r>
              <a:rPr sz="800" b="1" kern="0" spc="140" dirty="0">
                <a:solidFill>
                  <a:srgbClr val="808285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800" b="1" kern="0" spc="150" dirty="0">
                <a:solidFill>
                  <a:srgbClr val="808285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-</a:t>
            </a:r>
            <a:r>
              <a:rPr sz="800" b="1" kern="0" spc="140" dirty="0">
                <a:solidFill>
                  <a:srgbClr val="808285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800" b="1" kern="0" spc="150" dirty="0">
                <a:solidFill>
                  <a:srgbClr val="808285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FEEDBACK WELCOME</a:t>
            </a:r>
            <a:endParaRPr sz="800" dirty="0">
              <a:latin typeface="Arial Narrow"/>
              <a:ea typeface="Arial Narrow"/>
              <a:cs typeface="Arial Narrow"/>
            </a:endParaRPr>
          </a:p>
        </p:txBody>
      </p:sp>
      <p:sp>
        <p:nvSpPr>
          <p:cNvPr id="278" name="textbox 278"/>
          <p:cNvSpPr/>
          <p:nvPr/>
        </p:nvSpPr>
        <p:spPr>
          <a:xfrm>
            <a:off x="318317" y="673003"/>
            <a:ext cx="198755" cy="9398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57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5000"/>
              </a:lnSpc>
              <a:tabLst/>
            </a:pPr>
            <a:r>
              <a:rPr sz="600" b="1" kern="0" spc="0" dirty="0">
                <a:solidFill>
                  <a:srgbClr val="FFFFFF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BP</a:t>
            </a:r>
            <a:r>
              <a:rPr sz="600" b="1" kern="0" spc="50" dirty="0">
                <a:solidFill>
                  <a:srgbClr val="FFFFFF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11</a:t>
            </a:r>
            <a:endParaRPr sz="600" dirty="0">
              <a:latin typeface="Arial Narrow"/>
              <a:ea typeface="Arial Narrow"/>
              <a:cs typeface="Arial Narrow"/>
            </a:endParaRPr>
          </a:p>
        </p:txBody>
      </p:sp>
      <p:sp>
        <p:nvSpPr>
          <p:cNvPr id="280" name="textbox 280"/>
          <p:cNvSpPr/>
          <p:nvPr/>
        </p:nvSpPr>
        <p:spPr>
          <a:xfrm>
            <a:off x="5226288" y="3775564"/>
            <a:ext cx="41275" cy="419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26"/>
              </a:lnSpc>
              <a:tabLst/>
            </a:pPr>
            <a:r>
              <a:rPr sz="100" kern="0" spc="20" dirty="0">
                <a:solidFill>
                  <a:srgbClr val="0E3654">
                    <a:alpha val="100000"/>
                  </a:srgbClr>
                </a:solidFill>
                <a:latin typeface="Arial"/>
                <a:ea typeface="Arial"/>
                <a:cs typeface="Arial"/>
              </a:rPr>
              <a:t>M</a:t>
            </a:r>
            <a:endParaRPr sz="100" dirty="0"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textbox 282"/>
          <p:cNvSpPr/>
          <p:nvPr/>
        </p:nvSpPr>
        <p:spPr>
          <a:xfrm>
            <a:off x="2726139" y="3644904"/>
            <a:ext cx="2543175" cy="1727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09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tabLst/>
            </a:pPr>
            <a:r>
              <a:rPr sz="500" b="1" kern="0" spc="1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23                                  </a:t>
            </a:r>
            <a:r>
              <a:rPr sz="500" b="1" kern="0" spc="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                                                                             </a:t>
            </a:r>
            <a:r>
              <a:rPr sz="1000" u="sng" kern="0" spc="0" dirty="0">
                <a:solidFill>
                  <a:srgbClr val="0E3654">
                    <a:alpha val="100000"/>
                  </a:srgbClr>
                </a:solidFill>
                <a:latin typeface="Arial"/>
                <a:ea typeface="Arial"/>
                <a:cs typeface="Arial"/>
              </a:rPr>
              <a:t>intacs</a:t>
            </a:r>
            <a:r>
              <a:rPr sz="1000" u="sng" kern="0" spc="0" dirty="0">
                <a:solidFill>
                  <a:srgbClr val="0E3654">
                    <a:alpha val="100000"/>
                  </a:srgbClr>
                </a:solidFill>
                <a:latin typeface="Arial"/>
                <a:ea typeface="Arial"/>
                <a:cs typeface="Arial"/>
              </a:rPr>
              <a:t>.</a:t>
            </a:r>
            <a:r>
              <a:rPr sz="1000" u="sng" kern="0" spc="-180" dirty="0">
                <a:solidFill>
                  <a:srgbClr val="0E365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u="sng" kern="0" spc="0" dirty="0">
                <a:solidFill>
                  <a:srgbClr val="0E3654">
                    <a:alpha val="100000"/>
                  </a:srgbClr>
                </a:solidFill>
                <a:latin typeface="Arial"/>
                <a:ea typeface="Arial"/>
                <a:cs typeface="Arial"/>
              </a:rPr>
              <a:t>infoul</a:t>
            </a:r>
            <a:r>
              <a:rPr sz="1000" kern="0" spc="0" dirty="0">
                <a:solidFill>
                  <a:srgbClr val="0E3654">
                    <a:alpha val="100000"/>
                  </a:srgbClr>
                </a:solidFill>
                <a:latin typeface="Arial"/>
                <a:ea typeface="Arial"/>
                <a:cs typeface="Arial"/>
              </a:rPr>
              <a:t>al</a:t>
            </a:r>
            <a:endParaRPr sz="1000" dirty="0">
              <a:latin typeface="Arial"/>
              <a:ea typeface="Arial"/>
              <a:cs typeface="Arial"/>
            </a:endParaRPr>
          </a:p>
        </p:txBody>
      </p:sp>
      <p:sp>
        <p:nvSpPr>
          <p:cNvPr id="284" name="textbox 284"/>
          <p:cNvSpPr/>
          <p:nvPr/>
        </p:nvSpPr>
        <p:spPr>
          <a:xfrm>
            <a:off x="1194082" y="3500902"/>
            <a:ext cx="3164205" cy="1181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96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6000"/>
              </a:lnSpc>
              <a:tabLst/>
            </a:pPr>
            <a:r>
              <a:rPr sz="800" b="1" kern="0" spc="160" dirty="0">
                <a:solidFill>
                  <a:srgbClr val="808285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DRAFT -</a:t>
            </a:r>
            <a:r>
              <a:rPr sz="800" b="1" kern="0" spc="140" dirty="0">
                <a:solidFill>
                  <a:srgbClr val="808285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800" b="1" kern="0" spc="160" dirty="0">
                <a:solidFill>
                  <a:srgbClr val="808285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REA</a:t>
            </a:r>
            <a:r>
              <a:rPr sz="800" b="1" kern="0" spc="150" dirty="0">
                <a:solidFill>
                  <a:srgbClr val="808285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DY FOR</a:t>
            </a:r>
            <a:r>
              <a:rPr sz="800" b="1" kern="0" spc="140" dirty="0">
                <a:solidFill>
                  <a:srgbClr val="808285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800" b="1" kern="0" spc="150" dirty="0">
                <a:solidFill>
                  <a:srgbClr val="808285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PILOTING</a:t>
            </a:r>
            <a:r>
              <a:rPr sz="800" b="1" kern="0" spc="140" dirty="0">
                <a:solidFill>
                  <a:srgbClr val="808285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800" b="1" kern="0" spc="150" dirty="0">
                <a:solidFill>
                  <a:srgbClr val="808285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-</a:t>
            </a:r>
            <a:r>
              <a:rPr sz="800" b="1" kern="0" spc="140" dirty="0">
                <a:solidFill>
                  <a:srgbClr val="808285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800" b="1" kern="0" spc="150" dirty="0">
                <a:solidFill>
                  <a:srgbClr val="808285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FEEDBACK WELCOME</a:t>
            </a:r>
            <a:endParaRPr sz="800" dirty="0">
              <a:latin typeface="Arial Narrow"/>
              <a:ea typeface="Arial Narrow"/>
              <a:cs typeface="Arial Narrow"/>
            </a:endParaRPr>
          </a:p>
        </p:txBody>
      </p:sp>
      <p:sp>
        <p:nvSpPr>
          <p:cNvPr id="286" name="textbox 286"/>
          <p:cNvSpPr/>
          <p:nvPr/>
        </p:nvSpPr>
        <p:spPr>
          <a:xfrm>
            <a:off x="5226288" y="3775564"/>
            <a:ext cx="41275" cy="419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26"/>
              </a:lnSpc>
              <a:tabLst/>
            </a:pPr>
            <a:r>
              <a:rPr sz="100" kern="0" spc="20" dirty="0">
                <a:solidFill>
                  <a:srgbClr val="0E3654">
                    <a:alpha val="100000"/>
                  </a:srgbClr>
                </a:solidFill>
                <a:latin typeface="Arial"/>
                <a:ea typeface="Arial"/>
                <a:cs typeface="Arial"/>
              </a:rPr>
              <a:t>M</a:t>
            </a:r>
            <a:endParaRPr sz="100" dirty="0"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textbox 288"/>
          <p:cNvSpPr/>
          <p:nvPr/>
        </p:nvSpPr>
        <p:spPr>
          <a:xfrm>
            <a:off x="312159" y="1380266"/>
            <a:ext cx="4046220" cy="22390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06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0320" algn="l" rtl="0" eaLnBrk="0">
              <a:lnSpc>
                <a:spcPct val="90000"/>
              </a:lnSpc>
              <a:tabLst/>
            </a:pP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1.  Information</a:t>
            </a:r>
            <a:r>
              <a:rPr sz="700" kern="0" spc="6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is shared as agreed</a:t>
            </a:r>
            <a:r>
              <a:rPr sz="700" kern="0" spc="6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between</a:t>
            </a:r>
            <a:r>
              <a:rPr sz="700" kern="0" spc="6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pa</a:t>
            </a:r>
            <a:r>
              <a:rPr sz="700" kern="0" spc="2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rtners;</a:t>
            </a:r>
            <a:endParaRPr sz="700" dirty="0">
              <a:latin typeface="Arial Narrow"/>
              <a:ea typeface="Arial Narrow"/>
              <a:cs typeface="Arial Narrow"/>
            </a:endParaRPr>
          </a:p>
          <a:p>
            <a:pPr marL="13970" algn="l" rtl="0" eaLnBrk="0">
              <a:lnSpc>
                <a:spcPct val="89000"/>
              </a:lnSpc>
              <a:spcBef>
                <a:spcPts val="252"/>
              </a:spcBef>
              <a:tabLst/>
            </a:pP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2.</a:t>
            </a:r>
            <a:r>
              <a:rPr sz="700" kern="0" spc="15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The collaborat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ion model is documented</a:t>
            </a:r>
            <a:r>
              <a:rPr sz="700" kern="0" spc="7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in the</a:t>
            </a: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collaboration agreement</a:t>
            </a: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and</a:t>
            </a:r>
            <a:r>
              <a:rPr sz="700" kern="0" spc="6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up</a:t>
            </a: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to</a:t>
            </a: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date;</a:t>
            </a:r>
            <a:endParaRPr sz="700" dirty="0">
              <a:latin typeface="Arial Narrow"/>
              <a:ea typeface="Arial Narrow"/>
              <a:cs typeface="Arial Narrow"/>
            </a:endParaRPr>
          </a:p>
          <a:p>
            <a:pPr marL="14605" algn="l" rtl="0" eaLnBrk="0">
              <a:lnSpc>
                <a:spcPct val="89000"/>
              </a:lnSpc>
              <a:spcBef>
                <a:spcPts val="253"/>
              </a:spcBef>
              <a:tabLst/>
            </a:pP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3.</a:t>
            </a:r>
            <a:r>
              <a:rPr sz="700" kern="0" spc="16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Transparency is establ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ished by continuous alignment</a:t>
            </a: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and</a:t>
            </a: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synchronization</a:t>
            </a:r>
            <a:r>
              <a:rPr sz="700" kern="0" spc="6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between</a:t>
            </a:r>
            <a:r>
              <a:rPr sz="700" kern="0" spc="6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partners;</a:t>
            </a:r>
            <a:endParaRPr sz="700" dirty="0">
              <a:latin typeface="Arial Narrow"/>
              <a:ea typeface="Arial Narrow"/>
              <a:cs typeface="Arial Narrow"/>
            </a:endParaRPr>
          </a:p>
          <a:p>
            <a:pPr marL="12700" algn="l" rtl="0" eaLnBrk="0">
              <a:lnSpc>
                <a:spcPct val="89000"/>
              </a:lnSpc>
              <a:spcBef>
                <a:spcPts val="252"/>
              </a:spcBef>
              <a:tabLst/>
            </a:pP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4.</a:t>
            </a:r>
            <a:r>
              <a:rPr sz="700" kern="0" spc="1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 </a:t>
            </a: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Risks and imped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iments are</a:t>
            </a:r>
            <a:r>
              <a:rPr sz="700" kern="0" spc="7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managed collaboratively;</a:t>
            </a:r>
            <a:endParaRPr sz="700" dirty="0">
              <a:latin typeface="Arial Narrow"/>
              <a:ea typeface="Arial Narrow"/>
              <a:cs typeface="Arial Narrow"/>
            </a:endParaRPr>
          </a:p>
          <a:p>
            <a:pPr marL="14605" algn="l" rtl="0" eaLnBrk="0">
              <a:lnSpc>
                <a:spcPct val="89000"/>
              </a:lnSpc>
              <a:spcBef>
                <a:spcPts val="252"/>
              </a:spcBef>
              <a:tabLst/>
            </a:pP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5.</a:t>
            </a:r>
            <a:r>
              <a:rPr sz="700" kern="0" spc="19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Technical approach and content are in</a:t>
            </a:r>
            <a:r>
              <a:rPr sz="700" kern="0" spc="6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line with</a:t>
            </a: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shared</a:t>
            </a:r>
            <a:r>
              <a:rPr sz="700" kern="0" spc="7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Product Vision;</a:t>
            </a: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and</a:t>
            </a:r>
            <a:endParaRPr sz="700" dirty="0">
              <a:latin typeface="Arial Narrow"/>
              <a:ea typeface="Arial Narrow"/>
              <a:cs typeface="Arial Narrow"/>
            </a:endParaRPr>
          </a:p>
          <a:p>
            <a:pPr marL="14605" algn="l" rtl="0" eaLnBrk="0">
              <a:lnSpc>
                <a:spcPct val="89000"/>
              </a:lnSpc>
              <a:spcBef>
                <a:spcPts val="253"/>
              </a:spcBef>
              <a:tabLst/>
            </a:pP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6.</a:t>
            </a:r>
            <a:r>
              <a:rPr sz="700" kern="0" spc="1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Progress of all partners is continuously</a:t>
            </a:r>
            <a:r>
              <a:rPr sz="700" kern="0" spc="5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and jointly</a:t>
            </a:r>
            <a:r>
              <a:rPr sz="700" kern="0" spc="6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inspected.</a:t>
            </a:r>
            <a:endParaRPr sz="700" dirty="0">
              <a:latin typeface="Arial Narrow"/>
              <a:ea typeface="Arial Narrow"/>
              <a:cs typeface="Arial Narrow"/>
            </a:endParaRPr>
          </a:p>
          <a:p>
            <a:pPr algn="l" rtl="0" eaLnBrk="0">
              <a:lnSpc>
                <a:spcPct val="11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2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76000"/>
              </a:lnSpc>
              <a:tabLst/>
            </a:pPr>
            <a:r>
              <a:rPr sz="800" b="1" kern="0" spc="160" dirty="0">
                <a:solidFill>
                  <a:srgbClr val="808285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DRAFT -</a:t>
            </a:r>
            <a:r>
              <a:rPr sz="800" b="1" kern="0" spc="140" dirty="0">
                <a:solidFill>
                  <a:srgbClr val="808285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800" b="1" kern="0" spc="160" dirty="0">
                <a:solidFill>
                  <a:srgbClr val="808285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REA</a:t>
            </a:r>
            <a:r>
              <a:rPr sz="800" b="1" kern="0" spc="150" dirty="0">
                <a:solidFill>
                  <a:srgbClr val="808285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DY FOR</a:t>
            </a:r>
            <a:r>
              <a:rPr sz="800" b="1" kern="0" spc="140" dirty="0">
                <a:solidFill>
                  <a:srgbClr val="808285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800" b="1" kern="0" spc="150" dirty="0">
                <a:solidFill>
                  <a:srgbClr val="808285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PILOTING</a:t>
            </a:r>
            <a:r>
              <a:rPr sz="800" b="1" kern="0" spc="140" dirty="0">
                <a:solidFill>
                  <a:srgbClr val="808285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800" b="1" kern="0" spc="150" dirty="0">
                <a:solidFill>
                  <a:srgbClr val="808285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-</a:t>
            </a:r>
            <a:r>
              <a:rPr sz="800" b="1" kern="0" spc="140" dirty="0">
                <a:solidFill>
                  <a:srgbClr val="808285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800" b="1" kern="0" spc="150" dirty="0">
                <a:solidFill>
                  <a:srgbClr val="808285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FEEDBACK WELCOME</a:t>
            </a:r>
            <a:endParaRPr sz="800" dirty="0">
              <a:latin typeface="Arial Narrow"/>
              <a:ea typeface="Arial Narrow"/>
              <a:cs typeface="Arial Narrow"/>
            </a:endParaRPr>
          </a:p>
        </p:txBody>
      </p:sp>
      <p:sp>
        <p:nvSpPr>
          <p:cNvPr id="290" name="textbox 290"/>
          <p:cNvSpPr/>
          <p:nvPr/>
        </p:nvSpPr>
        <p:spPr>
          <a:xfrm>
            <a:off x="275311" y="383304"/>
            <a:ext cx="4824095" cy="31496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90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tabLst/>
            </a:pPr>
            <a:r>
              <a:rPr sz="800" b="1" kern="0" spc="5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AGL.2 Partne</a:t>
            </a:r>
            <a:r>
              <a:rPr sz="800" b="1" kern="0" spc="4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r Collaboration Management  – Purpose and Outcomes</a:t>
            </a:r>
            <a:endParaRPr sz="800" dirty="0">
              <a:latin typeface="Arial Narrow"/>
              <a:ea typeface="Arial Narrow"/>
              <a:cs typeface="Arial Narrow"/>
            </a:endParaRPr>
          </a:p>
          <a:p>
            <a:pPr algn="l" rtl="0" eaLnBrk="0">
              <a:lnSpc>
                <a:spcPct val="114000"/>
              </a:lnSpc>
              <a:tabLst/>
            </a:pPr>
            <a:endParaRPr sz="500" dirty="0">
              <a:latin typeface="Arial"/>
              <a:ea typeface="Arial"/>
              <a:cs typeface="Arial"/>
            </a:endParaRPr>
          </a:p>
          <a:p>
            <a:pPr marL="14605" algn="l" rtl="0" eaLnBrk="0">
              <a:lnSpc>
                <a:spcPct val="89000"/>
              </a:lnSpc>
              <a:spcBef>
                <a:spcPts val="4"/>
              </a:spcBef>
              <a:tabLst/>
            </a:pP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The purpose of the</a:t>
            </a:r>
            <a:r>
              <a:rPr sz="700" kern="0" spc="7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Pa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rtner Collaboration</a:t>
            </a:r>
            <a:r>
              <a:rPr sz="700" kern="0" spc="7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Management</a:t>
            </a:r>
            <a:r>
              <a:rPr sz="700" kern="0" spc="7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Process is to achieve</a:t>
            </a: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common</a:t>
            </a:r>
            <a:r>
              <a:rPr sz="700" kern="0" spc="6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project</a:t>
            </a: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goals</a:t>
            </a:r>
            <a:r>
              <a:rPr sz="700" kern="0" spc="7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in</a:t>
            </a: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collaboration with</a:t>
            </a: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a</a:t>
            </a:r>
            <a:r>
              <a:rPr sz="700" kern="0" spc="7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partner.</a:t>
            </a:r>
            <a:endParaRPr sz="700" dirty="0">
              <a:latin typeface="Arial Narrow"/>
              <a:ea typeface="Arial Narrow"/>
              <a:cs typeface="Arial Narrow"/>
            </a:endParaRPr>
          </a:p>
        </p:txBody>
      </p:sp>
      <p:sp>
        <p:nvSpPr>
          <p:cNvPr id="292" name="textbox 292"/>
          <p:cNvSpPr/>
          <p:nvPr/>
        </p:nvSpPr>
        <p:spPr>
          <a:xfrm>
            <a:off x="288012" y="1180792"/>
            <a:ext cx="4968240" cy="137160"/>
          </a:xfrm>
          <a:prstGeom prst="rect">
            <a:avLst/>
          </a:prstGeom>
          <a:solidFill>
            <a:srgbClr val="015AAA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4000"/>
              </a:lnSpc>
              <a:tabLst/>
            </a:pPr>
            <a:endParaRPr sz="200" dirty="0">
              <a:latin typeface="Arial"/>
              <a:ea typeface="Arial"/>
              <a:cs typeface="Arial"/>
            </a:endParaRPr>
          </a:p>
          <a:p>
            <a:pPr marL="30480" algn="l" rtl="0" eaLnBrk="0">
              <a:lnSpc>
                <a:spcPct val="89000"/>
              </a:lnSpc>
              <a:spcBef>
                <a:spcPts val="1"/>
              </a:spcBef>
              <a:tabLst/>
            </a:pPr>
            <a:r>
              <a:rPr sz="700" b="1" kern="0" spc="120" dirty="0">
                <a:solidFill>
                  <a:srgbClr val="FFFFFF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Agile Process Ou</a:t>
            </a:r>
            <a:r>
              <a:rPr sz="700" b="1" kern="0" spc="110" dirty="0">
                <a:solidFill>
                  <a:srgbClr val="FFFFFF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tcomes</a:t>
            </a:r>
            <a:endParaRPr sz="700" dirty="0">
              <a:latin typeface="Arial Narrow"/>
              <a:ea typeface="Arial Narrow"/>
              <a:cs typeface="Arial Narrow"/>
            </a:endParaRPr>
          </a:p>
        </p:txBody>
      </p:sp>
      <p:sp>
        <p:nvSpPr>
          <p:cNvPr id="294" name="textbox 294"/>
          <p:cNvSpPr/>
          <p:nvPr/>
        </p:nvSpPr>
        <p:spPr>
          <a:xfrm>
            <a:off x="2726139" y="3644904"/>
            <a:ext cx="2543175" cy="1727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09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tabLst/>
            </a:pPr>
            <a:r>
              <a:rPr sz="500" b="1" kern="0" spc="1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24                                  </a:t>
            </a:r>
            <a:r>
              <a:rPr sz="500" b="1" kern="0" spc="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                                                                             </a:t>
            </a:r>
            <a:r>
              <a:rPr sz="1000" u="sng" kern="0" spc="0" dirty="0">
                <a:solidFill>
                  <a:srgbClr val="0E3654">
                    <a:alpha val="100000"/>
                  </a:srgbClr>
                </a:solidFill>
                <a:latin typeface="Arial"/>
                <a:ea typeface="Arial"/>
                <a:cs typeface="Arial"/>
              </a:rPr>
              <a:t>intacs</a:t>
            </a:r>
            <a:r>
              <a:rPr sz="1000" u="sng" kern="0" spc="0" dirty="0">
                <a:solidFill>
                  <a:srgbClr val="0E3654">
                    <a:alpha val="100000"/>
                  </a:srgbClr>
                </a:solidFill>
                <a:latin typeface="Arial"/>
                <a:ea typeface="Arial"/>
                <a:cs typeface="Arial"/>
              </a:rPr>
              <a:t>.</a:t>
            </a:r>
            <a:r>
              <a:rPr sz="1000" u="sng" kern="0" spc="-180" dirty="0">
                <a:solidFill>
                  <a:srgbClr val="0E365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u="sng" kern="0" spc="0" dirty="0">
                <a:solidFill>
                  <a:srgbClr val="0E3654">
                    <a:alpha val="100000"/>
                  </a:srgbClr>
                </a:solidFill>
                <a:latin typeface="Arial"/>
                <a:ea typeface="Arial"/>
                <a:cs typeface="Arial"/>
              </a:rPr>
              <a:t>infoul</a:t>
            </a:r>
            <a:r>
              <a:rPr sz="1000" kern="0" spc="0" dirty="0">
                <a:solidFill>
                  <a:srgbClr val="0E3654">
                    <a:alpha val="100000"/>
                  </a:srgbClr>
                </a:solidFill>
                <a:latin typeface="Arial"/>
                <a:ea typeface="Arial"/>
                <a:cs typeface="Arial"/>
              </a:rPr>
              <a:t>al</a:t>
            </a:r>
            <a:endParaRPr sz="1000" dirty="0">
              <a:latin typeface="Arial"/>
              <a:ea typeface="Arial"/>
              <a:cs typeface="Arial"/>
            </a:endParaRPr>
          </a:p>
        </p:txBody>
      </p:sp>
      <p:sp>
        <p:nvSpPr>
          <p:cNvPr id="296" name="textbox 296"/>
          <p:cNvSpPr/>
          <p:nvPr/>
        </p:nvSpPr>
        <p:spPr>
          <a:xfrm>
            <a:off x="5226288" y="3775564"/>
            <a:ext cx="41275" cy="419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26"/>
              </a:lnSpc>
              <a:tabLst/>
            </a:pPr>
            <a:r>
              <a:rPr sz="100" kern="0" spc="20" dirty="0">
                <a:solidFill>
                  <a:srgbClr val="0E3654">
                    <a:alpha val="100000"/>
                  </a:srgbClr>
                </a:solidFill>
                <a:latin typeface="Arial"/>
                <a:ea typeface="Arial"/>
                <a:cs typeface="Arial"/>
              </a:rPr>
              <a:t>M</a:t>
            </a:r>
            <a:endParaRPr sz="100" dirty="0"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textbox 298"/>
          <p:cNvSpPr/>
          <p:nvPr/>
        </p:nvSpPr>
        <p:spPr>
          <a:xfrm>
            <a:off x="278788" y="383304"/>
            <a:ext cx="4964430" cy="323596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90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tabLst/>
            </a:pPr>
            <a:r>
              <a:rPr sz="800" b="1" kern="0" spc="5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AGL.2 Par</a:t>
            </a:r>
            <a:r>
              <a:rPr sz="800" b="1" kern="0" spc="4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tner Collaboration Management – Practice Summary</a:t>
            </a:r>
            <a:endParaRPr sz="800" dirty="0">
              <a:latin typeface="Arial Narrow"/>
              <a:ea typeface="Arial Narrow"/>
              <a:cs typeface="Arial Narrow"/>
            </a:endParaRPr>
          </a:p>
          <a:p>
            <a:pPr marL="252730" indent="-237490" algn="l" rtl="0" eaLnBrk="0">
              <a:lnSpc>
                <a:spcPct val="112000"/>
              </a:lnSpc>
              <a:spcBef>
                <a:spcPts val="971"/>
              </a:spcBef>
              <a:tabLst/>
            </a:pPr>
            <a:r>
              <a:rPr sz="700" b="1" kern="0" spc="4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BP1   </a:t>
            </a:r>
            <a:r>
              <a:rPr sz="700" b="1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Establish a collaboration</a:t>
            </a:r>
            <a:r>
              <a:rPr sz="700" b="1" kern="0" spc="6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b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model.</a:t>
            </a:r>
            <a:r>
              <a:rPr sz="700" b="1" kern="0" spc="8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Establish</a:t>
            </a: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and</a:t>
            </a:r>
            <a:r>
              <a:rPr sz="700" kern="0" spc="6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maintain</a:t>
            </a: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an</a:t>
            </a:r>
            <a:r>
              <a:rPr sz="700" kern="0" spc="5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agreement on</a:t>
            </a:r>
            <a:r>
              <a:rPr sz="700" kern="0" spc="6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how</a:t>
            </a:r>
            <a:r>
              <a:rPr sz="700" kern="0" spc="6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partners</a:t>
            </a:r>
            <a:r>
              <a:rPr sz="700" kern="0" spc="5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collaborate,</a:t>
            </a:r>
            <a:r>
              <a:rPr sz="700" kern="0" spc="6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how</a:t>
            </a: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and</a:t>
            </a:r>
            <a:r>
              <a:rPr sz="700" kern="0" spc="6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how</a:t>
            </a: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often</a:t>
            </a: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they</a:t>
            </a:r>
            <a:r>
              <a:rPr sz="700" kern="0" spc="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 </a:t>
            </a: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align and synchroniz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e, and which information is</a:t>
            </a: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shared</a:t>
            </a: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among the</a:t>
            </a:r>
            <a:r>
              <a:rPr sz="700" kern="0" spc="6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partners.</a:t>
            </a:r>
            <a:endParaRPr sz="700" dirty="0">
              <a:latin typeface="Arial Narrow"/>
              <a:ea typeface="Arial Narrow"/>
              <a:cs typeface="Arial Narrow"/>
            </a:endParaRPr>
          </a:p>
          <a:p>
            <a:pPr marL="15240" algn="l" rtl="0" eaLnBrk="0">
              <a:lnSpc>
                <a:spcPct val="89000"/>
              </a:lnSpc>
              <a:spcBef>
                <a:spcPts val="317"/>
              </a:spcBef>
              <a:tabLst/>
            </a:pPr>
            <a:r>
              <a:rPr sz="700" b="1" kern="0" spc="4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BP2   </a:t>
            </a:r>
            <a:r>
              <a:rPr sz="700" b="1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Share</a:t>
            </a:r>
            <a:r>
              <a:rPr sz="700" b="1" kern="0" spc="6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b="1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information.</a:t>
            </a:r>
            <a:r>
              <a:rPr sz="700" b="1" kern="0" spc="8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Estab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lish communication to share</a:t>
            </a: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all</a:t>
            </a: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agreed</a:t>
            </a:r>
            <a:r>
              <a:rPr sz="700" kern="0" spc="6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information</a:t>
            </a:r>
            <a:r>
              <a:rPr sz="700" kern="0" spc="7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between</a:t>
            </a:r>
            <a:r>
              <a:rPr sz="700" kern="0" spc="6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partners.</a:t>
            </a:r>
            <a:endParaRPr sz="700" dirty="0">
              <a:latin typeface="Arial Narrow"/>
              <a:ea typeface="Arial Narrow"/>
              <a:cs typeface="Arial Narrow"/>
            </a:endParaRPr>
          </a:p>
          <a:p>
            <a:pPr marL="252730" indent="-237490" algn="l" rtl="0" eaLnBrk="0">
              <a:lnSpc>
                <a:spcPct val="113000"/>
              </a:lnSpc>
              <a:spcBef>
                <a:spcPts val="207"/>
              </a:spcBef>
              <a:tabLst/>
            </a:pPr>
            <a:r>
              <a:rPr sz="700" b="1" kern="0" spc="4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BP3   </a:t>
            </a:r>
            <a:r>
              <a:rPr sz="700" b="1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Establish a techn</a:t>
            </a:r>
            <a:r>
              <a:rPr sz="700" b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ical</a:t>
            </a:r>
            <a:r>
              <a:rPr sz="700" b="1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b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approach.</a:t>
            </a:r>
            <a:r>
              <a:rPr sz="700" b="1" kern="0" spc="-1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A technical approach</a:t>
            </a:r>
            <a:r>
              <a:rPr sz="700" kern="0" spc="6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is jointly developed,</a:t>
            </a: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agreed</a:t>
            </a:r>
            <a:r>
              <a:rPr sz="700" kern="0" spc="6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upon</a:t>
            </a: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and</a:t>
            </a:r>
            <a:r>
              <a:rPr sz="700" kern="0" spc="7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kept</a:t>
            </a:r>
            <a:r>
              <a:rPr sz="700" kern="0" spc="6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up to</a:t>
            </a: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date</a:t>
            </a: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on</a:t>
            </a: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a</a:t>
            </a:r>
            <a:r>
              <a:rPr sz="700" kern="0" spc="6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regular</a:t>
            </a:r>
            <a:r>
              <a:rPr sz="700" kern="0" spc="6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basis</a:t>
            </a:r>
            <a:r>
              <a:rPr sz="700" kern="0" spc="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as documented i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n the collaboration</a:t>
            </a: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agreement.</a:t>
            </a:r>
            <a:endParaRPr sz="700" dirty="0">
              <a:latin typeface="Arial Narrow"/>
              <a:ea typeface="Arial Narrow"/>
              <a:cs typeface="Arial Narrow"/>
            </a:endParaRPr>
          </a:p>
          <a:p>
            <a:pPr marL="256540" indent="-241300" algn="l" rtl="0" eaLnBrk="0">
              <a:lnSpc>
                <a:spcPct val="112000"/>
              </a:lnSpc>
              <a:spcBef>
                <a:spcPts val="203"/>
              </a:spcBef>
              <a:tabLst/>
            </a:pPr>
            <a:r>
              <a:rPr sz="700" b="1" kern="0" spc="4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BP4   </a:t>
            </a:r>
            <a:r>
              <a:rPr sz="700" b="1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Review joint technical content.</a:t>
            </a:r>
            <a:r>
              <a:rPr sz="700" b="1" kern="0" spc="7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Perform r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eviews</a:t>
            </a: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on</a:t>
            </a:r>
            <a:r>
              <a:rPr sz="700" kern="0" spc="-1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jointly</a:t>
            </a: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developed technical</a:t>
            </a:r>
            <a:r>
              <a:rPr sz="700" kern="0" spc="5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content with</a:t>
            </a:r>
            <a:r>
              <a:rPr sz="700" kern="0" spc="6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regard to</a:t>
            </a:r>
            <a:r>
              <a:rPr sz="700" kern="0" spc="-1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Acceptance</a:t>
            </a:r>
            <a:r>
              <a:rPr sz="700" kern="0" spc="5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Criteria</a:t>
            </a: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and</a:t>
            </a:r>
            <a:r>
              <a:rPr sz="700" kern="0" spc="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Definition of Done on regular basis</a:t>
            </a:r>
            <a:r>
              <a:rPr sz="700" kern="0" spc="7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as</a:t>
            </a:r>
            <a:r>
              <a:rPr sz="700" kern="0" spc="5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agreed</a:t>
            </a:r>
            <a:r>
              <a:rPr sz="700" kern="0" spc="6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in the</a:t>
            </a:r>
            <a:r>
              <a:rPr sz="700" kern="0" spc="5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collaboration</a:t>
            </a:r>
            <a:r>
              <a:rPr sz="700" kern="0" spc="6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model.</a:t>
            </a:r>
            <a:endParaRPr sz="700" dirty="0">
              <a:latin typeface="Arial Narrow"/>
              <a:ea typeface="Arial Narrow"/>
              <a:cs typeface="Arial Narrow"/>
            </a:endParaRPr>
          </a:p>
          <a:p>
            <a:pPr marL="15240" algn="l" rtl="0" eaLnBrk="0">
              <a:lnSpc>
                <a:spcPct val="90000"/>
              </a:lnSpc>
              <a:spcBef>
                <a:spcPts val="309"/>
              </a:spcBef>
              <a:tabLst/>
            </a:pPr>
            <a:r>
              <a:rPr sz="700" b="1" kern="0" spc="4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BP5   </a:t>
            </a:r>
            <a:r>
              <a:rPr sz="700" b="1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Inspect jo</a:t>
            </a:r>
            <a:r>
              <a:rPr sz="700" b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int progress.</a:t>
            </a:r>
            <a:r>
              <a:rPr sz="700" b="1" kern="0" spc="7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Measure, visualize, and</a:t>
            </a:r>
            <a:r>
              <a:rPr sz="700" kern="0" spc="6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inspect joint</a:t>
            </a:r>
            <a:r>
              <a:rPr sz="700" kern="0" spc="6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progress continuously with</a:t>
            </a:r>
            <a:r>
              <a:rPr sz="700" kern="0" spc="7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regard to</a:t>
            </a: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quality,</a:t>
            </a: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effort,</a:t>
            </a:r>
            <a:r>
              <a:rPr sz="700" kern="0" spc="5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cost</a:t>
            </a: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and</a:t>
            </a: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sche-</a:t>
            </a:r>
            <a:endParaRPr sz="700" dirty="0">
              <a:latin typeface="Arial Narrow"/>
              <a:ea typeface="Arial Narrow"/>
              <a:cs typeface="Arial Narrow"/>
            </a:endParaRPr>
          </a:p>
          <a:p>
            <a:pPr marL="252730" algn="l" rtl="0" eaLnBrk="0">
              <a:lnSpc>
                <a:spcPct val="89000"/>
              </a:lnSpc>
              <a:spcBef>
                <a:spcPts val="252"/>
              </a:spcBef>
              <a:tabLst/>
            </a:pP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dule agains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t plan.</a:t>
            </a:r>
            <a:r>
              <a:rPr sz="700" kern="0" spc="8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Identify technical and business</a:t>
            </a:r>
            <a:r>
              <a:rPr sz="700" kern="0" spc="6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risks,</a:t>
            </a:r>
            <a:r>
              <a:rPr sz="700" kern="0" spc="7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impediments, and</a:t>
            </a: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deviations from</a:t>
            </a: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desired</a:t>
            </a: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status</a:t>
            </a:r>
            <a:r>
              <a:rPr sz="700" kern="0" spc="5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collaboratively.</a:t>
            </a:r>
            <a:endParaRPr sz="700" dirty="0">
              <a:latin typeface="Arial Narrow"/>
              <a:ea typeface="Arial Narrow"/>
              <a:cs typeface="Arial Narrow"/>
            </a:endParaRPr>
          </a:p>
          <a:p>
            <a:pPr marL="252730" indent="-237490" algn="l" rtl="0" eaLnBrk="0">
              <a:lnSpc>
                <a:spcPct val="113000"/>
              </a:lnSpc>
              <a:spcBef>
                <a:spcPts val="207"/>
              </a:spcBef>
              <a:tabLst/>
            </a:pPr>
            <a:r>
              <a:rPr sz="700" b="1" kern="0" spc="4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BP6   </a:t>
            </a:r>
            <a:r>
              <a:rPr sz="700" b="1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Act on risks,</a:t>
            </a:r>
            <a:r>
              <a:rPr sz="700" b="1" kern="0" spc="6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b="1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impediments, and</a:t>
            </a:r>
            <a:r>
              <a:rPr sz="700" b="1" kern="0" spc="5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b="1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devia</a:t>
            </a:r>
            <a:r>
              <a:rPr sz="700" b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tions.</a:t>
            </a:r>
            <a:r>
              <a:rPr sz="700" b="1" kern="0" spc="7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Mitigate technical</a:t>
            </a: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and</a:t>
            </a:r>
            <a:r>
              <a:rPr sz="700" kern="0" spc="6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business</a:t>
            </a:r>
            <a:r>
              <a:rPr sz="700" kern="0" spc="7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risks,</a:t>
            </a:r>
            <a:r>
              <a:rPr sz="700" kern="0" spc="6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impediments,</a:t>
            </a: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and</a:t>
            </a: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deviations from</a:t>
            </a: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desired</a:t>
            </a:r>
            <a:r>
              <a:rPr sz="700" kern="0" spc="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status collaborativel</a:t>
            </a:r>
            <a:r>
              <a:rPr sz="700" kern="0" spc="2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y.</a:t>
            </a:r>
            <a:endParaRPr sz="700" dirty="0">
              <a:latin typeface="Arial Narrow"/>
              <a:ea typeface="Arial Narrow"/>
              <a:cs typeface="Arial Narrow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200" dirty="0">
              <a:latin typeface="Arial"/>
              <a:ea typeface="Arial"/>
              <a:cs typeface="Arial"/>
            </a:endParaRPr>
          </a:p>
          <a:p>
            <a:pPr marL="927735" algn="l" rtl="0" eaLnBrk="0">
              <a:lnSpc>
                <a:spcPct val="76000"/>
              </a:lnSpc>
              <a:spcBef>
                <a:spcPts val="1"/>
              </a:spcBef>
              <a:tabLst/>
            </a:pPr>
            <a:r>
              <a:rPr sz="800" b="1" kern="0" spc="160" dirty="0">
                <a:solidFill>
                  <a:srgbClr val="808285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DRAFT -</a:t>
            </a:r>
            <a:r>
              <a:rPr sz="800" b="1" kern="0" spc="140" dirty="0">
                <a:solidFill>
                  <a:srgbClr val="808285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800" b="1" kern="0" spc="160" dirty="0">
                <a:solidFill>
                  <a:srgbClr val="808285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REA</a:t>
            </a:r>
            <a:r>
              <a:rPr sz="800" b="1" kern="0" spc="150" dirty="0">
                <a:solidFill>
                  <a:srgbClr val="808285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DY FOR</a:t>
            </a:r>
            <a:r>
              <a:rPr sz="800" b="1" kern="0" spc="140" dirty="0">
                <a:solidFill>
                  <a:srgbClr val="808285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800" b="1" kern="0" spc="150" dirty="0">
                <a:solidFill>
                  <a:srgbClr val="808285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PILOTING</a:t>
            </a:r>
            <a:r>
              <a:rPr sz="800" b="1" kern="0" spc="140" dirty="0">
                <a:solidFill>
                  <a:srgbClr val="808285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800" b="1" kern="0" spc="150" dirty="0">
                <a:solidFill>
                  <a:srgbClr val="808285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-</a:t>
            </a:r>
            <a:r>
              <a:rPr sz="800" b="1" kern="0" spc="140" dirty="0">
                <a:solidFill>
                  <a:srgbClr val="808285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800" b="1" kern="0" spc="150" dirty="0">
                <a:solidFill>
                  <a:srgbClr val="808285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FEEDBACK WELCOME</a:t>
            </a:r>
            <a:endParaRPr sz="800" dirty="0">
              <a:latin typeface="Arial Narrow"/>
              <a:ea typeface="Arial Narrow"/>
              <a:cs typeface="Arial Narrow"/>
            </a:endParaRPr>
          </a:p>
        </p:txBody>
      </p:sp>
      <p:sp>
        <p:nvSpPr>
          <p:cNvPr id="300" name="textbox 300"/>
          <p:cNvSpPr/>
          <p:nvPr/>
        </p:nvSpPr>
        <p:spPr>
          <a:xfrm>
            <a:off x="2726139" y="3644904"/>
            <a:ext cx="2543175" cy="1727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09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tabLst/>
            </a:pPr>
            <a:r>
              <a:rPr sz="500" b="1" kern="0" spc="1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25                                  </a:t>
            </a:r>
            <a:r>
              <a:rPr sz="500" b="1" kern="0" spc="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                                                                             </a:t>
            </a:r>
            <a:r>
              <a:rPr sz="1000" u="sng" kern="0" spc="0" dirty="0">
                <a:solidFill>
                  <a:srgbClr val="0E3654">
                    <a:alpha val="100000"/>
                  </a:srgbClr>
                </a:solidFill>
                <a:latin typeface="Arial"/>
                <a:ea typeface="Arial"/>
                <a:cs typeface="Arial"/>
              </a:rPr>
              <a:t>intacs</a:t>
            </a:r>
            <a:r>
              <a:rPr sz="1000" u="sng" kern="0" spc="0" dirty="0">
                <a:solidFill>
                  <a:srgbClr val="0E3654">
                    <a:alpha val="100000"/>
                  </a:srgbClr>
                </a:solidFill>
                <a:latin typeface="Arial"/>
                <a:ea typeface="Arial"/>
                <a:cs typeface="Arial"/>
              </a:rPr>
              <a:t>.</a:t>
            </a:r>
            <a:r>
              <a:rPr sz="1000" u="sng" kern="0" spc="-180" dirty="0">
                <a:solidFill>
                  <a:srgbClr val="0E365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u="sng" kern="0" spc="0" dirty="0">
                <a:solidFill>
                  <a:srgbClr val="0E3654">
                    <a:alpha val="100000"/>
                  </a:srgbClr>
                </a:solidFill>
                <a:latin typeface="Arial"/>
                <a:ea typeface="Arial"/>
                <a:cs typeface="Arial"/>
              </a:rPr>
              <a:t>infoul</a:t>
            </a:r>
            <a:r>
              <a:rPr sz="1000" kern="0" spc="0" dirty="0">
                <a:solidFill>
                  <a:srgbClr val="0E3654">
                    <a:alpha val="100000"/>
                  </a:srgbClr>
                </a:solidFill>
                <a:latin typeface="Arial"/>
                <a:ea typeface="Arial"/>
                <a:cs typeface="Arial"/>
              </a:rPr>
              <a:t>al</a:t>
            </a:r>
            <a:endParaRPr sz="1000" dirty="0">
              <a:latin typeface="Arial"/>
              <a:ea typeface="Arial"/>
              <a:cs typeface="Arial"/>
            </a:endParaRPr>
          </a:p>
        </p:txBody>
      </p:sp>
      <p:sp>
        <p:nvSpPr>
          <p:cNvPr id="302" name="textbox 302"/>
          <p:cNvSpPr/>
          <p:nvPr/>
        </p:nvSpPr>
        <p:spPr>
          <a:xfrm>
            <a:off x="5226288" y="3775564"/>
            <a:ext cx="41275" cy="419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26"/>
              </a:lnSpc>
              <a:tabLst/>
            </a:pPr>
            <a:r>
              <a:rPr sz="100" kern="0" spc="20" dirty="0">
                <a:solidFill>
                  <a:srgbClr val="0E3654">
                    <a:alpha val="100000"/>
                  </a:srgbClr>
                </a:solidFill>
                <a:latin typeface="Arial"/>
                <a:ea typeface="Arial"/>
                <a:cs typeface="Arial"/>
              </a:rPr>
              <a:t>M</a:t>
            </a:r>
            <a:endParaRPr sz="100" dirty="0"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rect 304"/>
          <p:cNvSpPr/>
          <p:nvPr/>
        </p:nvSpPr>
        <p:spPr>
          <a:xfrm>
            <a:off x="287988" y="590388"/>
            <a:ext cx="4968714" cy="2700003"/>
          </a:xfrm>
          <a:prstGeom prst="rect">
            <a:avLst/>
          </a:prstGeom>
          <a:solidFill>
            <a:srgbClr val="E8EBF6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06" name="textbox 306"/>
          <p:cNvSpPr/>
          <p:nvPr/>
        </p:nvSpPr>
        <p:spPr>
          <a:xfrm>
            <a:off x="581302" y="604614"/>
            <a:ext cx="4612640" cy="143700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603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5240" indent="3175" algn="l" rtl="0" eaLnBrk="0">
              <a:lnSpc>
                <a:spcPct val="111000"/>
              </a:lnSpc>
              <a:tabLst/>
            </a:pPr>
            <a:r>
              <a:rPr sz="700" b="1" kern="0" spc="3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Establish a collaboration model.</a:t>
            </a:r>
            <a:r>
              <a:rPr sz="700" b="1" kern="0" spc="6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Establish and maintain</a:t>
            </a: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an</a:t>
            </a: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agreement</a:t>
            </a: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on</a:t>
            </a:r>
            <a:r>
              <a:rPr sz="700" kern="0" spc="6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how</a:t>
            </a:r>
            <a:r>
              <a:rPr sz="700" kern="0" spc="5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partners</a:t>
            </a: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collaborat</a:t>
            </a:r>
            <a:r>
              <a:rPr sz="700" kern="0" spc="2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e,</a:t>
            </a:r>
            <a:r>
              <a:rPr sz="700" kern="0" spc="6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2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how</a:t>
            </a: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2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and</a:t>
            </a:r>
            <a:r>
              <a:rPr sz="700" kern="0" spc="6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2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how</a:t>
            </a: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2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often they</a:t>
            </a:r>
            <a:r>
              <a:rPr sz="700" kern="0" spc="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align and synchronize, and which information is shared</a:t>
            </a: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am</a:t>
            </a:r>
            <a:r>
              <a:rPr sz="700" kern="0" spc="2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ong the</a:t>
            </a:r>
            <a:r>
              <a:rPr sz="700" kern="0" spc="6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2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partners.</a:t>
            </a:r>
            <a:r>
              <a:rPr sz="700" kern="0" spc="6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2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[OUTCOME</a:t>
            </a:r>
            <a:r>
              <a:rPr sz="700" kern="0" spc="8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2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1,</a:t>
            </a:r>
            <a:r>
              <a:rPr sz="700" kern="0" spc="4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2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2,</a:t>
            </a:r>
            <a:r>
              <a:rPr sz="700" kern="0" spc="4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2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3]</a:t>
            </a:r>
            <a:endParaRPr sz="700" dirty="0">
              <a:latin typeface="Arial Narrow"/>
              <a:ea typeface="Arial Narrow"/>
              <a:cs typeface="Arial Narrow"/>
            </a:endParaRPr>
          </a:p>
          <a:p>
            <a:pPr marL="18415" algn="l" rtl="0" eaLnBrk="0">
              <a:lnSpc>
                <a:spcPct val="76000"/>
              </a:lnSpc>
              <a:spcBef>
                <a:spcPts val="221"/>
              </a:spcBef>
              <a:tabLst/>
            </a:pPr>
            <a:r>
              <a:rPr sz="700" b="1" kern="0" spc="3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Notes &amp;</a:t>
            </a:r>
            <a:r>
              <a:rPr sz="700" b="1" kern="0" spc="11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b="1" kern="0" spc="3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Definitions:</a:t>
            </a:r>
            <a:endParaRPr sz="700" dirty="0">
              <a:latin typeface="Arial Narrow"/>
              <a:ea typeface="Arial Narrow"/>
              <a:cs typeface="Arial Narrow"/>
            </a:endParaRPr>
          </a:p>
          <a:p>
            <a:pPr marL="120650" algn="l" rtl="0" eaLnBrk="0">
              <a:lnSpc>
                <a:spcPts val="1041"/>
              </a:lnSpc>
              <a:spcBef>
                <a:spcPts val="114"/>
              </a:spcBef>
              <a:tabLst/>
            </a:pP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▪ </a:t>
            </a:r>
            <a:r>
              <a:rPr sz="700" i="1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Ensure that the colla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boration model is based on</a:t>
            </a:r>
            <a:r>
              <a:rPr sz="700" i="1" kern="0" spc="5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a</a:t>
            </a:r>
            <a:r>
              <a:rPr sz="700" i="1" kern="0" spc="5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common</a:t>
            </a:r>
            <a:r>
              <a:rPr sz="700" i="1" kern="0" spc="6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understanding regarding</a:t>
            </a:r>
            <a:r>
              <a:rPr sz="700" i="1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roles,</a:t>
            </a:r>
            <a:r>
              <a:rPr sz="700" i="1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meetings,</a:t>
            </a:r>
            <a:r>
              <a:rPr sz="700" i="1" kern="0" spc="5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and artifacts.</a:t>
            </a:r>
            <a:endParaRPr sz="700" dirty="0">
              <a:latin typeface="Arial Narrow"/>
              <a:ea typeface="Arial Narrow"/>
              <a:cs typeface="Arial Narrow"/>
            </a:endParaRPr>
          </a:p>
          <a:p>
            <a:pPr marL="179705" indent="-59055" algn="l" rtl="0" eaLnBrk="0">
              <a:lnSpc>
                <a:spcPct val="119000"/>
              </a:lnSpc>
              <a:spcBef>
                <a:spcPts val="1"/>
              </a:spcBef>
              <a:tabLst/>
            </a:pP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▪</a:t>
            </a:r>
            <a:r>
              <a:rPr sz="700" kern="0" spc="9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While cooperation i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s a loosely coupled group</a:t>
            </a:r>
            <a:r>
              <a:rPr sz="700" i="1" kern="0" spc="8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work, agile collaboration is</a:t>
            </a:r>
            <a:r>
              <a:rPr sz="700" i="1" kern="0" spc="6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characterized by a</a:t>
            </a:r>
            <a:r>
              <a:rPr sz="700" i="1" kern="0" spc="6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teamwork with</a:t>
            </a:r>
            <a:r>
              <a:rPr sz="700" i="1" kern="0" spc="5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a</a:t>
            </a:r>
            <a:r>
              <a:rPr sz="700" i="1" kern="0" spc="5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common</a:t>
            </a:r>
            <a:r>
              <a:rPr sz="700" i="1" kern="0" spc="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   </a:t>
            </a:r>
            <a:r>
              <a:rPr sz="700" i="1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goal, continuous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alignment and synchronization.</a:t>
            </a:r>
            <a:endParaRPr sz="700" dirty="0">
              <a:latin typeface="Arial Narrow"/>
              <a:ea typeface="Arial Narrow"/>
              <a:cs typeface="Arial Narrow"/>
            </a:endParaRPr>
          </a:p>
          <a:p>
            <a:pPr marL="176530" indent="-55880" algn="l" rtl="0" eaLnBrk="0">
              <a:lnSpc>
                <a:spcPct val="121000"/>
              </a:lnSpc>
              <a:spcBef>
                <a:spcPts val="13"/>
              </a:spcBef>
              <a:tabLst/>
            </a:pP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▪</a:t>
            </a:r>
            <a:r>
              <a:rPr sz="700" kern="0" spc="-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A Collaboration</a:t>
            </a:r>
            <a:r>
              <a:rPr sz="700" i="1" kern="0" spc="-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Agreement typically includ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es e.g., communication mechanisms</a:t>
            </a:r>
            <a:r>
              <a:rPr sz="700" i="1" kern="0" spc="7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with escalation paths and urgent</a:t>
            </a:r>
            <a:r>
              <a:rPr sz="700" i="1" kern="0" spc="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              </a:t>
            </a:r>
            <a:r>
              <a:rPr sz="700" i="1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problem resolution, meet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ing structure, technical and organizational interfaces, infrastructure, roles including skills</a:t>
            </a:r>
            <a:r>
              <a:rPr sz="700" i="1" kern="0" spc="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           </a:t>
            </a:r>
            <a:r>
              <a:rPr sz="700" i="1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and responsibi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lity split, and ownership of</a:t>
            </a:r>
            <a:r>
              <a:rPr sz="700" i="1" kern="0" spc="-5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artifacts.</a:t>
            </a:r>
            <a:endParaRPr sz="700" dirty="0">
              <a:latin typeface="Arial Narrow"/>
              <a:ea typeface="Arial Narrow"/>
              <a:cs typeface="Arial Narrow"/>
            </a:endParaRPr>
          </a:p>
          <a:p>
            <a:pPr marL="12700" algn="l" rtl="0" eaLnBrk="0">
              <a:lnSpc>
                <a:spcPct val="90000"/>
              </a:lnSpc>
              <a:spcBef>
                <a:spcPts val="430"/>
              </a:spcBef>
              <a:tabLst/>
            </a:pPr>
            <a:r>
              <a:rPr sz="700" b="1" kern="0" spc="4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Agile Work</a:t>
            </a:r>
            <a:r>
              <a:rPr sz="700" b="1" kern="0" spc="7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b="1" kern="0" spc="4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Products: </a:t>
            </a:r>
            <a:r>
              <a:rPr sz="700" kern="0" spc="4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Colla</a:t>
            </a:r>
            <a:r>
              <a:rPr sz="700" kern="0" spc="3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boration agreement,</a:t>
            </a:r>
            <a:r>
              <a:rPr sz="700" kern="0" spc="7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Product vision,</a:t>
            </a:r>
            <a:r>
              <a:rPr sz="700" kern="0" spc="7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Definition of Done</a:t>
            </a:r>
            <a:endParaRPr sz="700" dirty="0">
              <a:latin typeface="Arial Narrow"/>
              <a:ea typeface="Arial Narrow"/>
              <a:cs typeface="Arial Narrow"/>
            </a:endParaRPr>
          </a:p>
          <a:p>
            <a:pPr marL="15240" algn="l" rtl="0" eaLnBrk="0">
              <a:lnSpc>
                <a:spcPts val="1074"/>
              </a:lnSpc>
              <a:spcBef>
                <a:spcPts val="2"/>
              </a:spcBef>
              <a:tabLst/>
            </a:pPr>
            <a:r>
              <a:rPr sz="700" b="1" kern="0" spc="3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Supporting Agile</a:t>
            </a:r>
            <a:r>
              <a:rPr sz="700" b="1" kern="0" spc="6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b="1" kern="0" spc="3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Principles </a:t>
            </a:r>
            <a:r>
              <a:rPr sz="700" i="1" kern="0" spc="3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4</a:t>
            </a:r>
            <a:r>
              <a:rPr sz="700" i="1" kern="0" spc="2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,</a:t>
            </a:r>
            <a:r>
              <a:rPr sz="700" i="1" kern="0" spc="8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2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6,</a:t>
            </a:r>
            <a:r>
              <a:rPr sz="700" i="1" kern="0" spc="11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2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11</a:t>
            </a:r>
            <a:endParaRPr sz="700" dirty="0">
              <a:latin typeface="Arial Narrow"/>
              <a:ea typeface="Arial Narrow"/>
              <a:cs typeface="Arial Narrow"/>
            </a:endParaRPr>
          </a:p>
        </p:txBody>
      </p:sp>
      <p:sp>
        <p:nvSpPr>
          <p:cNvPr id="308" name="textbox 308"/>
          <p:cNvSpPr/>
          <p:nvPr/>
        </p:nvSpPr>
        <p:spPr>
          <a:xfrm>
            <a:off x="288012" y="396005"/>
            <a:ext cx="4968240" cy="137160"/>
          </a:xfrm>
          <a:prstGeom prst="rect">
            <a:avLst/>
          </a:prstGeom>
          <a:solidFill>
            <a:srgbClr val="015AAA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4000"/>
              </a:lnSpc>
              <a:tabLst/>
            </a:pPr>
            <a:endParaRPr sz="200" dirty="0">
              <a:latin typeface="Arial"/>
              <a:ea typeface="Arial"/>
              <a:cs typeface="Arial"/>
            </a:endParaRPr>
          </a:p>
          <a:p>
            <a:pPr marL="33655" algn="l" rtl="0" eaLnBrk="0">
              <a:lnSpc>
                <a:spcPct val="89000"/>
              </a:lnSpc>
              <a:spcBef>
                <a:spcPts val="1"/>
              </a:spcBef>
              <a:tabLst/>
            </a:pPr>
            <a:r>
              <a:rPr sz="700" b="1" kern="0" spc="40" dirty="0">
                <a:solidFill>
                  <a:srgbClr val="FFFFFF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AGL.2 with </a:t>
            </a:r>
            <a:r>
              <a:rPr sz="700" b="1" kern="0" spc="30" dirty="0">
                <a:solidFill>
                  <a:srgbClr val="FFFFFF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6</a:t>
            </a:r>
            <a:r>
              <a:rPr sz="700" b="1" kern="0" spc="70" dirty="0">
                <a:solidFill>
                  <a:srgbClr val="FFFFFF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b="1" kern="0" spc="30" dirty="0">
                <a:solidFill>
                  <a:srgbClr val="FFFFFF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Base</a:t>
            </a:r>
            <a:r>
              <a:rPr sz="700" b="1" kern="0" spc="60" dirty="0">
                <a:solidFill>
                  <a:srgbClr val="FFFFFF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b="1" kern="0" spc="30" dirty="0">
                <a:solidFill>
                  <a:srgbClr val="FFFFFF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Practices</a:t>
            </a:r>
            <a:endParaRPr sz="700" dirty="0">
              <a:latin typeface="Arial Narrow"/>
              <a:ea typeface="Arial Narrow"/>
              <a:cs typeface="Arial Narrow"/>
            </a:endParaRPr>
          </a:p>
        </p:txBody>
      </p:sp>
      <p:sp>
        <p:nvSpPr>
          <p:cNvPr id="310" name="textbox 310"/>
          <p:cNvSpPr/>
          <p:nvPr/>
        </p:nvSpPr>
        <p:spPr>
          <a:xfrm>
            <a:off x="2726139" y="3644904"/>
            <a:ext cx="2543175" cy="1727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09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tabLst/>
            </a:pPr>
            <a:r>
              <a:rPr sz="500" b="1" kern="0" spc="1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26                                  </a:t>
            </a:r>
            <a:r>
              <a:rPr sz="500" b="1" kern="0" spc="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                                                                             </a:t>
            </a:r>
            <a:r>
              <a:rPr sz="1000" u="sng" kern="0" spc="0" dirty="0">
                <a:solidFill>
                  <a:srgbClr val="0E3654">
                    <a:alpha val="100000"/>
                  </a:srgbClr>
                </a:solidFill>
                <a:latin typeface="Arial"/>
                <a:ea typeface="Arial"/>
                <a:cs typeface="Arial"/>
              </a:rPr>
              <a:t>intacs</a:t>
            </a:r>
            <a:r>
              <a:rPr sz="1000" u="sng" kern="0" spc="0" dirty="0">
                <a:solidFill>
                  <a:srgbClr val="0E3654">
                    <a:alpha val="100000"/>
                  </a:srgbClr>
                </a:solidFill>
                <a:latin typeface="Arial"/>
                <a:ea typeface="Arial"/>
                <a:cs typeface="Arial"/>
              </a:rPr>
              <a:t>.</a:t>
            </a:r>
            <a:r>
              <a:rPr sz="1000" u="sng" kern="0" spc="-180" dirty="0">
                <a:solidFill>
                  <a:srgbClr val="0E365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u="sng" kern="0" spc="0" dirty="0">
                <a:solidFill>
                  <a:srgbClr val="0E3654">
                    <a:alpha val="100000"/>
                  </a:srgbClr>
                </a:solidFill>
                <a:latin typeface="Arial"/>
                <a:ea typeface="Arial"/>
                <a:cs typeface="Arial"/>
              </a:rPr>
              <a:t>infoul</a:t>
            </a:r>
            <a:r>
              <a:rPr sz="1000" kern="0" spc="0" dirty="0">
                <a:solidFill>
                  <a:srgbClr val="0E3654">
                    <a:alpha val="100000"/>
                  </a:srgbClr>
                </a:solidFill>
                <a:latin typeface="Arial"/>
                <a:ea typeface="Arial"/>
                <a:cs typeface="Arial"/>
              </a:rPr>
              <a:t>al</a:t>
            </a:r>
            <a:endParaRPr sz="1000" dirty="0">
              <a:latin typeface="Arial"/>
              <a:ea typeface="Arial"/>
              <a:cs typeface="Arial"/>
            </a:endParaRPr>
          </a:p>
        </p:txBody>
      </p:sp>
      <p:sp>
        <p:nvSpPr>
          <p:cNvPr id="312" name="textbox 312"/>
          <p:cNvSpPr/>
          <p:nvPr/>
        </p:nvSpPr>
        <p:spPr>
          <a:xfrm>
            <a:off x="1194082" y="3500902"/>
            <a:ext cx="3164205" cy="1181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96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6000"/>
              </a:lnSpc>
              <a:tabLst/>
            </a:pPr>
            <a:r>
              <a:rPr sz="800" b="1" kern="0" spc="160" dirty="0">
                <a:solidFill>
                  <a:srgbClr val="808285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DRAFT -</a:t>
            </a:r>
            <a:r>
              <a:rPr sz="800" b="1" kern="0" spc="140" dirty="0">
                <a:solidFill>
                  <a:srgbClr val="808285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800" b="1" kern="0" spc="160" dirty="0">
                <a:solidFill>
                  <a:srgbClr val="808285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REA</a:t>
            </a:r>
            <a:r>
              <a:rPr sz="800" b="1" kern="0" spc="150" dirty="0">
                <a:solidFill>
                  <a:srgbClr val="808285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DY FOR</a:t>
            </a:r>
            <a:r>
              <a:rPr sz="800" b="1" kern="0" spc="140" dirty="0">
                <a:solidFill>
                  <a:srgbClr val="808285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800" b="1" kern="0" spc="150" dirty="0">
                <a:solidFill>
                  <a:srgbClr val="808285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PILOTING</a:t>
            </a:r>
            <a:r>
              <a:rPr sz="800" b="1" kern="0" spc="140" dirty="0">
                <a:solidFill>
                  <a:srgbClr val="808285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800" b="1" kern="0" spc="150" dirty="0">
                <a:solidFill>
                  <a:srgbClr val="808285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-</a:t>
            </a:r>
            <a:r>
              <a:rPr sz="800" b="1" kern="0" spc="140" dirty="0">
                <a:solidFill>
                  <a:srgbClr val="808285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800" b="1" kern="0" spc="150" dirty="0">
                <a:solidFill>
                  <a:srgbClr val="808285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FEEDBACK WELCOME</a:t>
            </a:r>
            <a:endParaRPr sz="800" dirty="0">
              <a:latin typeface="Arial Narrow"/>
              <a:ea typeface="Arial Narrow"/>
              <a:cs typeface="Arial Narrow"/>
            </a:endParaRPr>
          </a:p>
        </p:txBody>
      </p:sp>
      <p:sp>
        <p:nvSpPr>
          <p:cNvPr id="314" name="textbox 314"/>
          <p:cNvSpPr/>
          <p:nvPr/>
        </p:nvSpPr>
        <p:spPr>
          <a:xfrm>
            <a:off x="337985" y="673943"/>
            <a:ext cx="161925" cy="9398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57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5000"/>
              </a:lnSpc>
              <a:tabLst/>
            </a:pPr>
            <a:r>
              <a:rPr sz="600" b="1" kern="0" spc="30" dirty="0">
                <a:solidFill>
                  <a:srgbClr val="FFFFFF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BP1</a:t>
            </a:r>
            <a:endParaRPr sz="600" dirty="0">
              <a:latin typeface="Arial Narrow"/>
              <a:ea typeface="Arial Narrow"/>
              <a:cs typeface="Arial Narrow"/>
            </a:endParaRPr>
          </a:p>
        </p:txBody>
      </p:sp>
      <p:sp>
        <p:nvSpPr>
          <p:cNvPr id="316" name="textbox 316"/>
          <p:cNvSpPr/>
          <p:nvPr/>
        </p:nvSpPr>
        <p:spPr>
          <a:xfrm>
            <a:off x="5226288" y="3775564"/>
            <a:ext cx="41275" cy="419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26"/>
              </a:lnSpc>
              <a:tabLst/>
            </a:pPr>
            <a:r>
              <a:rPr sz="100" kern="0" spc="20" dirty="0">
                <a:solidFill>
                  <a:srgbClr val="0E3654">
                    <a:alpha val="100000"/>
                  </a:srgbClr>
                </a:solidFill>
                <a:latin typeface="Arial"/>
                <a:ea typeface="Arial"/>
                <a:cs typeface="Arial"/>
              </a:rPr>
              <a:t>M</a:t>
            </a:r>
            <a:endParaRPr sz="100" dirty="0"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rect 318"/>
          <p:cNvSpPr/>
          <p:nvPr/>
        </p:nvSpPr>
        <p:spPr>
          <a:xfrm>
            <a:off x="287988" y="590388"/>
            <a:ext cx="4968714" cy="2700003"/>
          </a:xfrm>
          <a:prstGeom prst="rect">
            <a:avLst/>
          </a:prstGeom>
          <a:solidFill>
            <a:srgbClr val="E8EBF6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20" name="textbox 320"/>
          <p:cNvSpPr/>
          <p:nvPr/>
        </p:nvSpPr>
        <p:spPr>
          <a:xfrm>
            <a:off x="581302" y="604614"/>
            <a:ext cx="4618990" cy="156400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40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5240" algn="l" rtl="0" eaLnBrk="0">
              <a:lnSpc>
                <a:spcPct val="89000"/>
              </a:lnSpc>
              <a:tabLst/>
            </a:pPr>
            <a:r>
              <a:rPr sz="700" b="1" kern="0" spc="3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Share</a:t>
            </a:r>
            <a:r>
              <a:rPr sz="700" b="1" kern="0" spc="7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b="1" kern="0" spc="3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information.</a:t>
            </a:r>
            <a:r>
              <a:rPr sz="700" b="1" kern="0" spc="7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Establish communication to share all agreed informatio</a:t>
            </a:r>
            <a:r>
              <a:rPr sz="700" kern="0" spc="2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n</a:t>
            </a:r>
            <a:r>
              <a:rPr sz="700" kern="0" spc="5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2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between</a:t>
            </a:r>
            <a:r>
              <a:rPr sz="700" kern="0" spc="6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2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partners.</a:t>
            </a:r>
            <a:endParaRPr sz="700" dirty="0">
              <a:latin typeface="Arial Narrow"/>
              <a:ea typeface="Arial Narrow"/>
              <a:cs typeface="Arial Narrow"/>
            </a:endParaRPr>
          </a:p>
          <a:p>
            <a:pPr marL="17780" algn="l" rtl="0" eaLnBrk="0">
              <a:lnSpc>
                <a:spcPct val="89000"/>
              </a:lnSpc>
              <a:spcBef>
                <a:spcPts val="252"/>
              </a:spcBef>
              <a:tabLst/>
            </a:pPr>
            <a:r>
              <a:rPr sz="700" kern="0" spc="4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[</a:t>
            </a:r>
            <a:r>
              <a:rPr sz="700" kern="0" spc="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OUTCOME</a:t>
            </a:r>
            <a:r>
              <a:rPr sz="700" kern="0" spc="12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4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1, 2, 3]</a:t>
            </a:r>
            <a:endParaRPr sz="700" dirty="0">
              <a:latin typeface="Arial Narrow"/>
              <a:ea typeface="Arial Narrow"/>
              <a:cs typeface="Arial Narrow"/>
            </a:endParaRPr>
          </a:p>
          <a:p>
            <a:pPr marL="18415" algn="l" rtl="0" eaLnBrk="0">
              <a:lnSpc>
                <a:spcPct val="76000"/>
              </a:lnSpc>
              <a:spcBef>
                <a:spcPts val="242"/>
              </a:spcBef>
              <a:tabLst/>
            </a:pPr>
            <a:r>
              <a:rPr sz="700" b="1" kern="0" spc="3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Notes &amp;</a:t>
            </a:r>
            <a:r>
              <a:rPr sz="700" b="1" kern="0" spc="11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b="1" kern="0" spc="3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Definitions:</a:t>
            </a:r>
            <a:endParaRPr sz="700" dirty="0">
              <a:latin typeface="Arial Narrow"/>
              <a:ea typeface="Arial Narrow"/>
              <a:cs typeface="Arial Narrow"/>
            </a:endParaRPr>
          </a:p>
          <a:p>
            <a:pPr marL="181610" indent="-60960" algn="l" rtl="0" eaLnBrk="0">
              <a:lnSpc>
                <a:spcPct val="121000"/>
              </a:lnSpc>
              <a:spcBef>
                <a:spcPts val="106"/>
              </a:spcBef>
              <a:tabLst/>
            </a:pPr>
            <a:r>
              <a:rPr sz="700" i="1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▪ In agile context, a suitable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meet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ing</a:t>
            </a:r>
            <a:r>
              <a:rPr sz="700" i="1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structure</a:t>
            </a:r>
            <a:r>
              <a:rPr sz="700" i="1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may encompass</a:t>
            </a:r>
            <a:r>
              <a:rPr sz="700" i="1" kern="0" spc="9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Queue</a:t>
            </a:r>
            <a:r>
              <a:rPr sz="700" i="1" kern="0" spc="5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Replenishment,</a:t>
            </a:r>
            <a:r>
              <a:rPr sz="700" i="1" kern="0" spc="5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Product Backlog</a:t>
            </a:r>
            <a:r>
              <a:rPr sz="700" i="1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Refinement,</a:t>
            </a:r>
            <a:r>
              <a:rPr sz="700" i="1" kern="0" spc="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         </a:t>
            </a:r>
            <a:r>
              <a:rPr sz="700" i="1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Iteration Pla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nning,</a:t>
            </a:r>
            <a:r>
              <a:rPr sz="700" i="1" kern="0" spc="6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Stand up, Iteration Review, Retrospective.</a:t>
            </a:r>
            <a:r>
              <a:rPr sz="700" i="1" kern="0" spc="9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These</a:t>
            </a:r>
            <a:r>
              <a:rPr sz="700" i="1" kern="0" spc="6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collaborative activities</a:t>
            </a:r>
            <a:r>
              <a:rPr sz="700" i="1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highly depend on</a:t>
            </a:r>
            <a:r>
              <a:rPr sz="700" i="1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self</a:t>
            </a:r>
            <a:r>
              <a:rPr sz="700" i="1" kern="0" spc="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            </a:t>
            </a:r>
            <a:r>
              <a:rPr sz="700" i="1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organization o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f</a:t>
            </a:r>
            <a:r>
              <a:rPr sz="700" i="1" kern="0" spc="-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the team</a:t>
            </a:r>
            <a:r>
              <a:rPr sz="700" i="1" kern="0" spc="8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(of</a:t>
            </a:r>
            <a:r>
              <a:rPr sz="700" i="1" kern="0" spc="-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teams).</a:t>
            </a:r>
            <a:endParaRPr sz="700" dirty="0">
              <a:latin typeface="Arial Narrow"/>
              <a:ea typeface="Arial Narrow"/>
              <a:cs typeface="Arial Narrow"/>
            </a:endParaRPr>
          </a:p>
          <a:p>
            <a:pPr algn="r" rtl="0" eaLnBrk="0">
              <a:lnSpc>
                <a:spcPts val="1000"/>
              </a:lnSpc>
              <a:tabLst/>
            </a:pPr>
            <a:r>
              <a:rPr sz="700" i="1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▪ Information to be s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hared may include technical content, acceptance</a:t>
            </a:r>
            <a:r>
              <a:rPr sz="700" i="1" kern="0" spc="5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criteria,</a:t>
            </a:r>
            <a:r>
              <a:rPr sz="700" i="1" kern="0" spc="5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status,</a:t>
            </a:r>
            <a:r>
              <a:rPr sz="700" i="1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risks,</a:t>
            </a:r>
            <a:r>
              <a:rPr sz="700" i="1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impediments,</a:t>
            </a:r>
            <a:r>
              <a:rPr sz="700" i="1" kern="0" spc="5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and open points.</a:t>
            </a:r>
            <a:endParaRPr sz="700" dirty="0">
              <a:latin typeface="Arial Narrow"/>
              <a:ea typeface="Arial Narrow"/>
              <a:cs typeface="Arial Narrow"/>
            </a:endParaRPr>
          </a:p>
          <a:p>
            <a:pPr marL="184150" indent="-63500" algn="l" rtl="0" eaLnBrk="0">
              <a:lnSpc>
                <a:spcPct val="122000"/>
              </a:lnSpc>
              <a:spcBef>
                <a:spcPts val="12"/>
              </a:spcBef>
              <a:tabLst/>
            </a:pPr>
            <a:r>
              <a:rPr sz="700" i="1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▪</a:t>
            </a:r>
            <a:r>
              <a:rPr sz="700" i="1" kern="0" spc="8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Collaboration in 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an agile environment requires a common</a:t>
            </a:r>
            <a:r>
              <a:rPr sz="700" i="1" kern="0" spc="5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Definition</a:t>
            </a:r>
            <a:r>
              <a:rPr sz="700" i="1" kern="0" spc="5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of</a:t>
            </a:r>
            <a:r>
              <a:rPr sz="700" i="1" kern="0" spc="-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Ready and Definition</a:t>
            </a:r>
            <a:r>
              <a:rPr sz="700" i="1" kern="0" spc="6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of</a:t>
            </a:r>
            <a:r>
              <a:rPr sz="700" i="1" kern="0" spc="-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Done.</a:t>
            </a:r>
            <a:r>
              <a:rPr sz="700" i="1" kern="0" spc="6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It is</a:t>
            </a:r>
            <a:r>
              <a:rPr sz="700" i="1" kern="0" spc="6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up</a:t>
            </a:r>
            <a:r>
              <a:rPr sz="700" i="1" kern="0" spc="5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to</a:t>
            </a:r>
            <a:r>
              <a:rPr sz="700" i="1" kern="0" spc="6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the</a:t>
            </a:r>
            <a:r>
              <a:rPr sz="700" i="1" kern="0" spc="6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team</a:t>
            </a:r>
            <a:r>
              <a:rPr sz="700" i="1" kern="0" spc="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(of</a:t>
            </a:r>
            <a:r>
              <a:rPr sz="700" i="1" kern="0" spc="-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teams) to complement th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e agreed minimum set by own</a:t>
            </a:r>
            <a:r>
              <a:rPr sz="700" i="1" kern="0" spc="5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criteria.</a:t>
            </a:r>
            <a:endParaRPr sz="700" dirty="0">
              <a:latin typeface="Arial Narrow"/>
              <a:ea typeface="Arial Narrow"/>
              <a:cs typeface="Arial Narrow"/>
            </a:endParaRPr>
          </a:p>
          <a:p>
            <a:pPr marL="894714" indent="-882014" algn="l" rtl="0" eaLnBrk="0">
              <a:lnSpc>
                <a:spcPct val="111000"/>
              </a:lnSpc>
              <a:spcBef>
                <a:spcPts val="318"/>
              </a:spcBef>
              <a:tabLst/>
            </a:pPr>
            <a:r>
              <a:rPr sz="700" b="1" kern="0" spc="4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Agile Work</a:t>
            </a:r>
            <a:r>
              <a:rPr sz="700" b="1" kern="0" spc="6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b="1" kern="0" spc="4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Products: </a:t>
            </a:r>
            <a:r>
              <a:rPr sz="700" kern="0" spc="3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Collaboration agreement,</a:t>
            </a:r>
            <a:r>
              <a:rPr sz="700" kern="0" spc="7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Product vision,</a:t>
            </a:r>
            <a:r>
              <a:rPr sz="700" kern="0" spc="7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Product roadmap,</a:t>
            </a:r>
            <a:r>
              <a:rPr sz="700" kern="0" spc="7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Product backlog,</a:t>
            </a:r>
            <a:r>
              <a:rPr sz="700" kern="0" spc="5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Open</a:t>
            </a:r>
            <a:r>
              <a:rPr sz="700" kern="0" spc="6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item</a:t>
            </a:r>
            <a:r>
              <a:rPr sz="700" kern="0" spc="7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list,</a:t>
            </a:r>
            <a:r>
              <a:rPr sz="700" kern="0" spc="7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Risk</a:t>
            </a:r>
            <a:r>
              <a:rPr sz="700" kern="0" spc="6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list,</a:t>
            </a:r>
            <a:r>
              <a:rPr sz="700" kern="0" spc="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Definition of Ready,</a:t>
            </a:r>
            <a:r>
              <a:rPr sz="700" kern="0" spc="7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Definition of Done,</a:t>
            </a:r>
            <a:r>
              <a:rPr sz="700" kern="0" spc="8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Impediment</a:t>
            </a:r>
            <a:r>
              <a:rPr sz="700" kern="0" spc="6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backl</a:t>
            </a:r>
            <a:r>
              <a:rPr sz="700" kern="0" spc="2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og</a:t>
            </a:r>
            <a:endParaRPr sz="700" dirty="0">
              <a:latin typeface="Arial Narrow"/>
              <a:ea typeface="Arial Narrow"/>
              <a:cs typeface="Arial Narrow"/>
            </a:endParaRPr>
          </a:p>
          <a:p>
            <a:pPr marL="15240" algn="l" rtl="0" eaLnBrk="0">
              <a:lnSpc>
                <a:spcPts val="1080"/>
              </a:lnSpc>
              <a:tabLst/>
            </a:pPr>
            <a:r>
              <a:rPr sz="700" b="1" kern="0" spc="3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Supporting Agile</a:t>
            </a:r>
            <a:r>
              <a:rPr sz="700" b="1" kern="0" spc="7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b="1" kern="0" spc="3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Principles </a:t>
            </a:r>
            <a:r>
              <a:rPr sz="700" i="1" kern="0" spc="2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4,</a:t>
            </a:r>
            <a:r>
              <a:rPr sz="700" i="1" kern="0" spc="7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2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6,</a:t>
            </a:r>
            <a:r>
              <a:rPr sz="700" i="1" kern="0" spc="7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2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8,</a:t>
            </a:r>
            <a:r>
              <a:rPr sz="700" i="1" kern="0" spc="12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2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12</a:t>
            </a:r>
            <a:endParaRPr sz="700" dirty="0">
              <a:latin typeface="Arial Narrow"/>
              <a:ea typeface="Arial Narrow"/>
              <a:cs typeface="Arial Narrow"/>
            </a:endParaRPr>
          </a:p>
        </p:txBody>
      </p:sp>
      <p:sp>
        <p:nvSpPr>
          <p:cNvPr id="322" name="textbox 322"/>
          <p:cNvSpPr/>
          <p:nvPr/>
        </p:nvSpPr>
        <p:spPr>
          <a:xfrm>
            <a:off x="288012" y="396005"/>
            <a:ext cx="4968240" cy="137160"/>
          </a:xfrm>
          <a:prstGeom prst="rect">
            <a:avLst/>
          </a:prstGeom>
          <a:solidFill>
            <a:srgbClr val="015AAA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4000"/>
              </a:lnSpc>
              <a:tabLst/>
            </a:pPr>
            <a:endParaRPr sz="200" dirty="0">
              <a:latin typeface="Arial"/>
              <a:ea typeface="Arial"/>
              <a:cs typeface="Arial"/>
            </a:endParaRPr>
          </a:p>
          <a:p>
            <a:pPr marL="40005" algn="l" rtl="0" eaLnBrk="0">
              <a:lnSpc>
                <a:spcPct val="89000"/>
              </a:lnSpc>
              <a:spcBef>
                <a:spcPts val="1"/>
              </a:spcBef>
              <a:tabLst/>
            </a:pPr>
            <a:r>
              <a:rPr sz="700" b="1" kern="0" spc="30" dirty="0">
                <a:solidFill>
                  <a:srgbClr val="FFFFFF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Base</a:t>
            </a:r>
            <a:r>
              <a:rPr sz="700" b="1" kern="0" spc="70" dirty="0">
                <a:solidFill>
                  <a:srgbClr val="FFFFFF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b="1" kern="0" spc="30" dirty="0">
                <a:solidFill>
                  <a:srgbClr val="FFFFFF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practices</a:t>
            </a:r>
            <a:endParaRPr sz="700" dirty="0">
              <a:latin typeface="Arial Narrow"/>
              <a:ea typeface="Arial Narrow"/>
              <a:cs typeface="Arial Narrow"/>
            </a:endParaRPr>
          </a:p>
        </p:txBody>
      </p:sp>
      <p:sp>
        <p:nvSpPr>
          <p:cNvPr id="324" name="textbox 324"/>
          <p:cNvSpPr/>
          <p:nvPr/>
        </p:nvSpPr>
        <p:spPr>
          <a:xfrm>
            <a:off x="2726139" y="3644904"/>
            <a:ext cx="2543175" cy="1727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09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tabLst/>
            </a:pPr>
            <a:r>
              <a:rPr sz="500" b="1" kern="0" spc="1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27                                  </a:t>
            </a:r>
            <a:r>
              <a:rPr sz="500" b="1" kern="0" spc="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                                                                             </a:t>
            </a:r>
            <a:r>
              <a:rPr sz="1000" u="sng" kern="0" spc="0" dirty="0">
                <a:solidFill>
                  <a:srgbClr val="0E3654">
                    <a:alpha val="100000"/>
                  </a:srgbClr>
                </a:solidFill>
                <a:latin typeface="Arial"/>
                <a:ea typeface="Arial"/>
                <a:cs typeface="Arial"/>
              </a:rPr>
              <a:t>intacs</a:t>
            </a:r>
            <a:r>
              <a:rPr sz="1000" u="sng" kern="0" spc="0" dirty="0">
                <a:solidFill>
                  <a:srgbClr val="0E3654">
                    <a:alpha val="100000"/>
                  </a:srgbClr>
                </a:solidFill>
                <a:latin typeface="Arial"/>
                <a:ea typeface="Arial"/>
                <a:cs typeface="Arial"/>
              </a:rPr>
              <a:t>.</a:t>
            </a:r>
            <a:r>
              <a:rPr sz="1000" u="sng" kern="0" spc="-180" dirty="0">
                <a:solidFill>
                  <a:srgbClr val="0E365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u="sng" kern="0" spc="0" dirty="0">
                <a:solidFill>
                  <a:srgbClr val="0E3654">
                    <a:alpha val="100000"/>
                  </a:srgbClr>
                </a:solidFill>
                <a:latin typeface="Arial"/>
                <a:ea typeface="Arial"/>
                <a:cs typeface="Arial"/>
              </a:rPr>
              <a:t>infoul</a:t>
            </a:r>
            <a:r>
              <a:rPr sz="1000" kern="0" spc="0" dirty="0">
                <a:solidFill>
                  <a:srgbClr val="0E3654">
                    <a:alpha val="100000"/>
                  </a:srgbClr>
                </a:solidFill>
                <a:latin typeface="Arial"/>
                <a:ea typeface="Arial"/>
                <a:cs typeface="Arial"/>
              </a:rPr>
              <a:t>al</a:t>
            </a:r>
            <a:endParaRPr sz="1000" dirty="0">
              <a:latin typeface="Arial"/>
              <a:ea typeface="Arial"/>
              <a:cs typeface="Arial"/>
            </a:endParaRPr>
          </a:p>
        </p:txBody>
      </p:sp>
      <p:sp>
        <p:nvSpPr>
          <p:cNvPr id="326" name="textbox 326"/>
          <p:cNvSpPr/>
          <p:nvPr/>
        </p:nvSpPr>
        <p:spPr>
          <a:xfrm>
            <a:off x="1194082" y="3500902"/>
            <a:ext cx="3164205" cy="1181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96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6000"/>
              </a:lnSpc>
              <a:tabLst/>
            </a:pPr>
            <a:r>
              <a:rPr sz="800" b="1" kern="0" spc="160" dirty="0">
                <a:solidFill>
                  <a:srgbClr val="808285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DRAFT -</a:t>
            </a:r>
            <a:r>
              <a:rPr sz="800" b="1" kern="0" spc="140" dirty="0">
                <a:solidFill>
                  <a:srgbClr val="808285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800" b="1" kern="0" spc="160" dirty="0">
                <a:solidFill>
                  <a:srgbClr val="808285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REA</a:t>
            </a:r>
            <a:r>
              <a:rPr sz="800" b="1" kern="0" spc="150" dirty="0">
                <a:solidFill>
                  <a:srgbClr val="808285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DY FOR</a:t>
            </a:r>
            <a:r>
              <a:rPr sz="800" b="1" kern="0" spc="140" dirty="0">
                <a:solidFill>
                  <a:srgbClr val="808285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800" b="1" kern="0" spc="150" dirty="0">
                <a:solidFill>
                  <a:srgbClr val="808285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PILOTING</a:t>
            </a:r>
            <a:r>
              <a:rPr sz="800" b="1" kern="0" spc="140" dirty="0">
                <a:solidFill>
                  <a:srgbClr val="808285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800" b="1" kern="0" spc="150" dirty="0">
                <a:solidFill>
                  <a:srgbClr val="808285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-</a:t>
            </a:r>
            <a:r>
              <a:rPr sz="800" b="1" kern="0" spc="140" dirty="0">
                <a:solidFill>
                  <a:srgbClr val="808285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800" b="1" kern="0" spc="150" dirty="0">
                <a:solidFill>
                  <a:srgbClr val="808285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FEEDBACK WELCOME</a:t>
            </a:r>
            <a:endParaRPr sz="800" dirty="0">
              <a:latin typeface="Arial Narrow"/>
              <a:ea typeface="Arial Narrow"/>
              <a:cs typeface="Arial Narrow"/>
            </a:endParaRPr>
          </a:p>
        </p:txBody>
      </p:sp>
      <p:sp>
        <p:nvSpPr>
          <p:cNvPr id="328" name="textbox 328"/>
          <p:cNvSpPr/>
          <p:nvPr/>
        </p:nvSpPr>
        <p:spPr>
          <a:xfrm>
            <a:off x="337985" y="673943"/>
            <a:ext cx="161925" cy="9398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57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5000"/>
              </a:lnSpc>
              <a:tabLst/>
            </a:pPr>
            <a:r>
              <a:rPr sz="600" b="1" kern="0" spc="30" dirty="0">
                <a:solidFill>
                  <a:srgbClr val="FFFFFF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BP2</a:t>
            </a:r>
            <a:endParaRPr sz="600" dirty="0">
              <a:latin typeface="Arial Narrow"/>
              <a:ea typeface="Arial Narrow"/>
              <a:cs typeface="Arial Narrow"/>
            </a:endParaRPr>
          </a:p>
        </p:txBody>
      </p:sp>
      <p:sp>
        <p:nvSpPr>
          <p:cNvPr id="330" name="textbox 330"/>
          <p:cNvSpPr/>
          <p:nvPr/>
        </p:nvSpPr>
        <p:spPr>
          <a:xfrm>
            <a:off x="5226288" y="3775564"/>
            <a:ext cx="41275" cy="419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26"/>
              </a:lnSpc>
              <a:tabLst/>
            </a:pPr>
            <a:r>
              <a:rPr sz="100" kern="0" spc="20" dirty="0">
                <a:solidFill>
                  <a:srgbClr val="0E3654">
                    <a:alpha val="100000"/>
                  </a:srgbClr>
                </a:solidFill>
                <a:latin typeface="Arial"/>
                <a:ea typeface="Arial"/>
                <a:cs typeface="Arial"/>
              </a:rPr>
              <a:t>M</a:t>
            </a:r>
            <a:endParaRPr sz="100" dirty="0"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rect 332"/>
          <p:cNvSpPr/>
          <p:nvPr/>
        </p:nvSpPr>
        <p:spPr>
          <a:xfrm>
            <a:off x="287988" y="590388"/>
            <a:ext cx="4968714" cy="2700003"/>
          </a:xfrm>
          <a:prstGeom prst="rect">
            <a:avLst/>
          </a:prstGeom>
          <a:solidFill>
            <a:srgbClr val="E8EBF6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34" name="textbox 334"/>
          <p:cNvSpPr/>
          <p:nvPr/>
        </p:nvSpPr>
        <p:spPr>
          <a:xfrm>
            <a:off x="581302" y="604614"/>
            <a:ext cx="4352925" cy="105600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40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8415" algn="l" rtl="0" eaLnBrk="0">
              <a:lnSpc>
                <a:spcPct val="89000"/>
              </a:lnSpc>
              <a:tabLst/>
            </a:pPr>
            <a:r>
              <a:rPr sz="700" b="1" kern="0" spc="3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Establish a technical approach.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A technical approach is</a:t>
            </a:r>
            <a:r>
              <a:rPr sz="700" kern="0" spc="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jointly developed, agreed</a:t>
            </a:r>
            <a:endParaRPr sz="700" dirty="0">
              <a:latin typeface="Arial Narrow"/>
              <a:ea typeface="Arial Narrow"/>
              <a:cs typeface="Arial Narrow"/>
            </a:endParaRPr>
          </a:p>
          <a:p>
            <a:pPr marL="17780" indent="-635" algn="l" rtl="0" eaLnBrk="0">
              <a:lnSpc>
                <a:spcPct val="112000"/>
              </a:lnSpc>
              <a:spcBef>
                <a:spcPts val="113"/>
              </a:spcBef>
              <a:tabLst/>
            </a:pP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upon and</a:t>
            </a:r>
            <a:r>
              <a:rPr sz="700" kern="0" spc="6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kept up to date on a</a:t>
            </a:r>
            <a:r>
              <a:rPr sz="700" kern="0" spc="6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regular</a:t>
            </a: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basis</a:t>
            </a: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as</a:t>
            </a: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doc</a:t>
            </a:r>
            <a:r>
              <a:rPr sz="700" kern="0" spc="2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umented</a:t>
            </a:r>
            <a:r>
              <a:rPr sz="700" kern="0" spc="6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2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in the</a:t>
            </a: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2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collaboration</a:t>
            </a: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2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agreement.</a:t>
            </a:r>
            <a:r>
              <a:rPr sz="700" kern="0" spc="6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2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[OUTCOME</a:t>
            </a:r>
            <a:r>
              <a:rPr sz="700" kern="0" spc="8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2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1,</a:t>
            </a:r>
            <a:r>
              <a:rPr sz="700" kern="0" spc="5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2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3, 4,</a:t>
            </a:r>
            <a:r>
              <a:rPr sz="700" kern="0" spc="4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2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5]</a:t>
            </a:r>
            <a:r>
              <a:rPr sz="700" kern="0" spc="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        </a:t>
            </a:r>
            <a:r>
              <a:rPr sz="700" b="1" kern="0" spc="3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Notes &amp;</a:t>
            </a:r>
            <a:r>
              <a:rPr sz="700" b="1" kern="0" spc="11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b="1" kern="0" spc="3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Definitions:</a:t>
            </a:r>
            <a:endParaRPr sz="700" dirty="0">
              <a:latin typeface="Arial Narrow"/>
              <a:ea typeface="Arial Narrow"/>
              <a:cs typeface="Arial Narrow"/>
            </a:endParaRPr>
          </a:p>
          <a:p>
            <a:pPr marL="120650" algn="l" rtl="0" eaLnBrk="0">
              <a:lnSpc>
                <a:spcPts val="1041"/>
              </a:lnSpc>
              <a:tabLst/>
            </a:pP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▪</a:t>
            </a:r>
            <a:r>
              <a:rPr sz="700" kern="0" spc="10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Constraints , risks , assumptions , and open</a:t>
            </a:r>
            <a:r>
              <a:rPr sz="700" i="1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items</a:t>
            </a:r>
            <a:r>
              <a:rPr sz="700" i="1" kern="0" spc="5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are</a:t>
            </a:r>
            <a:r>
              <a:rPr sz="700" i="1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,</a:t>
            </a:r>
            <a:r>
              <a:rPr sz="700" i="1" kern="0" spc="5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considered.</a:t>
            </a:r>
            <a:endParaRPr sz="700" dirty="0">
              <a:latin typeface="Arial Narrow"/>
              <a:ea typeface="Arial Narrow"/>
              <a:cs typeface="Arial Narrow"/>
            </a:endParaRPr>
          </a:p>
          <a:p>
            <a:pPr marL="120650" algn="l" rtl="0" eaLnBrk="0">
              <a:lnSpc>
                <a:spcPts val="1041"/>
              </a:lnSpc>
              <a:tabLst/>
            </a:pP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▪</a:t>
            </a:r>
            <a:r>
              <a:rPr sz="700" kern="0" spc="9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The technical approach is aligned with the</a:t>
            </a:r>
            <a:r>
              <a:rPr sz="700" i="1" kern="0" spc="5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agile</a:t>
            </a:r>
            <a:r>
              <a:rPr sz="700" i="1" kern="0" spc="7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work approach</a:t>
            </a:r>
            <a:r>
              <a:rPr sz="700" i="1" kern="0" spc="7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(see</a:t>
            </a:r>
            <a:r>
              <a:rPr sz="700" i="1" kern="0" spc="-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AGL.</a:t>
            </a:r>
            <a:r>
              <a:rPr sz="700" i="1" kern="0" spc="-7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1</a:t>
            </a:r>
            <a:r>
              <a:rPr sz="700" i="1" kern="0" spc="2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).</a:t>
            </a:r>
            <a:endParaRPr sz="700" dirty="0">
              <a:latin typeface="Arial Narrow"/>
              <a:ea typeface="Arial Narrow"/>
              <a:cs typeface="Arial Narrow"/>
            </a:endParaRPr>
          </a:p>
          <a:p>
            <a:pPr marL="895350" indent="-882650" algn="l" rtl="0" eaLnBrk="0">
              <a:lnSpc>
                <a:spcPct val="112000"/>
              </a:lnSpc>
              <a:spcBef>
                <a:spcPts val="322"/>
              </a:spcBef>
              <a:tabLst/>
            </a:pPr>
            <a:r>
              <a:rPr sz="700" b="1" kern="0" spc="4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Agile Work</a:t>
            </a:r>
            <a:r>
              <a:rPr sz="700" b="1" kern="0" spc="6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b="1" kern="0" spc="4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Produc</a:t>
            </a:r>
            <a:r>
              <a:rPr sz="700" b="1" kern="0" spc="3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ts:</a:t>
            </a:r>
            <a:r>
              <a:rPr sz="700" b="1" kern="0" spc="7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Product vision,</a:t>
            </a:r>
            <a:r>
              <a:rPr sz="700" kern="0" spc="7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Product backlog,</a:t>
            </a:r>
            <a:r>
              <a:rPr sz="700" kern="0" spc="8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Impediment backlog,</a:t>
            </a:r>
            <a:r>
              <a:rPr sz="700" kern="0" spc="7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Definition of Done /</a:t>
            </a:r>
            <a:r>
              <a:rPr sz="700" kern="0" spc="7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Definition of</a:t>
            </a:r>
            <a:r>
              <a:rPr sz="700" kern="0" spc="5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Ready,</a:t>
            </a:r>
            <a:r>
              <a:rPr sz="700" kern="0" spc="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Review</a:t>
            </a:r>
            <a:r>
              <a:rPr sz="700" kern="0" spc="6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record, Open item</a:t>
            </a:r>
            <a:r>
              <a:rPr sz="700" kern="0" spc="6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list,</a:t>
            </a:r>
            <a:r>
              <a:rPr sz="700" kern="0" spc="7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2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Risk</a:t>
            </a:r>
            <a:r>
              <a:rPr sz="700" kern="0" spc="6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2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list</a:t>
            </a:r>
            <a:endParaRPr sz="700" dirty="0">
              <a:latin typeface="Arial Narrow"/>
              <a:ea typeface="Arial Narrow"/>
              <a:cs typeface="Arial Narrow"/>
            </a:endParaRPr>
          </a:p>
          <a:p>
            <a:pPr marL="15240" algn="l" rtl="0" eaLnBrk="0">
              <a:lnSpc>
                <a:spcPts val="1079"/>
              </a:lnSpc>
              <a:tabLst/>
            </a:pPr>
            <a:r>
              <a:rPr sz="700" b="1" kern="0" spc="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Supporting</a:t>
            </a:r>
            <a:r>
              <a:rPr sz="700" b="1" kern="0" spc="5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b="1" kern="0" spc="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Agile</a:t>
            </a:r>
            <a:r>
              <a:rPr sz="700" b="1" kern="0" spc="7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b="1" kern="0" spc="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Principles</a:t>
            </a:r>
            <a:r>
              <a:rPr sz="700" b="1" kern="0" spc="6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5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2, 4,</a:t>
            </a:r>
            <a:r>
              <a:rPr sz="700" i="1" kern="0" spc="6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5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5,</a:t>
            </a:r>
            <a:r>
              <a:rPr sz="700" i="1" kern="0" spc="8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5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6,</a:t>
            </a:r>
            <a:r>
              <a:rPr sz="700" i="1" kern="0" spc="6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5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9,</a:t>
            </a:r>
            <a:r>
              <a:rPr sz="700" i="1" kern="0" spc="12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5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10,</a:t>
            </a:r>
            <a:r>
              <a:rPr sz="700" i="1" kern="0" spc="11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5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11,</a:t>
            </a:r>
            <a:r>
              <a:rPr sz="700" i="1" kern="0" spc="12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4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12</a:t>
            </a:r>
            <a:endParaRPr sz="700" dirty="0">
              <a:latin typeface="Arial Narrow"/>
              <a:ea typeface="Arial Narrow"/>
              <a:cs typeface="Arial Narrow"/>
            </a:endParaRPr>
          </a:p>
        </p:txBody>
      </p:sp>
      <p:sp>
        <p:nvSpPr>
          <p:cNvPr id="336" name="textbox 336"/>
          <p:cNvSpPr/>
          <p:nvPr/>
        </p:nvSpPr>
        <p:spPr>
          <a:xfrm>
            <a:off x="288012" y="396005"/>
            <a:ext cx="4968240" cy="137160"/>
          </a:xfrm>
          <a:prstGeom prst="rect">
            <a:avLst/>
          </a:prstGeom>
          <a:solidFill>
            <a:srgbClr val="015AAA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4000"/>
              </a:lnSpc>
              <a:tabLst/>
            </a:pPr>
            <a:endParaRPr sz="200" dirty="0">
              <a:latin typeface="Arial"/>
              <a:ea typeface="Arial"/>
              <a:cs typeface="Arial"/>
            </a:endParaRPr>
          </a:p>
          <a:p>
            <a:pPr marL="40005" algn="l" rtl="0" eaLnBrk="0">
              <a:lnSpc>
                <a:spcPct val="89000"/>
              </a:lnSpc>
              <a:spcBef>
                <a:spcPts val="1"/>
              </a:spcBef>
              <a:tabLst/>
            </a:pPr>
            <a:r>
              <a:rPr sz="700" b="1" kern="0" spc="30" dirty="0">
                <a:solidFill>
                  <a:srgbClr val="FFFFFF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Base</a:t>
            </a:r>
            <a:r>
              <a:rPr sz="700" b="1" kern="0" spc="70" dirty="0">
                <a:solidFill>
                  <a:srgbClr val="FFFFFF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b="1" kern="0" spc="30" dirty="0">
                <a:solidFill>
                  <a:srgbClr val="FFFFFF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practices</a:t>
            </a:r>
            <a:endParaRPr sz="700" dirty="0">
              <a:latin typeface="Arial Narrow"/>
              <a:ea typeface="Arial Narrow"/>
              <a:cs typeface="Arial Narrow"/>
            </a:endParaRPr>
          </a:p>
        </p:txBody>
      </p:sp>
      <p:sp>
        <p:nvSpPr>
          <p:cNvPr id="338" name="textbox 338"/>
          <p:cNvSpPr/>
          <p:nvPr/>
        </p:nvSpPr>
        <p:spPr>
          <a:xfrm>
            <a:off x="2726139" y="3644904"/>
            <a:ext cx="2543175" cy="1727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09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tabLst/>
            </a:pPr>
            <a:r>
              <a:rPr sz="500" b="1" kern="0" spc="1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28                                  </a:t>
            </a:r>
            <a:r>
              <a:rPr sz="500" b="1" kern="0" spc="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                                                                             </a:t>
            </a:r>
            <a:r>
              <a:rPr sz="1000" u="sng" kern="0" spc="0" dirty="0">
                <a:solidFill>
                  <a:srgbClr val="0E3654">
                    <a:alpha val="100000"/>
                  </a:srgbClr>
                </a:solidFill>
                <a:latin typeface="Arial"/>
                <a:ea typeface="Arial"/>
                <a:cs typeface="Arial"/>
              </a:rPr>
              <a:t>intacs</a:t>
            </a:r>
            <a:r>
              <a:rPr sz="1000" u="sng" kern="0" spc="0" dirty="0">
                <a:solidFill>
                  <a:srgbClr val="0E3654">
                    <a:alpha val="100000"/>
                  </a:srgbClr>
                </a:solidFill>
                <a:latin typeface="Arial"/>
                <a:ea typeface="Arial"/>
                <a:cs typeface="Arial"/>
              </a:rPr>
              <a:t>.</a:t>
            </a:r>
            <a:r>
              <a:rPr sz="1000" u="sng" kern="0" spc="-180" dirty="0">
                <a:solidFill>
                  <a:srgbClr val="0E365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u="sng" kern="0" spc="0" dirty="0">
                <a:solidFill>
                  <a:srgbClr val="0E3654">
                    <a:alpha val="100000"/>
                  </a:srgbClr>
                </a:solidFill>
                <a:latin typeface="Arial"/>
                <a:ea typeface="Arial"/>
                <a:cs typeface="Arial"/>
              </a:rPr>
              <a:t>infoul</a:t>
            </a:r>
            <a:r>
              <a:rPr sz="1000" kern="0" spc="0" dirty="0">
                <a:solidFill>
                  <a:srgbClr val="0E3654">
                    <a:alpha val="100000"/>
                  </a:srgbClr>
                </a:solidFill>
                <a:latin typeface="Arial"/>
                <a:ea typeface="Arial"/>
                <a:cs typeface="Arial"/>
              </a:rPr>
              <a:t>al</a:t>
            </a:r>
            <a:endParaRPr sz="1000" dirty="0">
              <a:latin typeface="Arial"/>
              <a:ea typeface="Arial"/>
              <a:cs typeface="Arial"/>
            </a:endParaRPr>
          </a:p>
        </p:txBody>
      </p:sp>
      <p:sp>
        <p:nvSpPr>
          <p:cNvPr id="340" name="textbox 340"/>
          <p:cNvSpPr/>
          <p:nvPr/>
        </p:nvSpPr>
        <p:spPr>
          <a:xfrm>
            <a:off x="1194082" y="3500902"/>
            <a:ext cx="3164205" cy="1181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96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6000"/>
              </a:lnSpc>
              <a:tabLst/>
            </a:pPr>
            <a:r>
              <a:rPr sz="800" b="1" kern="0" spc="160" dirty="0">
                <a:solidFill>
                  <a:srgbClr val="808285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DRAFT -</a:t>
            </a:r>
            <a:r>
              <a:rPr sz="800" b="1" kern="0" spc="140" dirty="0">
                <a:solidFill>
                  <a:srgbClr val="808285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800" b="1" kern="0" spc="160" dirty="0">
                <a:solidFill>
                  <a:srgbClr val="808285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REA</a:t>
            </a:r>
            <a:r>
              <a:rPr sz="800" b="1" kern="0" spc="150" dirty="0">
                <a:solidFill>
                  <a:srgbClr val="808285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DY FOR</a:t>
            </a:r>
            <a:r>
              <a:rPr sz="800" b="1" kern="0" spc="140" dirty="0">
                <a:solidFill>
                  <a:srgbClr val="808285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800" b="1" kern="0" spc="150" dirty="0">
                <a:solidFill>
                  <a:srgbClr val="808285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PILOTING</a:t>
            </a:r>
            <a:r>
              <a:rPr sz="800" b="1" kern="0" spc="140" dirty="0">
                <a:solidFill>
                  <a:srgbClr val="808285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800" b="1" kern="0" spc="150" dirty="0">
                <a:solidFill>
                  <a:srgbClr val="808285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-</a:t>
            </a:r>
            <a:r>
              <a:rPr sz="800" b="1" kern="0" spc="140" dirty="0">
                <a:solidFill>
                  <a:srgbClr val="808285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800" b="1" kern="0" spc="150" dirty="0">
                <a:solidFill>
                  <a:srgbClr val="808285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FEEDBACK WELCOME</a:t>
            </a:r>
            <a:endParaRPr sz="800" dirty="0">
              <a:latin typeface="Arial Narrow"/>
              <a:ea typeface="Arial Narrow"/>
              <a:cs typeface="Arial Narrow"/>
            </a:endParaRPr>
          </a:p>
        </p:txBody>
      </p:sp>
      <p:sp>
        <p:nvSpPr>
          <p:cNvPr id="342" name="textbox 342"/>
          <p:cNvSpPr/>
          <p:nvPr/>
        </p:nvSpPr>
        <p:spPr>
          <a:xfrm>
            <a:off x="337985" y="673943"/>
            <a:ext cx="161925" cy="9461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97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5000"/>
              </a:lnSpc>
              <a:tabLst/>
            </a:pPr>
            <a:r>
              <a:rPr sz="600" b="1" kern="0" spc="30" dirty="0">
                <a:solidFill>
                  <a:srgbClr val="FFFFFF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BP3</a:t>
            </a:r>
            <a:endParaRPr sz="600" dirty="0">
              <a:latin typeface="Arial Narrow"/>
              <a:ea typeface="Arial Narrow"/>
              <a:cs typeface="Arial Narrow"/>
            </a:endParaRPr>
          </a:p>
        </p:txBody>
      </p:sp>
      <p:sp>
        <p:nvSpPr>
          <p:cNvPr id="344" name="textbox 344"/>
          <p:cNvSpPr/>
          <p:nvPr/>
        </p:nvSpPr>
        <p:spPr>
          <a:xfrm>
            <a:off x="5226288" y="3775564"/>
            <a:ext cx="41275" cy="419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26"/>
              </a:lnSpc>
              <a:tabLst/>
            </a:pPr>
            <a:r>
              <a:rPr sz="100" kern="0" spc="20" dirty="0">
                <a:solidFill>
                  <a:srgbClr val="0E3654">
                    <a:alpha val="100000"/>
                  </a:srgbClr>
                </a:solidFill>
                <a:latin typeface="Arial"/>
                <a:ea typeface="Arial"/>
                <a:cs typeface="Arial"/>
              </a:rPr>
              <a:t>M</a:t>
            </a:r>
            <a:endParaRPr sz="100" dirty="0"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rect 346"/>
          <p:cNvSpPr/>
          <p:nvPr/>
        </p:nvSpPr>
        <p:spPr>
          <a:xfrm>
            <a:off x="287988" y="588602"/>
            <a:ext cx="4968001" cy="2699979"/>
          </a:xfrm>
          <a:prstGeom prst="rect">
            <a:avLst/>
          </a:prstGeom>
          <a:solidFill>
            <a:srgbClr val="E8EBF6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48" name="textbox 348"/>
          <p:cNvSpPr/>
          <p:nvPr/>
        </p:nvSpPr>
        <p:spPr>
          <a:xfrm>
            <a:off x="581302" y="604614"/>
            <a:ext cx="4484370" cy="131000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603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5240" indent="3175" algn="l" rtl="0" eaLnBrk="0">
              <a:lnSpc>
                <a:spcPct val="111000"/>
              </a:lnSpc>
              <a:tabLst/>
            </a:pPr>
            <a:r>
              <a:rPr sz="700" b="1" kern="0" spc="3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Review joint technical content.</a:t>
            </a:r>
            <a:r>
              <a:rPr sz="700" b="1" kern="0" spc="6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Perform reviews on</a:t>
            </a:r>
            <a:r>
              <a:rPr sz="700" kern="0" spc="-1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jointly developed technical content with regard to</a:t>
            </a:r>
            <a:r>
              <a:rPr sz="700" kern="0" spc="-2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Acceptance</a:t>
            </a:r>
            <a:r>
              <a:rPr sz="700" kern="0" spc="5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2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Criteria</a:t>
            </a:r>
            <a:r>
              <a:rPr sz="700" kern="0" spc="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and</a:t>
            </a:r>
            <a:r>
              <a:rPr sz="700" kern="0" spc="6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Definition of Done on regular basis as</a:t>
            </a: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agreed</a:t>
            </a:r>
            <a:r>
              <a:rPr sz="700" kern="0" spc="6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in </a:t>
            </a:r>
            <a:r>
              <a:rPr sz="700" kern="0" spc="2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the</a:t>
            </a: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2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Collaboration</a:t>
            </a:r>
            <a:r>
              <a:rPr sz="700" kern="0" spc="-2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2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Agreement.</a:t>
            </a:r>
            <a:r>
              <a:rPr sz="700" kern="0" spc="7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2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[OUTCOME</a:t>
            </a:r>
            <a:r>
              <a:rPr sz="700" kern="0" spc="8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2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1,</a:t>
            </a:r>
            <a:r>
              <a:rPr sz="700" kern="0" spc="3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2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2,</a:t>
            </a:r>
            <a:r>
              <a:rPr sz="700" kern="0" spc="5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2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3,</a:t>
            </a:r>
            <a:r>
              <a:rPr sz="700" kern="0" spc="4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2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5]</a:t>
            </a:r>
            <a:endParaRPr sz="700" dirty="0">
              <a:latin typeface="Arial Narrow"/>
              <a:ea typeface="Arial Narrow"/>
              <a:cs typeface="Arial Narrow"/>
            </a:endParaRPr>
          </a:p>
          <a:p>
            <a:pPr marL="18415" algn="l" rtl="0" eaLnBrk="0">
              <a:lnSpc>
                <a:spcPct val="76000"/>
              </a:lnSpc>
              <a:spcBef>
                <a:spcPts val="221"/>
              </a:spcBef>
              <a:tabLst/>
            </a:pPr>
            <a:r>
              <a:rPr sz="700" b="1" kern="0" spc="3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Notes &amp;</a:t>
            </a:r>
            <a:r>
              <a:rPr sz="700" b="1" kern="0" spc="11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b="1" kern="0" spc="3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Definitions:</a:t>
            </a:r>
            <a:endParaRPr sz="700" dirty="0">
              <a:latin typeface="Arial Narrow"/>
              <a:ea typeface="Arial Narrow"/>
              <a:cs typeface="Arial Narrow"/>
            </a:endParaRPr>
          </a:p>
          <a:p>
            <a:pPr marL="179705" indent="-59055" algn="l" rtl="0" eaLnBrk="0">
              <a:lnSpc>
                <a:spcPct val="122000"/>
              </a:lnSpc>
              <a:spcBef>
                <a:spcPts val="106"/>
              </a:spcBef>
              <a:tabLst/>
            </a:pPr>
            <a:r>
              <a:rPr sz="700" i="1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▪ If</a:t>
            </a:r>
            <a:r>
              <a:rPr sz="700" i="1" kern="0" spc="-5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rework is required, prioriti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ze, plan and track work</a:t>
            </a:r>
            <a:r>
              <a:rPr sz="700" i="1" kern="0" spc="-2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packages to closure. Ensure</a:t>
            </a:r>
            <a:r>
              <a:rPr sz="700" i="1" kern="0" spc="5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that the</a:t>
            </a:r>
            <a:r>
              <a:rPr sz="700" i="1" kern="0" spc="-6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joint technical content is</a:t>
            </a:r>
            <a:r>
              <a:rPr sz="700" i="1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in</a:t>
            </a:r>
            <a:r>
              <a:rPr sz="700" i="1" kern="0" spc="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   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line</a:t>
            </a:r>
            <a:r>
              <a:rPr sz="700" i="1" kern="0" spc="6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with shared Product</a:t>
            </a:r>
            <a:r>
              <a:rPr sz="700" i="1" kern="0" spc="8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Visi</a:t>
            </a:r>
            <a:r>
              <a:rPr sz="700" i="1" kern="0" spc="2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on.</a:t>
            </a:r>
            <a:endParaRPr sz="700" dirty="0">
              <a:latin typeface="Arial Narrow"/>
              <a:ea typeface="Arial Narrow"/>
              <a:cs typeface="Arial Narrow"/>
            </a:endParaRPr>
          </a:p>
          <a:p>
            <a:pPr marL="120650" algn="l" rtl="0" eaLnBrk="0">
              <a:lnSpc>
                <a:spcPts val="1000"/>
              </a:lnSpc>
              <a:tabLst/>
            </a:pPr>
            <a:r>
              <a:rPr sz="700" i="1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▪</a:t>
            </a:r>
            <a:r>
              <a:rPr sz="700" i="1" kern="0" spc="-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Acceptance</a:t>
            </a:r>
            <a:r>
              <a:rPr sz="700" i="1" kern="0" spc="8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Criteria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are applicable to individual work</a:t>
            </a:r>
            <a:r>
              <a:rPr sz="700" i="1" kern="0" spc="-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packages.</a:t>
            </a:r>
            <a:endParaRPr sz="700" dirty="0">
              <a:latin typeface="Arial Narrow"/>
              <a:ea typeface="Arial Narrow"/>
              <a:cs typeface="Arial Narrow"/>
            </a:endParaRPr>
          </a:p>
          <a:p>
            <a:pPr marL="120650" algn="l" rtl="0" eaLnBrk="0">
              <a:lnSpc>
                <a:spcPts val="1041"/>
              </a:lnSpc>
              <a:tabLst/>
            </a:pPr>
            <a:r>
              <a:rPr sz="700" i="1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▪ Definition of</a:t>
            </a:r>
            <a:r>
              <a:rPr sz="700" i="1" kern="0" spc="-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Done is to be</a:t>
            </a:r>
            <a:r>
              <a:rPr sz="700" i="1" kern="0" spc="6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considered 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for the</a:t>
            </a:r>
            <a:r>
              <a:rPr sz="700" i="1" kern="0" spc="7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work</a:t>
            </a:r>
            <a:r>
              <a:rPr sz="700" i="1" kern="0" spc="-2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packages ofthe same</a:t>
            </a:r>
            <a:r>
              <a:rPr sz="700" i="1" kern="0" spc="5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type.</a:t>
            </a:r>
            <a:endParaRPr sz="700" dirty="0">
              <a:latin typeface="Arial Narrow"/>
              <a:ea typeface="Arial Narrow"/>
              <a:cs typeface="Arial Narrow"/>
            </a:endParaRPr>
          </a:p>
          <a:p>
            <a:pPr marL="895350" indent="-882650" algn="l" rtl="0" eaLnBrk="0">
              <a:lnSpc>
                <a:spcPct val="112000"/>
              </a:lnSpc>
              <a:spcBef>
                <a:spcPts val="322"/>
              </a:spcBef>
              <a:tabLst/>
            </a:pPr>
            <a:r>
              <a:rPr sz="700" b="1" kern="0" spc="4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Agile Work</a:t>
            </a:r>
            <a:r>
              <a:rPr sz="700" b="1" kern="0" spc="7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b="1" kern="0" spc="4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Product</a:t>
            </a:r>
            <a:r>
              <a:rPr sz="700" b="1" kern="0" spc="3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s:</a:t>
            </a:r>
            <a:r>
              <a:rPr sz="700" b="1" kern="0" spc="7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Product vision,</a:t>
            </a:r>
            <a:r>
              <a:rPr sz="700" kern="0" spc="7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Product roadmap,</a:t>
            </a:r>
            <a:r>
              <a:rPr sz="700" kern="0" spc="7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Product backlog,</a:t>
            </a:r>
            <a:r>
              <a:rPr sz="700" kern="0" spc="8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Iteration backlog,</a:t>
            </a:r>
            <a:r>
              <a:rPr sz="700" kern="0" spc="7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Definition of</a:t>
            </a:r>
            <a:r>
              <a:rPr sz="700" kern="0" spc="5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Done,</a:t>
            </a:r>
            <a:r>
              <a:rPr sz="700" kern="0" spc="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               </a:t>
            </a:r>
            <a:r>
              <a:rPr sz="700" kern="0" spc="3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Review record,</a:t>
            </a:r>
            <a:r>
              <a:rPr sz="700" kern="0" spc="5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Open</a:t>
            </a:r>
            <a:r>
              <a:rPr sz="700" kern="0" spc="6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item</a:t>
            </a:r>
            <a:r>
              <a:rPr sz="700" kern="0" spc="6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li</a:t>
            </a:r>
            <a:r>
              <a:rPr sz="700" kern="0" spc="2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st</a:t>
            </a:r>
            <a:endParaRPr sz="700" dirty="0">
              <a:latin typeface="Arial Narrow"/>
              <a:ea typeface="Arial Narrow"/>
              <a:cs typeface="Arial Narrow"/>
            </a:endParaRPr>
          </a:p>
          <a:p>
            <a:pPr marL="15240" algn="l" rtl="0" eaLnBrk="0">
              <a:lnSpc>
                <a:spcPts val="1079"/>
              </a:lnSpc>
              <a:tabLst/>
            </a:pPr>
            <a:r>
              <a:rPr sz="700" b="1" kern="0" spc="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Supporting</a:t>
            </a:r>
            <a:r>
              <a:rPr sz="700" b="1" kern="0" spc="4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b="1" kern="0" spc="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Agile</a:t>
            </a:r>
            <a:r>
              <a:rPr sz="700" b="1" kern="0" spc="6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b="1" kern="0" spc="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Principles</a:t>
            </a:r>
            <a:r>
              <a:rPr sz="700" b="1" kern="0" spc="12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4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1,</a:t>
            </a:r>
            <a:r>
              <a:rPr sz="700" i="1" kern="0" spc="5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4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2,</a:t>
            </a:r>
            <a:r>
              <a:rPr sz="700" i="1" kern="0" spc="6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4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3, 4,</a:t>
            </a:r>
            <a:r>
              <a:rPr sz="700" i="1" kern="0" spc="7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4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6,</a:t>
            </a:r>
            <a:r>
              <a:rPr sz="700" i="1" kern="0" spc="10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4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7,</a:t>
            </a:r>
            <a:r>
              <a:rPr sz="700" i="1" kern="0" spc="7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4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9,</a:t>
            </a:r>
            <a:r>
              <a:rPr sz="700" i="1" kern="0" spc="12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4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10,</a:t>
            </a:r>
            <a:r>
              <a:rPr sz="700" i="1" kern="0" spc="11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4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11,</a:t>
            </a:r>
            <a:r>
              <a:rPr sz="700" i="1" kern="0" spc="12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3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12</a:t>
            </a:r>
            <a:endParaRPr sz="700" dirty="0">
              <a:latin typeface="Arial Narrow"/>
              <a:ea typeface="Arial Narrow"/>
              <a:cs typeface="Arial Narrow"/>
            </a:endParaRPr>
          </a:p>
        </p:txBody>
      </p:sp>
      <p:sp>
        <p:nvSpPr>
          <p:cNvPr id="350" name="textbox 350"/>
          <p:cNvSpPr/>
          <p:nvPr/>
        </p:nvSpPr>
        <p:spPr>
          <a:xfrm>
            <a:off x="288012" y="396005"/>
            <a:ext cx="4968240" cy="137160"/>
          </a:xfrm>
          <a:prstGeom prst="rect">
            <a:avLst/>
          </a:prstGeom>
          <a:solidFill>
            <a:srgbClr val="015AAA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4000"/>
              </a:lnSpc>
              <a:tabLst/>
            </a:pPr>
            <a:endParaRPr sz="200" dirty="0">
              <a:latin typeface="Arial"/>
              <a:ea typeface="Arial"/>
              <a:cs typeface="Arial"/>
            </a:endParaRPr>
          </a:p>
          <a:p>
            <a:pPr marL="44450" algn="l" rtl="0" eaLnBrk="0">
              <a:lnSpc>
                <a:spcPct val="89000"/>
              </a:lnSpc>
              <a:spcBef>
                <a:spcPts val="1"/>
              </a:spcBef>
              <a:tabLst/>
            </a:pPr>
            <a:r>
              <a:rPr sz="700" b="1" kern="0" spc="30" dirty="0">
                <a:solidFill>
                  <a:srgbClr val="FFFFFF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Base</a:t>
            </a:r>
            <a:r>
              <a:rPr sz="700" b="1" kern="0" spc="70" dirty="0">
                <a:solidFill>
                  <a:srgbClr val="FFFFFF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b="1" kern="0" spc="30" dirty="0">
                <a:solidFill>
                  <a:srgbClr val="FFFFFF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practices</a:t>
            </a:r>
            <a:endParaRPr sz="700" dirty="0">
              <a:latin typeface="Arial Narrow"/>
              <a:ea typeface="Arial Narrow"/>
              <a:cs typeface="Arial Narrow"/>
            </a:endParaRPr>
          </a:p>
        </p:txBody>
      </p:sp>
      <p:sp>
        <p:nvSpPr>
          <p:cNvPr id="352" name="textbox 352"/>
          <p:cNvSpPr/>
          <p:nvPr/>
        </p:nvSpPr>
        <p:spPr>
          <a:xfrm>
            <a:off x="2726139" y="3644904"/>
            <a:ext cx="2543175" cy="1727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09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tabLst/>
            </a:pPr>
            <a:r>
              <a:rPr sz="500" b="1" kern="0" spc="1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29                                  </a:t>
            </a:r>
            <a:r>
              <a:rPr sz="500" b="1" kern="0" spc="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                                                                             </a:t>
            </a:r>
            <a:r>
              <a:rPr sz="1000" u="sng" kern="0" spc="0" dirty="0">
                <a:solidFill>
                  <a:srgbClr val="0E3654">
                    <a:alpha val="100000"/>
                  </a:srgbClr>
                </a:solidFill>
                <a:latin typeface="Arial"/>
                <a:ea typeface="Arial"/>
                <a:cs typeface="Arial"/>
              </a:rPr>
              <a:t>intacs</a:t>
            </a:r>
            <a:r>
              <a:rPr sz="1000" u="sng" kern="0" spc="0" dirty="0">
                <a:solidFill>
                  <a:srgbClr val="0E3654">
                    <a:alpha val="100000"/>
                  </a:srgbClr>
                </a:solidFill>
                <a:latin typeface="Arial"/>
                <a:ea typeface="Arial"/>
                <a:cs typeface="Arial"/>
              </a:rPr>
              <a:t>.</a:t>
            </a:r>
            <a:r>
              <a:rPr sz="1000" u="sng" kern="0" spc="-180" dirty="0">
                <a:solidFill>
                  <a:srgbClr val="0E365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u="sng" kern="0" spc="0" dirty="0">
                <a:solidFill>
                  <a:srgbClr val="0E3654">
                    <a:alpha val="100000"/>
                  </a:srgbClr>
                </a:solidFill>
                <a:latin typeface="Arial"/>
                <a:ea typeface="Arial"/>
                <a:cs typeface="Arial"/>
              </a:rPr>
              <a:t>infoul</a:t>
            </a:r>
            <a:r>
              <a:rPr sz="1000" kern="0" spc="0" dirty="0">
                <a:solidFill>
                  <a:srgbClr val="0E3654">
                    <a:alpha val="100000"/>
                  </a:srgbClr>
                </a:solidFill>
                <a:latin typeface="Arial"/>
                <a:ea typeface="Arial"/>
                <a:cs typeface="Arial"/>
              </a:rPr>
              <a:t>al</a:t>
            </a:r>
            <a:endParaRPr sz="1000" dirty="0">
              <a:latin typeface="Arial"/>
              <a:ea typeface="Arial"/>
              <a:cs typeface="Arial"/>
            </a:endParaRPr>
          </a:p>
        </p:txBody>
      </p:sp>
      <p:sp>
        <p:nvSpPr>
          <p:cNvPr id="354" name="textbox 354"/>
          <p:cNvSpPr/>
          <p:nvPr/>
        </p:nvSpPr>
        <p:spPr>
          <a:xfrm>
            <a:off x="1194082" y="3500902"/>
            <a:ext cx="3164205" cy="1181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96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6000"/>
              </a:lnSpc>
              <a:tabLst/>
            </a:pPr>
            <a:r>
              <a:rPr sz="800" b="1" kern="0" spc="160" dirty="0">
                <a:solidFill>
                  <a:srgbClr val="808285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DRAFT -</a:t>
            </a:r>
            <a:r>
              <a:rPr sz="800" b="1" kern="0" spc="140" dirty="0">
                <a:solidFill>
                  <a:srgbClr val="808285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800" b="1" kern="0" spc="160" dirty="0">
                <a:solidFill>
                  <a:srgbClr val="808285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REA</a:t>
            </a:r>
            <a:r>
              <a:rPr sz="800" b="1" kern="0" spc="150" dirty="0">
                <a:solidFill>
                  <a:srgbClr val="808285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DY FOR</a:t>
            </a:r>
            <a:r>
              <a:rPr sz="800" b="1" kern="0" spc="140" dirty="0">
                <a:solidFill>
                  <a:srgbClr val="808285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800" b="1" kern="0" spc="150" dirty="0">
                <a:solidFill>
                  <a:srgbClr val="808285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PILOTING</a:t>
            </a:r>
            <a:r>
              <a:rPr sz="800" b="1" kern="0" spc="140" dirty="0">
                <a:solidFill>
                  <a:srgbClr val="808285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800" b="1" kern="0" spc="150" dirty="0">
                <a:solidFill>
                  <a:srgbClr val="808285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-</a:t>
            </a:r>
            <a:r>
              <a:rPr sz="800" b="1" kern="0" spc="140" dirty="0">
                <a:solidFill>
                  <a:srgbClr val="808285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800" b="1" kern="0" spc="150" dirty="0">
                <a:solidFill>
                  <a:srgbClr val="808285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FEEDBACK WELCOME</a:t>
            </a:r>
            <a:endParaRPr sz="800" dirty="0">
              <a:latin typeface="Arial Narrow"/>
              <a:ea typeface="Arial Narrow"/>
              <a:cs typeface="Arial Narrow"/>
            </a:endParaRPr>
          </a:p>
        </p:txBody>
      </p:sp>
      <p:sp>
        <p:nvSpPr>
          <p:cNvPr id="356" name="textbox 356"/>
          <p:cNvSpPr/>
          <p:nvPr/>
        </p:nvSpPr>
        <p:spPr>
          <a:xfrm>
            <a:off x="337985" y="672051"/>
            <a:ext cx="161925" cy="9398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57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5000"/>
              </a:lnSpc>
              <a:tabLst/>
            </a:pPr>
            <a:r>
              <a:rPr sz="600" b="1" kern="0" spc="30" dirty="0">
                <a:solidFill>
                  <a:srgbClr val="FFFFFF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BP4</a:t>
            </a:r>
            <a:endParaRPr sz="600" dirty="0">
              <a:latin typeface="Arial Narrow"/>
              <a:ea typeface="Arial Narrow"/>
              <a:cs typeface="Arial Narrow"/>
            </a:endParaRPr>
          </a:p>
        </p:txBody>
      </p:sp>
      <p:sp>
        <p:nvSpPr>
          <p:cNvPr id="358" name="textbox 358"/>
          <p:cNvSpPr/>
          <p:nvPr/>
        </p:nvSpPr>
        <p:spPr>
          <a:xfrm>
            <a:off x="5226288" y="3775564"/>
            <a:ext cx="41275" cy="419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26"/>
              </a:lnSpc>
              <a:tabLst/>
            </a:pPr>
            <a:r>
              <a:rPr sz="100" kern="0" spc="20" dirty="0">
                <a:solidFill>
                  <a:srgbClr val="0E3654">
                    <a:alpha val="100000"/>
                  </a:srgbClr>
                </a:solidFill>
                <a:latin typeface="Arial"/>
                <a:ea typeface="Arial"/>
                <a:cs typeface="Arial"/>
              </a:rPr>
              <a:t>M</a:t>
            </a:r>
            <a:endParaRPr sz="100" dirty="0"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rect 360"/>
          <p:cNvSpPr/>
          <p:nvPr/>
        </p:nvSpPr>
        <p:spPr>
          <a:xfrm>
            <a:off x="287988" y="590388"/>
            <a:ext cx="4968714" cy="2700003"/>
          </a:xfrm>
          <a:prstGeom prst="rect">
            <a:avLst/>
          </a:prstGeom>
          <a:solidFill>
            <a:srgbClr val="E8EBF6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62" name="textbox 362"/>
          <p:cNvSpPr/>
          <p:nvPr/>
        </p:nvSpPr>
        <p:spPr>
          <a:xfrm>
            <a:off x="581302" y="604716"/>
            <a:ext cx="4521835" cy="118300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73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7780" algn="l" rtl="0" eaLnBrk="0">
              <a:lnSpc>
                <a:spcPct val="89000"/>
              </a:lnSpc>
              <a:tabLst/>
            </a:pPr>
            <a:r>
              <a:rPr sz="700" b="1" kern="0" spc="3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Inspect joint</a:t>
            </a:r>
            <a:r>
              <a:rPr sz="700" b="1" kern="0" spc="6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b="1" kern="0" spc="3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progress.</a:t>
            </a:r>
            <a:r>
              <a:rPr sz="700" b="1" kern="0" spc="6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Measure, visualize, and inspect</a:t>
            </a:r>
            <a:r>
              <a:rPr sz="700" kern="0" spc="-1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joint progress continuously</a:t>
            </a:r>
            <a:r>
              <a:rPr sz="700" kern="0" spc="2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with regard to</a:t>
            </a: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2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quality,</a:t>
            </a:r>
            <a:endParaRPr sz="700" dirty="0">
              <a:latin typeface="Arial Narrow"/>
              <a:ea typeface="Arial Narrow"/>
              <a:cs typeface="Arial Narrow"/>
            </a:endParaRPr>
          </a:p>
          <a:p>
            <a:pPr marL="15240" algn="l" rtl="0" eaLnBrk="0">
              <a:lnSpc>
                <a:spcPct val="113000"/>
              </a:lnSpc>
              <a:spcBef>
                <a:spcPts val="122"/>
              </a:spcBef>
              <a:tabLst/>
            </a:pP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effort, cost and schedule against plan.</a:t>
            </a:r>
            <a:r>
              <a:rPr sz="700" kern="0" spc="8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Identify technical an</a:t>
            </a:r>
            <a:r>
              <a:rPr sz="700" kern="0" spc="2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d</a:t>
            </a:r>
            <a:r>
              <a:rPr sz="700" kern="0" spc="5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2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business</a:t>
            </a:r>
            <a:r>
              <a:rPr sz="700" kern="0" spc="6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2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risks,</a:t>
            </a:r>
            <a:r>
              <a:rPr sz="700" kern="0" spc="6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2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impediments,</a:t>
            </a: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2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and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2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deviations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2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from</a:t>
            </a: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2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desired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2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status</a:t>
            </a:r>
            <a:r>
              <a:rPr sz="700" kern="0" spc="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collaborativ</a:t>
            </a:r>
            <a:r>
              <a:rPr sz="700" kern="0" spc="2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ely.</a:t>
            </a:r>
            <a:r>
              <a:rPr sz="700" kern="0" spc="6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2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[OUTCOME</a:t>
            </a:r>
            <a:r>
              <a:rPr sz="700" kern="0" spc="8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2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1, 3, 4, 6]</a:t>
            </a:r>
            <a:endParaRPr sz="700" dirty="0">
              <a:latin typeface="Arial Narrow"/>
              <a:ea typeface="Arial Narrow"/>
              <a:cs typeface="Arial Narrow"/>
            </a:endParaRPr>
          </a:p>
          <a:p>
            <a:pPr marL="18415" algn="l" rtl="0" eaLnBrk="0">
              <a:lnSpc>
                <a:spcPct val="76000"/>
              </a:lnSpc>
              <a:spcBef>
                <a:spcPts val="222"/>
              </a:spcBef>
              <a:tabLst/>
            </a:pPr>
            <a:r>
              <a:rPr sz="700" b="1" kern="0" spc="3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Notes &amp;</a:t>
            </a:r>
            <a:r>
              <a:rPr sz="700" b="1" kern="0" spc="11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b="1" kern="0" spc="3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Definitions:</a:t>
            </a:r>
            <a:endParaRPr sz="700" dirty="0">
              <a:latin typeface="Arial Narrow"/>
              <a:ea typeface="Arial Narrow"/>
              <a:cs typeface="Arial Narrow"/>
            </a:endParaRPr>
          </a:p>
          <a:p>
            <a:pPr marL="120650" algn="l" rtl="0" eaLnBrk="0">
              <a:lnSpc>
                <a:spcPts val="1041"/>
              </a:lnSpc>
              <a:spcBef>
                <a:spcPts val="114"/>
              </a:spcBef>
              <a:tabLst/>
            </a:pP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▪</a:t>
            </a:r>
            <a:r>
              <a:rPr sz="700" kern="0" spc="16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Quality, effort, cost, and schedule can be</a:t>
            </a:r>
            <a:r>
              <a:rPr sz="700" i="1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monitored by metrics and KPIs</a:t>
            </a:r>
            <a:r>
              <a:rPr sz="700" i="1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agreed by the partners.</a:t>
            </a:r>
            <a:endParaRPr sz="700" dirty="0">
              <a:latin typeface="Arial Narrow"/>
              <a:ea typeface="Arial Narrow"/>
              <a:cs typeface="Arial Narrow"/>
            </a:endParaRPr>
          </a:p>
          <a:p>
            <a:pPr marL="120650" algn="l" rtl="0" eaLnBrk="0">
              <a:lnSpc>
                <a:spcPts val="1041"/>
              </a:lnSpc>
              <a:tabLst/>
            </a:pP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▪ 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Inspect is the ability of</a:t>
            </a:r>
            <a:r>
              <a:rPr sz="700" i="1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a team</a:t>
            </a:r>
            <a:r>
              <a:rPr sz="700" i="1" kern="0" spc="8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(of</a:t>
            </a:r>
            <a:r>
              <a:rPr sz="700" i="1" kern="0" spc="-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teams) to</a:t>
            </a:r>
            <a:r>
              <a:rPr sz="700" i="1" kern="0" spc="5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detect deviations</a:t>
            </a:r>
            <a:r>
              <a:rPr sz="700" i="1" kern="0" spc="5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from</a:t>
            </a:r>
            <a:r>
              <a:rPr sz="700" i="1" kern="0" spc="6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desired status.</a:t>
            </a:r>
            <a:endParaRPr sz="700" dirty="0">
              <a:latin typeface="Arial Narrow"/>
              <a:ea typeface="Arial Narrow"/>
              <a:cs typeface="Arial Narrow"/>
            </a:endParaRPr>
          </a:p>
          <a:p>
            <a:pPr marL="895350" indent="-882650" algn="l" rtl="0" eaLnBrk="0">
              <a:lnSpc>
                <a:spcPct val="112000"/>
              </a:lnSpc>
              <a:spcBef>
                <a:spcPts val="322"/>
              </a:spcBef>
              <a:tabLst/>
            </a:pPr>
            <a:r>
              <a:rPr sz="700" b="1" kern="0" spc="4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Agile Work</a:t>
            </a:r>
            <a:r>
              <a:rPr sz="700" b="1" kern="0" spc="6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b="1" kern="0" spc="4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Products:</a:t>
            </a:r>
            <a:r>
              <a:rPr sz="700" b="1" kern="0" spc="9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4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Ite</a:t>
            </a:r>
            <a:r>
              <a:rPr sz="700" kern="0" spc="3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ration/release burndown chart or cumulative flow diagram, Velocity chart,</a:t>
            </a:r>
            <a:r>
              <a:rPr sz="700" kern="0" spc="5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Open</a:t>
            </a:r>
            <a:r>
              <a:rPr sz="700" kern="0" spc="6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item</a:t>
            </a:r>
            <a:r>
              <a:rPr sz="700" kern="0" spc="6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list,</a:t>
            </a:r>
            <a:r>
              <a:rPr sz="700" kern="0" spc="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            </a:t>
            </a:r>
            <a:r>
              <a:rPr sz="700" kern="0" spc="3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Risk list,</a:t>
            </a:r>
            <a:r>
              <a:rPr sz="700" kern="0" spc="7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Impediment</a:t>
            </a:r>
            <a:r>
              <a:rPr sz="700" kern="0" spc="6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backl</a:t>
            </a:r>
            <a:r>
              <a:rPr sz="700" kern="0" spc="2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og</a:t>
            </a:r>
            <a:endParaRPr sz="700" dirty="0">
              <a:latin typeface="Arial Narrow"/>
              <a:ea typeface="Arial Narrow"/>
              <a:cs typeface="Arial Narrow"/>
            </a:endParaRPr>
          </a:p>
          <a:p>
            <a:pPr marL="15240" algn="l" rtl="0" eaLnBrk="0">
              <a:lnSpc>
                <a:spcPts val="1079"/>
              </a:lnSpc>
              <a:tabLst/>
            </a:pPr>
            <a:r>
              <a:rPr sz="700" b="1" kern="0" spc="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Supporting</a:t>
            </a:r>
            <a:r>
              <a:rPr sz="700" b="1" kern="0" spc="7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b="1" kern="0" spc="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Agile</a:t>
            </a:r>
            <a:r>
              <a:rPr sz="700" b="1" kern="0" spc="6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b="1" kern="0" spc="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Principles</a:t>
            </a:r>
            <a:r>
              <a:rPr sz="700" b="1" kern="0" spc="7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7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4,</a:t>
            </a:r>
            <a:r>
              <a:rPr sz="700" i="1" kern="0" spc="7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7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5,</a:t>
            </a:r>
            <a:r>
              <a:rPr sz="700" i="1" kern="0" spc="7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7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6,</a:t>
            </a:r>
            <a:r>
              <a:rPr sz="700" i="1" kern="0" spc="10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7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7,</a:t>
            </a:r>
            <a:r>
              <a:rPr sz="700" i="1" kern="0" spc="7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7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8,</a:t>
            </a:r>
            <a:r>
              <a:rPr sz="700" i="1" kern="0" spc="12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7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1</a:t>
            </a:r>
            <a:r>
              <a:rPr sz="700" i="1" kern="0" spc="6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2</a:t>
            </a:r>
            <a:endParaRPr sz="700" dirty="0">
              <a:latin typeface="Arial Narrow"/>
              <a:ea typeface="Arial Narrow"/>
              <a:cs typeface="Arial Narrow"/>
            </a:endParaRPr>
          </a:p>
        </p:txBody>
      </p:sp>
      <p:sp>
        <p:nvSpPr>
          <p:cNvPr id="364" name="textbox 364"/>
          <p:cNvSpPr/>
          <p:nvPr/>
        </p:nvSpPr>
        <p:spPr>
          <a:xfrm>
            <a:off x="288012" y="396005"/>
            <a:ext cx="4968240" cy="137160"/>
          </a:xfrm>
          <a:prstGeom prst="rect">
            <a:avLst/>
          </a:prstGeom>
          <a:solidFill>
            <a:srgbClr val="015AAA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4000"/>
              </a:lnSpc>
              <a:tabLst/>
            </a:pPr>
            <a:endParaRPr sz="200" dirty="0">
              <a:latin typeface="Arial"/>
              <a:ea typeface="Arial"/>
              <a:cs typeface="Arial"/>
            </a:endParaRPr>
          </a:p>
          <a:p>
            <a:pPr marL="40005" algn="l" rtl="0" eaLnBrk="0">
              <a:lnSpc>
                <a:spcPct val="89000"/>
              </a:lnSpc>
              <a:spcBef>
                <a:spcPts val="1"/>
              </a:spcBef>
              <a:tabLst/>
            </a:pPr>
            <a:r>
              <a:rPr sz="700" b="1" kern="0" spc="30" dirty="0">
                <a:solidFill>
                  <a:srgbClr val="FFFFFF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Base</a:t>
            </a:r>
            <a:r>
              <a:rPr sz="700" b="1" kern="0" spc="70" dirty="0">
                <a:solidFill>
                  <a:srgbClr val="FFFFFF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b="1" kern="0" spc="30" dirty="0">
                <a:solidFill>
                  <a:srgbClr val="FFFFFF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practices</a:t>
            </a:r>
            <a:endParaRPr sz="700" dirty="0">
              <a:latin typeface="Arial Narrow"/>
              <a:ea typeface="Arial Narrow"/>
              <a:cs typeface="Arial Narrow"/>
            </a:endParaRPr>
          </a:p>
        </p:txBody>
      </p:sp>
      <p:sp>
        <p:nvSpPr>
          <p:cNvPr id="366" name="textbox 366"/>
          <p:cNvSpPr/>
          <p:nvPr/>
        </p:nvSpPr>
        <p:spPr>
          <a:xfrm>
            <a:off x="2726901" y="3644904"/>
            <a:ext cx="2541270" cy="18859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10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9000"/>
              </a:lnSpc>
              <a:tabLst/>
            </a:pPr>
            <a:r>
              <a:rPr sz="900" b="1" kern="0" spc="30" baseline="-17362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30</a:t>
            </a:r>
            <a:r>
              <a:rPr sz="500" b="1" kern="0" spc="1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         </a:t>
            </a:r>
            <a:r>
              <a:rPr sz="500" b="1" kern="0" spc="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                                                                                                       </a:t>
            </a:r>
            <a:r>
              <a:rPr sz="900" kern="0" spc="30" dirty="0">
                <a:solidFill>
                  <a:srgbClr val="0E3654">
                    <a:alpha val="100000"/>
                  </a:srgbClr>
                </a:solidFill>
                <a:latin typeface="Arial"/>
                <a:ea typeface="Arial"/>
                <a:cs typeface="Arial"/>
              </a:rPr>
              <a:t>intacs.</a:t>
            </a:r>
            <a:r>
              <a:rPr sz="900" kern="0" spc="-140" dirty="0">
                <a:solidFill>
                  <a:srgbClr val="0E365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30" dirty="0">
                <a:solidFill>
                  <a:srgbClr val="0E3654">
                    <a:alpha val="100000"/>
                  </a:srgbClr>
                </a:solidFill>
                <a:latin typeface="Arial"/>
                <a:ea typeface="Arial"/>
                <a:cs typeface="Arial"/>
              </a:rPr>
              <a:t>infoulal</a:t>
            </a:r>
            <a:endParaRPr sz="9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5766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512060" algn="l" rtl="0" eaLnBrk="0">
              <a:lnSpc>
                <a:spcPts val="126"/>
              </a:lnSpc>
              <a:tabLst/>
            </a:pPr>
            <a:r>
              <a:rPr sz="100" kern="0" spc="20" dirty="0">
                <a:solidFill>
                  <a:srgbClr val="0E3654">
                    <a:alpha val="100000"/>
                  </a:srgbClr>
                </a:solidFill>
                <a:latin typeface="Arial"/>
                <a:ea typeface="Arial"/>
                <a:cs typeface="Arial"/>
              </a:rPr>
              <a:t>M</a:t>
            </a:r>
            <a:endParaRPr sz="100" dirty="0">
              <a:latin typeface="Arial"/>
              <a:ea typeface="Arial"/>
              <a:cs typeface="Arial"/>
            </a:endParaRPr>
          </a:p>
        </p:txBody>
      </p:sp>
      <p:pic>
        <p:nvPicPr>
          <p:cNvPr id="368" name="picture 36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4481109" y="3788264"/>
            <a:ext cx="755282" cy="31932"/>
          </a:xfrm>
          <a:prstGeom prst="rect">
            <a:avLst/>
          </a:prstGeom>
        </p:spPr>
      </p:pic>
      <p:sp>
        <p:nvSpPr>
          <p:cNvPr id="370" name="textbox 370"/>
          <p:cNvSpPr/>
          <p:nvPr/>
        </p:nvSpPr>
        <p:spPr>
          <a:xfrm>
            <a:off x="1194082" y="3500902"/>
            <a:ext cx="3164205" cy="1181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96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6000"/>
              </a:lnSpc>
              <a:tabLst/>
            </a:pPr>
            <a:r>
              <a:rPr sz="800" b="1" kern="0" spc="160" dirty="0">
                <a:solidFill>
                  <a:srgbClr val="808285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DRAFT -</a:t>
            </a:r>
            <a:r>
              <a:rPr sz="800" b="1" kern="0" spc="140" dirty="0">
                <a:solidFill>
                  <a:srgbClr val="808285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800" b="1" kern="0" spc="160" dirty="0">
                <a:solidFill>
                  <a:srgbClr val="808285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REA</a:t>
            </a:r>
            <a:r>
              <a:rPr sz="800" b="1" kern="0" spc="150" dirty="0">
                <a:solidFill>
                  <a:srgbClr val="808285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DY FOR</a:t>
            </a:r>
            <a:r>
              <a:rPr sz="800" b="1" kern="0" spc="140" dirty="0">
                <a:solidFill>
                  <a:srgbClr val="808285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800" b="1" kern="0" spc="150" dirty="0">
                <a:solidFill>
                  <a:srgbClr val="808285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PILOTING</a:t>
            </a:r>
            <a:r>
              <a:rPr sz="800" b="1" kern="0" spc="140" dirty="0">
                <a:solidFill>
                  <a:srgbClr val="808285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800" b="1" kern="0" spc="150" dirty="0">
                <a:solidFill>
                  <a:srgbClr val="808285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-</a:t>
            </a:r>
            <a:r>
              <a:rPr sz="800" b="1" kern="0" spc="140" dirty="0">
                <a:solidFill>
                  <a:srgbClr val="808285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800" b="1" kern="0" spc="150" dirty="0">
                <a:solidFill>
                  <a:srgbClr val="808285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FEEDBACK WELCOME</a:t>
            </a:r>
            <a:endParaRPr sz="800" dirty="0">
              <a:latin typeface="Arial Narrow"/>
              <a:ea typeface="Arial Narrow"/>
              <a:cs typeface="Arial Narrow"/>
            </a:endParaRPr>
          </a:p>
        </p:txBody>
      </p:sp>
      <p:sp>
        <p:nvSpPr>
          <p:cNvPr id="372" name="textbox 372"/>
          <p:cNvSpPr/>
          <p:nvPr/>
        </p:nvSpPr>
        <p:spPr>
          <a:xfrm>
            <a:off x="337985" y="674210"/>
            <a:ext cx="161925" cy="9398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76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5000"/>
              </a:lnSpc>
              <a:tabLst/>
            </a:pPr>
            <a:r>
              <a:rPr sz="600" b="1" kern="0" spc="30" dirty="0">
                <a:solidFill>
                  <a:srgbClr val="FFFFFF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BP5</a:t>
            </a:r>
            <a:endParaRPr sz="600" dirty="0">
              <a:latin typeface="Arial Narrow"/>
              <a:ea typeface="Arial Narrow"/>
              <a:cs typeface="Arial Narrow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rect 374"/>
          <p:cNvSpPr/>
          <p:nvPr/>
        </p:nvSpPr>
        <p:spPr>
          <a:xfrm>
            <a:off x="287988" y="590388"/>
            <a:ext cx="4968714" cy="2700003"/>
          </a:xfrm>
          <a:prstGeom prst="rect">
            <a:avLst/>
          </a:prstGeom>
          <a:solidFill>
            <a:srgbClr val="E8EBF6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76" name="textbox 376"/>
          <p:cNvSpPr/>
          <p:nvPr/>
        </p:nvSpPr>
        <p:spPr>
          <a:xfrm>
            <a:off x="581253" y="604614"/>
            <a:ext cx="4620260" cy="118300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603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5240" indent="-2540" algn="l" rtl="0" eaLnBrk="0">
              <a:lnSpc>
                <a:spcPct val="111000"/>
              </a:lnSpc>
              <a:tabLst/>
            </a:pPr>
            <a:r>
              <a:rPr sz="700" b="1" kern="0" spc="3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Act on</a:t>
            </a:r>
            <a:r>
              <a:rPr sz="700" b="1" kern="0" spc="6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b="1" kern="0" spc="3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risks,</a:t>
            </a:r>
            <a:r>
              <a:rPr sz="700" b="1" kern="0" spc="7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b="1" kern="0" spc="3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impediments, and deviations.</a:t>
            </a:r>
            <a:r>
              <a:rPr sz="700" b="1" kern="0" spc="6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Mitigate technical and business</a:t>
            </a:r>
            <a:r>
              <a:rPr sz="700" kern="0" spc="6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risks,</a:t>
            </a:r>
            <a:r>
              <a:rPr sz="700" kern="0" spc="6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impediments,</a:t>
            </a: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and</a:t>
            </a: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deviations from </a:t>
            </a:r>
            <a:r>
              <a:rPr sz="700" kern="0" spc="2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desired</a:t>
            </a:r>
            <a:r>
              <a:rPr sz="700" kern="0" spc="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status collabora</a:t>
            </a:r>
            <a:r>
              <a:rPr sz="700" kern="0" spc="2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tively.</a:t>
            </a:r>
            <a:r>
              <a:rPr sz="700" kern="0" spc="5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2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[OUTCOME</a:t>
            </a:r>
            <a:r>
              <a:rPr sz="700" kern="0" spc="9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2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1, 4]</a:t>
            </a:r>
            <a:endParaRPr sz="700" dirty="0">
              <a:latin typeface="Arial Narrow"/>
              <a:ea typeface="Arial Narrow"/>
              <a:cs typeface="Arial Narrow"/>
            </a:endParaRPr>
          </a:p>
          <a:p>
            <a:pPr marL="18415" algn="l" rtl="0" eaLnBrk="0">
              <a:lnSpc>
                <a:spcPct val="76000"/>
              </a:lnSpc>
              <a:spcBef>
                <a:spcPts val="221"/>
              </a:spcBef>
              <a:tabLst/>
            </a:pPr>
            <a:r>
              <a:rPr sz="700" b="1" kern="0" spc="3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Notes &amp;</a:t>
            </a:r>
            <a:r>
              <a:rPr sz="700" b="1" kern="0" spc="11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b="1" kern="0" spc="3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Definitions:</a:t>
            </a:r>
            <a:endParaRPr sz="700" dirty="0">
              <a:latin typeface="Arial Narrow"/>
              <a:ea typeface="Arial Narrow"/>
              <a:cs typeface="Arial Narrow"/>
            </a:endParaRPr>
          </a:p>
          <a:p>
            <a:pPr marL="179705" indent="-59055" algn="l" rtl="0" eaLnBrk="0">
              <a:lnSpc>
                <a:spcPct val="122000"/>
              </a:lnSpc>
              <a:spcBef>
                <a:spcPts val="106"/>
              </a:spcBef>
              <a:tabLst/>
            </a:pPr>
            <a:r>
              <a:rPr sz="700" i="1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▪ Prioritize, p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lan and track open points to closure. In</a:t>
            </a:r>
            <a:r>
              <a:rPr sz="700" i="1" kern="0" spc="5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case</a:t>
            </a:r>
            <a:r>
              <a:rPr sz="700" i="1" kern="0" spc="5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of</a:t>
            </a:r>
            <a:r>
              <a:rPr sz="700" i="1" kern="0" spc="-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deviations</a:t>
            </a:r>
            <a:r>
              <a:rPr sz="700" i="1" kern="0" spc="5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from</a:t>
            </a:r>
            <a:r>
              <a:rPr sz="700" i="1" kern="0" spc="6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the</a:t>
            </a:r>
            <a:r>
              <a:rPr sz="700" i="1" kern="0" spc="5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desired status,</a:t>
            </a:r>
            <a:r>
              <a:rPr sz="700" i="1" kern="0" spc="-5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jointly identify root causes,</a:t>
            </a:r>
            <a:r>
              <a:rPr sz="700" i="1" kern="0" spc="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introduce countermeasures an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d</a:t>
            </a:r>
            <a:r>
              <a:rPr sz="700" i="1" kern="0" spc="-1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prevent reoccurrence.</a:t>
            </a:r>
            <a:endParaRPr sz="700" dirty="0">
              <a:latin typeface="Arial Narrow"/>
              <a:ea typeface="Arial Narrow"/>
              <a:cs typeface="Arial Narrow"/>
            </a:endParaRPr>
          </a:p>
          <a:p>
            <a:pPr marL="120650" algn="l" rtl="0" eaLnBrk="0">
              <a:lnSpc>
                <a:spcPts val="1041"/>
              </a:lnSpc>
              <a:tabLst/>
            </a:pPr>
            <a:r>
              <a:rPr sz="700" i="1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▪</a:t>
            </a:r>
            <a:r>
              <a:rPr sz="700" i="1" kern="0" spc="-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Adaption is the ab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ility of</a:t>
            </a:r>
            <a:r>
              <a:rPr sz="700" i="1" kern="0" spc="-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a team</a:t>
            </a:r>
            <a:r>
              <a:rPr sz="700" i="1" kern="0" spc="8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(of</a:t>
            </a:r>
            <a:r>
              <a:rPr sz="700" i="1" kern="0" spc="-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teams) to</a:t>
            </a:r>
            <a:r>
              <a:rPr sz="700" i="1" kern="0" spc="6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timely adjust to</a:t>
            </a:r>
            <a:r>
              <a:rPr sz="700" i="1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an</a:t>
            </a:r>
            <a:r>
              <a:rPr sz="700" i="1" kern="0" spc="6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everchanging</a:t>
            </a:r>
            <a:r>
              <a:rPr sz="700" i="1" kern="0" spc="5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environment.</a:t>
            </a:r>
            <a:endParaRPr sz="700" dirty="0">
              <a:latin typeface="Arial Narrow"/>
              <a:ea typeface="Arial Narrow"/>
              <a:cs typeface="Arial Narrow"/>
            </a:endParaRPr>
          </a:p>
          <a:p>
            <a:pPr marL="16510" indent="-3810" algn="l" rtl="0" eaLnBrk="0">
              <a:lnSpc>
                <a:spcPct val="112000"/>
              </a:lnSpc>
              <a:spcBef>
                <a:spcPts val="322"/>
              </a:spcBef>
              <a:tabLst/>
            </a:pPr>
            <a:r>
              <a:rPr sz="700" b="1" kern="0" spc="4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Agile Work</a:t>
            </a:r>
            <a:r>
              <a:rPr sz="700" b="1" kern="0" spc="6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b="1" kern="0" spc="4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Products: </a:t>
            </a:r>
            <a:r>
              <a:rPr sz="700" kern="0" spc="4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Collaboratio</a:t>
            </a:r>
            <a:r>
              <a:rPr sz="700" kern="0" spc="3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n agreement,</a:t>
            </a:r>
            <a:r>
              <a:rPr sz="700" kern="0" spc="7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Product vision,</a:t>
            </a:r>
            <a:r>
              <a:rPr sz="700" kern="0" spc="7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Product roadmap,</a:t>
            </a:r>
            <a:r>
              <a:rPr sz="700" kern="0" spc="7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Product backlog,</a:t>
            </a:r>
            <a:r>
              <a:rPr sz="700" kern="0" spc="7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Definition of</a:t>
            </a:r>
            <a:r>
              <a:rPr sz="700" kern="0" spc="5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Done,</a:t>
            </a:r>
            <a:r>
              <a:rPr sz="700" kern="0" spc="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      </a:t>
            </a:r>
            <a:r>
              <a:rPr sz="700" kern="0" spc="3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Open item list,</a:t>
            </a:r>
            <a:r>
              <a:rPr sz="700" kern="0" spc="6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Risk</a:t>
            </a:r>
            <a:r>
              <a:rPr sz="700" kern="0" spc="6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list,</a:t>
            </a:r>
            <a:r>
              <a:rPr sz="700" kern="0" spc="9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Impediment</a:t>
            </a:r>
            <a:r>
              <a:rPr sz="700" kern="0" spc="6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ba</a:t>
            </a:r>
            <a:r>
              <a:rPr sz="700" kern="0" spc="2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cklog</a:t>
            </a:r>
            <a:endParaRPr sz="700" dirty="0">
              <a:latin typeface="Arial Narrow"/>
              <a:ea typeface="Arial Narrow"/>
              <a:cs typeface="Arial Narrow"/>
            </a:endParaRPr>
          </a:p>
          <a:p>
            <a:pPr marL="15240" algn="l" rtl="0" eaLnBrk="0">
              <a:lnSpc>
                <a:spcPts val="1079"/>
              </a:lnSpc>
              <a:tabLst/>
            </a:pPr>
            <a:r>
              <a:rPr sz="700" b="1" kern="0" spc="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Supporting</a:t>
            </a:r>
            <a:r>
              <a:rPr sz="700" b="1" kern="0" spc="5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b="1" kern="0" spc="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Agile</a:t>
            </a:r>
            <a:r>
              <a:rPr sz="700" b="1" kern="0" spc="7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b="1" kern="0" spc="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Principles</a:t>
            </a:r>
            <a:r>
              <a:rPr sz="700" b="1" kern="0" spc="11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5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1,</a:t>
            </a:r>
            <a:r>
              <a:rPr sz="700" i="1" kern="0" spc="6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5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2, 3, 4,</a:t>
            </a:r>
            <a:r>
              <a:rPr sz="700" i="1" kern="0" spc="7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5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5,</a:t>
            </a:r>
            <a:r>
              <a:rPr sz="700" i="1" kern="0" spc="6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5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9,</a:t>
            </a:r>
            <a:r>
              <a:rPr sz="700" i="1" kern="0" spc="12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5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10,</a:t>
            </a:r>
            <a:r>
              <a:rPr sz="700" i="1" kern="0" spc="12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5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11</a:t>
            </a:r>
            <a:endParaRPr sz="700" dirty="0">
              <a:latin typeface="Arial Narrow"/>
              <a:ea typeface="Arial Narrow"/>
              <a:cs typeface="Arial Narrow"/>
            </a:endParaRPr>
          </a:p>
        </p:txBody>
      </p:sp>
      <p:sp>
        <p:nvSpPr>
          <p:cNvPr id="378" name="textbox 378"/>
          <p:cNvSpPr/>
          <p:nvPr/>
        </p:nvSpPr>
        <p:spPr>
          <a:xfrm>
            <a:off x="288012" y="396005"/>
            <a:ext cx="4968240" cy="137160"/>
          </a:xfrm>
          <a:prstGeom prst="rect">
            <a:avLst/>
          </a:prstGeom>
          <a:solidFill>
            <a:srgbClr val="015AAA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4000"/>
              </a:lnSpc>
              <a:tabLst/>
            </a:pPr>
            <a:endParaRPr sz="200" dirty="0">
              <a:latin typeface="Arial"/>
              <a:ea typeface="Arial"/>
              <a:cs typeface="Arial"/>
            </a:endParaRPr>
          </a:p>
          <a:p>
            <a:pPr marL="40005" algn="l" rtl="0" eaLnBrk="0">
              <a:lnSpc>
                <a:spcPct val="89000"/>
              </a:lnSpc>
              <a:spcBef>
                <a:spcPts val="1"/>
              </a:spcBef>
              <a:tabLst/>
            </a:pPr>
            <a:r>
              <a:rPr sz="700" b="1" kern="0" spc="30" dirty="0">
                <a:solidFill>
                  <a:srgbClr val="FFFFFF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Base</a:t>
            </a:r>
            <a:r>
              <a:rPr sz="700" b="1" kern="0" spc="70" dirty="0">
                <a:solidFill>
                  <a:srgbClr val="FFFFFF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b="1" kern="0" spc="30" dirty="0">
                <a:solidFill>
                  <a:srgbClr val="FFFFFF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practices</a:t>
            </a:r>
            <a:endParaRPr sz="700" dirty="0">
              <a:latin typeface="Arial Narrow"/>
              <a:ea typeface="Arial Narrow"/>
              <a:cs typeface="Arial Narrow"/>
            </a:endParaRPr>
          </a:p>
        </p:txBody>
      </p:sp>
      <p:sp>
        <p:nvSpPr>
          <p:cNvPr id="380" name="textbox 380"/>
          <p:cNvSpPr/>
          <p:nvPr/>
        </p:nvSpPr>
        <p:spPr>
          <a:xfrm>
            <a:off x="2726901" y="3644904"/>
            <a:ext cx="2541270" cy="18859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10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9000"/>
              </a:lnSpc>
              <a:tabLst/>
            </a:pPr>
            <a:r>
              <a:rPr sz="900" b="1" kern="0" spc="30" baseline="-17362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31</a:t>
            </a:r>
            <a:r>
              <a:rPr sz="500" b="1" kern="0" spc="1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         </a:t>
            </a:r>
            <a:r>
              <a:rPr sz="500" b="1" kern="0" spc="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                                                                                                       </a:t>
            </a:r>
            <a:r>
              <a:rPr sz="900" kern="0" spc="30" dirty="0">
                <a:solidFill>
                  <a:srgbClr val="0E3654">
                    <a:alpha val="100000"/>
                  </a:srgbClr>
                </a:solidFill>
                <a:latin typeface="Arial"/>
                <a:ea typeface="Arial"/>
                <a:cs typeface="Arial"/>
              </a:rPr>
              <a:t>intacs.</a:t>
            </a:r>
            <a:r>
              <a:rPr sz="900" kern="0" spc="-140" dirty="0">
                <a:solidFill>
                  <a:srgbClr val="0E365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30" dirty="0">
                <a:solidFill>
                  <a:srgbClr val="0E3654">
                    <a:alpha val="100000"/>
                  </a:srgbClr>
                </a:solidFill>
                <a:latin typeface="Arial"/>
                <a:ea typeface="Arial"/>
                <a:cs typeface="Arial"/>
              </a:rPr>
              <a:t>infoulal</a:t>
            </a:r>
            <a:endParaRPr sz="9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5766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512060" algn="l" rtl="0" eaLnBrk="0">
              <a:lnSpc>
                <a:spcPts val="126"/>
              </a:lnSpc>
              <a:tabLst/>
            </a:pPr>
            <a:r>
              <a:rPr sz="100" kern="0" spc="20" dirty="0">
                <a:solidFill>
                  <a:srgbClr val="0E3654">
                    <a:alpha val="100000"/>
                  </a:srgbClr>
                </a:solidFill>
                <a:latin typeface="Arial"/>
                <a:ea typeface="Arial"/>
                <a:cs typeface="Arial"/>
              </a:rPr>
              <a:t>M</a:t>
            </a:r>
            <a:endParaRPr sz="100" dirty="0">
              <a:latin typeface="Arial"/>
              <a:ea typeface="Arial"/>
              <a:cs typeface="Arial"/>
            </a:endParaRPr>
          </a:p>
        </p:txBody>
      </p:sp>
      <p:pic>
        <p:nvPicPr>
          <p:cNvPr id="382" name="picture 38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4481109" y="3788264"/>
            <a:ext cx="755282" cy="31932"/>
          </a:xfrm>
          <a:prstGeom prst="rect">
            <a:avLst/>
          </a:prstGeom>
        </p:spPr>
      </p:pic>
      <p:sp>
        <p:nvSpPr>
          <p:cNvPr id="384" name="textbox 384"/>
          <p:cNvSpPr/>
          <p:nvPr/>
        </p:nvSpPr>
        <p:spPr>
          <a:xfrm>
            <a:off x="1194082" y="3500902"/>
            <a:ext cx="3164205" cy="1181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96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6000"/>
              </a:lnSpc>
              <a:tabLst/>
            </a:pPr>
            <a:r>
              <a:rPr sz="800" b="1" kern="0" spc="160" dirty="0">
                <a:solidFill>
                  <a:srgbClr val="808285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DRAFT -</a:t>
            </a:r>
            <a:r>
              <a:rPr sz="800" b="1" kern="0" spc="140" dirty="0">
                <a:solidFill>
                  <a:srgbClr val="808285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800" b="1" kern="0" spc="160" dirty="0">
                <a:solidFill>
                  <a:srgbClr val="808285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REA</a:t>
            </a:r>
            <a:r>
              <a:rPr sz="800" b="1" kern="0" spc="150" dirty="0">
                <a:solidFill>
                  <a:srgbClr val="808285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DY FOR</a:t>
            </a:r>
            <a:r>
              <a:rPr sz="800" b="1" kern="0" spc="140" dirty="0">
                <a:solidFill>
                  <a:srgbClr val="808285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800" b="1" kern="0" spc="150" dirty="0">
                <a:solidFill>
                  <a:srgbClr val="808285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PILOTING</a:t>
            </a:r>
            <a:r>
              <a:rPr sz="800" b="1" kern="0" spc="140" dirty="0">
                <a:solidFill>
                  <a:srgbClr val="808285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800" b="1" kern="0" spc="150" dirty="0">
                <a:solidFill>
                  <a:srgbClr val="808285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-</a:t>
            </a:r>
            <a:r>
              <a:rPr sz="800" b="1" kern="0" spc="140" dirty="0">
                <a:solidFill>
                  <a:srgbClr val="808285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800" b="1" kern="0" spc="150" dirty="0">
                <a:solidFill>
                  <a:srgbClr val="808285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FEEDBACK WELCOME</a:t>
            </a:r>
            <a:endParaRPr sz="800" dirty="0">
              <a:latin typeface="Arial Narrow"/>
              <a:ea typeface="Arial Narrow"/>
              <a:cs typeface="Arial Narrow"/>
            </a:endParaRPr>
          </a:p>
        </p:txBody>
      </p:sp>
      <p:sp>
        <p:nvSpPr>
          <p:cNvPr id="386" name="textbox 386"/>
          <p:cNvSpPr/>
          <p:nvPr/>
        </p:nvSpPr>
        <p:spPr>
          <a:xfrm>
            <a:off x="337985" y="673943"/>
            <a:ext cx="161925" cy="9461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97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5000"/>
              </a:lnSpc>
              <a:tabLst/>
            </a:pPr>
            <a:r>
              <a:rPr sz="600" b="1" kern="0" spc="30" dirty="0">
                <a:solidFill>
                  <a:srgbClr val="FFFFFF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BP6</a:t>
            </a:r>
            <a:endParaRPr sz="600" dirty="0">
              <a:latin typeface="Arial Narrow"/>
              <a:ea typeface="Arial Narrow"/>
              <a:cs typeface="Arial Narrow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textbox 388"/>
          <p:cNvSpPr/>
          <p:nvPr/>
        </p:nvSpPr>
        <p:spPr>
          <a:xfrm>
            <a:off x="317612" y="1370284"/>
            <a:ext cx="4911725" cy="22491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marL="124460" indent="-104140" algn="l" rtl="0" eaLnBrk="0">
              <a:lnSpc>
                <a:spcPct val="111000"/>
              </a:lnSpc>
              <a:tabLst/>
            </a:pP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1.</a:t>
            </a:r>
            <a:r>
              <a:rPr sz="700" kern="0" spc="16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quality objectives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in line with work boundaries, vision, strategic themes, work</a:t>
            </a: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approach</a:t>
            </a: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and</a:t>
            </a: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governance</a:t>
            </a:r>
            <a:r>
              <a:rPr sz="700" kern="0" spc="5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criteria</a:t>
            </a: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are</a:t>
            </a: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collaboratively</a:t>
            </a:r>
            <a:r>
              <a:rPr sz="700" kern="0" spc="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2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identified;</a:t>
            </a:r>
            <a:endParaRPr sz="700" dirty="0">
              <a:latin typeface="Arial Narrow"/>
              <a:ea typeface="Arial Narrow"/>
              <a:cs typeface="Arial Narrow"/>
            </a:endParaRPr>
          </a:p>
          <a:p>
            <a:pPr marL="121920" indent="-107950" algn="l" rtl="0" eaLnBrk="0">
              <a:lnSpc>
                <a:spcPct val="112000"/>
              </a:lnSpc>
              <a:spcBef>
                <a:spcPts val="124"/>
              </a:spcBef>
              <a:tabLst/>
            </a:pP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2.</a:t>
            </a:r>
            <a:r>
              <a:rPr sz="700" kern="0" spc="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 </a:t>
            </a: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a quality assura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nce strategy to identify and</a:t>
            </a:r>
            <a:r>
              <a:rPr sz="700" kern="0" spc="6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independently communicate</a:t>
            </a:r>
            <a:r>
              <a:rPr sz="700" kern="0" spc="6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impediments</a:t>
            </a:r>
            <a:r>
              <a:rPr sz="700" kern="0" spc="6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in</a:t>
            </a:r>
            <a:r>
              <a:rPr sz="700" kern="0" spc="5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achieving</a:t>
            </a: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quality</a:t>
            </a: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objectives</a:t>
            </a:r>
            <a:r>
              <a:rPr sz="700" kern="0" spc="6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is jointly</a:t>
            </a:r>
            <a:r>
              <a:rPr sz="700" kern="0" spc="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       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defined and</a:t>
            </a:r>
            <a:r>
              <a:rPr sz="700" kern="0" spc="5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kept</a:t>
            </a:r>
            <a:r>
              <a:rPr sz="700" kern="0" spc="6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up to</a:t>
            </a:r>
            <a:r>
              <a:rPr sz="700" kern="0" spc="5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2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date;</a:t>
            </a:r>
            <a:endParaRPr sz="700" dirty="0">
              <a:latin typeface="Arial Narrow"/>
              <a:ea typeface="Arial Narrow"/>
              <a:cs typeface="Arial Narrow"/>
            </a:endParaRPr>
          </a:p>
          <a:p>
            <a:pPr marL="14605" algn="l" rtl="0" eaLnBrk="0">
              <a:lnSpc>
                <a:spcPct val="90000"/>
              </a:lnSpc>
              <a:spcBef>
                <a:spcPts val="225"/>
              </a:spcBef>
              <a:tabLst/>
            </a:pP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3.</a:t>
            </a:r>
            <a:r>
              <a:rPr sz="700" kern="0" spc="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 </a:t>
            </a: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conformance of actual work product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s and processes to agreed work</a:t>
            </a:r>
            <a:r>
              <a:rPr sz="700" kern="0" spc="5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approach</a:t>
            </a: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and</a:t>
            </a: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applicable</a:t>
            </a: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governance</a:t>
            </a:r>
            <a:r>
              <a:rPr sz="700" kern="0" spc="5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criteria</a:t>
            </a:r>
            <a:r>
              <a:rPr sz="700" kern="0" spc="6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is</a:t>
            </a: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ensured;</a:t>
            </a:r>
            <a:endParaRPr sz="700" dirty="0">
              <a:latin typeface="Arial Narrow"/>
              <a:ea typeface="Arial Narrow"/>
              <a:cs typeface="Arial Narrow"/>
            </a:endParaRPr>
          </a:p>
          <a:p>
            <a:pPr marL="12700" algn="l" rtl="0" eaLnBrk="0">
              <a:lnSpc>
                <a:spcPct val="90000"/>
              </a:lnSpc>
              <a:spcBef>
                <a:spcPts val="244"/>
              </a:spcBef>
              <a:tabLst/>
            </a:pP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4.</a:t>
            </a:r>
            <a:r>
              <a:rPr sz="700" kern="0" spc="1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 </a:t>
            </a: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impediments affecting qu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ality objectives are recorded and</a:t>
            </a: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communicated to</a:t>
            </a:r>
            <a:r>
              <a:rPr sz="700" kern="0" spc="6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relevant</a:t>
            </a: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stakeholders;</a:t>
            </a:r>
            <a:endParaRPr sz="700" dirty="0">
              <a:latin typeface="Arial Narrow"/>
              <a:ea typeface="Arial Narrow"/>
              <a:cs typeface="Arial Narrow"/>
            </a:endParaRPr>
          </a:p>
          <a:p>
            <a:pPr marL="14605" algn="l" rtl="0" eaLnBrk="0">
              <a:lnSpc>
                <a:spcPct val="90000"/>
              </a:lnSpc>
              <a:spcBef>
                <a:spcPts val="244"/>
              </a:spcBef>
              <a:tabLst/>
            </a:pP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5.</a:t>
            </a:r>
            <a:r>
              <a:rPr sz="700" kern="0" spc="1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 </a:t>
            </a: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impediment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s affecting quality objectives are tracked to closure and their</a:t>
            </a:r>
            <a:r>
              <a:rPr sz="700" kern="0" spc="5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re-occurrence</a:t>
            </a:r>
            <a:r>
              <a:rPr sz="700" kern="0" spc="6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is</a:t>
            </a:r>
            <a:r>
              <a:rPr sz="700" kern="0" spc="7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prevented;</a:t>
            </a:r>
            <a:endParaRPr sz="700" dirty="0">
              <a:latin typeface="Arial Narrow"/>
              <a:ea typeface="Arial Narrow"/>
              <a:cs typeface="Arial Narrow"/>
            </a:endParaRPr>
          </a:p>
          <a:p>
            <a:pPr marL="121920" indent="-107315" algn="l" rtl="0" eaLnBrk="0">
              <a:lnSpc>
                <a:spcPct val="121000"/>
              </a:lnSpc>
              <a:spcBef>
                <a:spcPts val="127"/>
              </a:spcBef>
              <a:tabLst/>
            </a:pP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6.</a:t>
            </a:r>
            <a:r>
              <a:rPr sz="700" kern="0" spc="1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 </a:t>
            </a: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mechanisms and authorit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y to escalate non resolution</a:t>
            </a: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of</a:t>
            </a: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impediments within</a:t>
            </a: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and</a:t>
            </a:r>
            <a:r>
              <a:rPr sz="700" kern="0" spc="6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beyond</a:t>
            </a: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the</a:t>
            </a: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agile team</a:t>
            </a:r>
            <a:r>
              <a:rPr sz="700" kern="0" spc="6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(of teams)</a:t>
            </a: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are</a:t>
            </a:r>
            <a:r>
              <a:rPr sz="700" kern="0" spc="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                    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established and effective.</a:t>
            </a:r>
            <a:endParaRPr sz="700" dirty="0">
              <a:latin typeface="Arial Narrow"/>
              <a:ea typeface="Arial Narrow"/>
              <a:cs typeface="Arial Narrow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200" dirty="0">
              <a:latin typeface="Arial"/>
              <a:ea typeface="Arial"/>
              <a:cs typeface="Arial"/>
            </a:endParaRPr>
          </a:p>
          <a:p>
            <a:pPr marL="889000" algn="l" rtl="0" eaLnBrk="0">
              <a:lnSpc>
                <a:spcPct val="76000"/>
              </a:lnSpc>
              <a:spcBef>
                <a:spcPts val="1"/>
              </a:spcBef>
              <a:tabLst/>
            </a:pPr>
            <a:r>
              <a:rPr sz="800" b="1" kern="0" spc="160" dirty="0">
                <a:solidFill>
                  <a:srgbClr val="808285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DRAFT -</a:t>
            </a:r>
            <a:r>
              <a:rPr sz="800" b="1" kern="0" spc="140" dirty="0">
                <a:solidFill>
                  <a:srgbClr val="808285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800" b="1" kern="0" spc="160" dirty="0">
                <a:solidFill>
                  <a:srgbClr val="808285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REA</a:t>
            </a:r>
            <a:r>
              <a:rPr sz="800" b="1" kern="0" spc="150" dirty="0">
                <a:solidFill>
                  <a:srgbClr val="808285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DY FOR</a:t>
            </a:r>
            <a:r>
              <a:rPr sz="800" b="1" kern="0" spc="140" dirty="0">
                <a:solidFill>
                  <a:srgbClr val="808285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800" b="1" kern="0" spc="150" dirty="0">
                <a:solidFill>
                  <a:srgbClr val="808285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PILOTING</a:t>
            </a:r>
            <a:r>
              <a:rPr sz="800" b="1" kern="0" spc="140" dirty="0">
                <a:solidFill>
                  <a:srgbClr val="808285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800" b="1" kern="0" spc="150" dirty="0">
                <a:solidFill>
                  <a:srgbClr val="808285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-</a:t>
            </a:r>
            <a:r>
              <a:rPr sz="800" b="1" kern="0" spc="140" dirty="0">
                <a:solidFill>
                  <a:srgbClr val="808285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800" b="1" kern="0" spc="150" dirty="0">
                <a:solidFill>
                  <a:srgbClr val="808285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FEEDBACK WELCOME</a:t>
            </a:r>
            <a:endParaRPr sz="800" dirty="0">
              <a:latin typeface="Arial Narrow"/>
              <a:ea typeface="Arial Narrow"/>
              <a:cs typeface="Arial Narrow"/>
            </a:endParaRPr>
          </a:p>
        </p:txBody>
      </p:sp>
      <p:sp>
        <p:nvSpPr>
          <p:cNvPr id="390" name="textbox 390"/>
          <p:cNvSpPr/>
          <p:nvPr/>
        </p:nvSpPr>
        <p:spPr>
          <a:xfrm>
            <a:off x="277420" y="383304"/>
            <a:ext cx="4672330" cy="44513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90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5875" algn="l" rtl="0" eaLnBrk="0">
              <a:lnSpc>
                <a:spcPct val="88000"/>
              </a:lnSpc>
              <a:tabLst/>
            </a:pPr>
            <a:r>
              <a:rPr sz="800" b="1" kern="0" spc="4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AGL.3 Agile Quality Assurance – Purpose and Outcomes</a:t>
            </a:r>
            <a:endParaRPr sz="800" dirty="0">
              <a:latin typeface="Arial Narrow"/>
              <a:ea typeface="Arial Narrow"/>
              <a:cs typeface="Arial Narrow"/>
            </a:endParaRPr>
          </a:p>
          <a:p>
            <a:pPr algn="l" rtl="0" eaLnBrk="0">
              <a:lnSpc>
                <a:spcPct val="116000"/>
              </a:lnSpc>
              <a:tabLst/>
            </a:pPr>
            <a:endParaRPr sz="400" dirty="0">
              <a:latin typeface="Arial"/>
              <a:ea typeface="Arial"/>
              <a:cs typeface="Arial"/>
            </a:endParaRPr>
          </a:p>
          <a:p>
            <a:pPr marL="13334" indent="-635" algn="l" rtl="0" eaLnBrk="0">
              <a:lnSpc>
                <a:spcPct val="113000"/>
              </a:lnSpc>
              <a:spcBef>
                <a:spcPts val="1"/>
              </a:spcBef>
              <a:tabLst/>
            </a:pP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The purpose of</a:t>
            </a:r>
            <a:r>
              <a:rPr sz="700" kern="0" spc="-5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Agile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Quality</a:t>
            </a:r>
            <a:r>
              <a:rPr sz="700" kern="0" spc="-1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Assurance is to</a:t>
            </a:r>
            <a:r>
              <a:rPr sz="700" kern="0" spc="6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independently</a:t>
            </a:r>
            <a:r>
              <a:rPr sz="700" kern="0" spc="6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identify, track</a:t>
            </a: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to</a:t>
            </a: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closure,</a:t>
            </a: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escalate</a:t>
            </a:r>
            <a:r>
              <a:rPr sz="700" kern="0" spc="5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and further</a:t>
            </a:r>
            <a:r>
              <a:rPr sz="700" kern="0" spc="5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prevent</a:t>
            </a:r>
            <a:r>
              <a:rPr sz="700" kern="0" spc="6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impediments</a:t>
            </a:r>
            <a:r>
              <a:rPr sz="700" kern="0" spc="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affecting the achievement of quality objectives.</a:t>
            </a:r>
            <a:endParaRPr sz="700" dirty="0">
              <a:latin typeface="Arial Narrow"/>
              <a:ea typeface="Arial Narrow"/>
              <a:cs typeface="Arial Narrow"/>
            </a:endParaRPr>
          </a:p>
        </p:txBody>
      </p:sp>
      <p:sp>
        <p:nvSpPr>
          <p:cNvPr id="392" name="textbox 392"/>
          <p:cNvSpPr/>
          <p:nvPr/>
        </p:nvSpPr>
        <p:spPr>
          <a:xfrm>
            <a:off x="298418" y="1180579"/>
            <a:ext cx="4968240" cy="137160"/>
          </a:xfrm>
          <a:prstGeom prst="rect">
            <a:avLst/>
          </a:prstGeom>
          <a:solidFill>
            <a:srgbClr val="015AAA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7500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30480" algn="l" rtl="0" eaLnBrk="0">
              <a:lnSpc>
                <a:spcPct val="88000"/>
              </a:lnSpc>
              <a:tabLst/>
            </a:pPr>
            <a:r>
              <a:rPr sz="800" kern="0" spc="40" dirty="0">
                <a:solidFill>
                  <a:srgbClr val="FFFFFF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Agile</a:t>
            </a:r>
            <a:r>
              <a:rPr sz="800" kern="0" spc="70" dirty="0">
                <a:solidFill>
                  <a:srgbClr val="FFFFFF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800" kern="0" spc="40" dirty="0">
                <a:solidFill>
                  <a:srgbClr val="FFFFFF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Process </a:t>
            </a:r>
            <a:r>
              <a:rPr sz="800" kern="0" spc="30" dirty="0">
                <a:solidFill>
                  <a:srgbClr val="FFFFFF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Outcomes</a:t>
            </a:r>
            <a:endParaRPr sz="800" dirty="0">
              <a:latin typeface="Arial Narrow"/>
              <a:ea typeface="Arial Narrow"/>
              <a:cs typeface="Arial Narrow"/>
            </a:endParaRPr>
          </a:p>
        </p:txBody>
      </p:sp>
      <p:sp>
        <p:nvSpPr>
          <p:cNvPr id="394" name="textbox 394"/>
          <p:cNvSpPr/>
          <p:nvPr/>
        </p:nvSpPr>
        <p:spPr>
          <a:xfrm>
            <a:off x="2726901" y="3644904"/>
            <a:ext cx="2541270" cy="18859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10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9000"/>
              </a:lnSpc>
              <a:tabLst/>
            </a:pPr>
            <a:r>
              <a:rPr sz="900" b="1" kern="0" spc="30" baseline="-17362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32</a:t>
            </a:r>
            <a:r>
              <a:rPr sz="500" b="1" kern="0" spc="1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         </a:t>
            </a:r>
            <a:r>
              <a:rPr sz="500" b="1" kern="0" spc="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                                                                                                       </a:t>
            </a:r>
            <a:r>
              <a:rPr sz="900" kern="0" spc="30" dirty="0">
                <a:solidFill>
                  <a:srgbClr val="0E3654">
                    <a:alpha val="100000"/>
                  </a:srgbClr>
                </a:solidFill>
                <a:latin typeface="Arial"/>
                <a:ea typeface="Arial"/>
                <a:cs typeface="Arial"/>
              </a:rPr>
              <a:t>intacs.</a:t>
            </a:r>
            <a:r>
              <a:rPr sz="900" kern="0" spc="-140" dirty="0">
                <a:solidFill>
                  <a:srgbClr val="0E365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30" dirty="0">
                <a:solidFill>
                  <a:srgbClr val="0E3654">
                    <a:alpha val="100000"/>
                  </a:srgbClr>
                </a:solidFill>
                <a:latin typeface="Arial"/>
                <a:ea typeface="Arial"/>
                <a:cs typeface="Arial"/>
              </a:rPr>
              <a:t>infoulal</a:t>
            </a:r>
            <a:endParaRPr sz="9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5766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512060" algn="l" rtl="0" eaLnBrk="0">
              <a:lnSpc>
                <a:spcPts val="126"/>
              </a:lnSpc>
              <a:tabLst/>
            </a:pPr>
            <a:r>
              <a:rPr sz="100" kern="0" spc="20" dirty="0">
                <a:solidFill>
                  <a:srgbClr val="0E3654">
                    <a:alpha val="100000"/>
                  </a:srgbClr>
                </a:solidFill>
                <a:latin typeface="Arial"/>
                <a:ea typeface="Arial"/>
                <a:cs typeface="Arial"/>
              </a:rPr>
              <a:t>M</a:t>
            </a:r>
            <a:endParaRPr sz="100" dirty="0">
              <a:latin typeface="Arial"/>
              <a:ea typeface="Arial"/>
              <a:cs typeface="Arial"/>
            </a:endParaRPr>
          </a:p>
        </p:txBody>
      </p:sp>
      <p:pic>
        <p:nvPicPr>
          <p:cNvPr id="396" name="picture 39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4481109" y="3788264"/>
            <a:ext cx="755282" cy="31932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textbox 398"/>
          <p:cNvSpPr/>
          <p:nvPr/>
        </p:nvSpPr>
        <p:spPr>
          <a:xfrm>
            <a:off x="281383" y="618114"/>
            <a:ext cx="4998085" cy="21043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marL="248920" indent="-236220" algn="l" rtl="0" eaLnBrk="0">
              <a:lnSpc>
                <a:spcPct val="111000"/>
              </a:lnSpc>
              <a:spcBef>
                <a:spcPts val="7"/>
              </a:spcBef>
              <a:tabLst/>
            </a:pPr>
            <a:r>
              <a:rPr sz="700" b="1" kern="0" spc="4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BP 1</a:t>
            </a:r>
            <a:r>
              <a:rPr sz="700" b="1" kern="0" spc="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  </a:t>
            </a:r>
            <a:r>
              <a:rPr sz="700" b="1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Identi</a:t>
            </a:r>
            <a:r>
              <a:rPr sz="700" b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fy quality objectives.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Collaboratively identify</a:t>
            </a:r>
            <a:r>
              <a:rPr sz="700" kern="0" spc="5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and</a:t>
            </a: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agree</a:t>
            </a: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on</a:t>
            </a: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quality</a:t>
            </a: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objectives</a:t>
            </a:r>
            <a:r>
              <a:rPr sz="700" kern="0" spc="6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in</a:t>
            </a:r>
            <a:r>
              <a:rPr sz="700" kern="0" spc="7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line with work</a:t>
            </a:r>
            <a:r>
              <a:rPr sz="700" kern="0" spc="6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boundaries,</a:t>
            </a:r>
            <a:r>
              <a:rPr sz="700" kern="0" spc="2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vision,</a:t>
            </a: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strategic</a:t>
            </a:r>
            <a:r>
              <a:rPr sz="700" kern="0" spc="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themes, work approa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ch, and governance criteria.</a:t>
            </a:r>
            <a:endParaRPr sz="700" dirty="0">
              <a:latin typeface="Arial Narrow"/>
              <a:ea typeface="Arial Narrow"/>
              <a:cs typeface="Arial Narrow"/>
            </a:endParaRPr>
          </a:p>
          <a:p>
            <a:pPr marL="250825" indent="-238125" algn="l" rtl="0" eaLnBrk="0">
              <a:lnSpc>
                <a:spcPct val="113000"/>
              </a:lnSpc>
              <a:spcBef>
                <a:spcPts val="187"/>
              </a:spcBef>
              <a:tabLst/>
            </a:pPr>
            <a:r>
              <a:rPr sz="700" b="1" kern="0" spc="4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BP 2</a:t>
            </a:r>
            <a:r>
              <a:rPr sz="700" b="1" kern="0" spc="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  </a:t>
            </a:r>
            <a:r>
              <a:rPr sz="700" b="1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Define a q</a:t>
            </a:r>
            <a:r>
              <a:rPr sz="700" b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uality assurance strategy.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Jointly define and</a:t>
            </a:r>
            <a:r>
              <a:rPr sz="700" kern="0" spc="7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record</a:t>
            </a:r>
            <a:r>
              <a:rPr sz="700" kern="0" spc="5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a</a:t>
            </a: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quality</a:t>
            </a: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assurance</a:t>
            </a: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strategy to</a:t>
            </a:r>
            <a:r>
              <a:rPr sz="700" kern="0" spc="7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identify</a:t>
            </a: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and</a:t>
            </a:r>
            <a:r>
              <a:rPr sz="700" kern="0" spc="6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independently</a:t>
            </a:r>
            <a:r>
              <a:rPr sz="700" kern="0" spc="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          </a:t>
            </a: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communicate impediment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s in achieving quality objectives.</a:t>
            </a:r>
            <a:endParaRPr sz="700" dirty="0">
              <a:latin typeface="Arial Narrow"/>
              <a:ea typeface="Arial Narrow"/>
              <a:cs typeface="Arial Narrow"/>
            </a:endParaRPr>
          </a:p>
          <a:p>
            <a:pPr marL="252730" indent="-240030" algn="l" rtl="0" eaLnBrk="0">
              <a:lnSpc>
                <a:spcPct val="113000"/>
              </a:lnSpc>
              <a:spcBef>
                <a:spcPts val="187"/>
              </a:spcBef>
              <a:tabLst/>
            </a:pPr>
            <a:r>
              <a:rPr sz="700" b="1" kern="0" spc="4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BP 3</a:t>
            </a:r>
            <a:r>
              <a:rPr sz="700" b="1" kern="0" spc="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  </a:t>
            </a:r>
            <a:r>
              <a:rPr sz="700" b="1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Ensure conformance.</a:t>
            </a:r>
            <a:r>
              <a:rPr sz="700" b="1" kern="0" spc="8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Ensure the conformanc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e of actual work products and</a:t>
            </a:r>
            <a:r>
              <a:rPr sz="700" kern="0" spc="6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processes</a:t>
            </a: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as</a:t>
            </a:r>
            <a:r>
              <a:rPr sz="700" kern="0" spc="6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implemented</a:t>
            </a:r>
            <a:r>
              <a:rPr sz="700" kern="0" spc="6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by</a:t>
            </a: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the</a:t>
            </a: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agile team</a:t>
            </a:r>
            <a:r>
              <a:rPr sz="700" kern="0" spc="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           </a:t>
            </a: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(of teams) to agreed w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ork approach and applicable governance criteria.</a:t>
            </a:r>
            <a:endParaRPr sz="700" dirty="0">
              <a:latin typeface="Arial Narrow"/>
              <a:ea typeface="Arial Narrow"/>
              <a:cs typeface="Arial Narrow"/>
            </a:endParaRPr>
          </a:p>
          <a:p>
            <a:pPr marL="250190" indent="-237490" algn="l" rtl="0" eaLnBrk="0">
              <a:lnSpc>
                <a:spcPct val="121000"/>
              </a:lnSpc>
              <a:spcBef>
                <a:spcPts val="191"/>
              </a:spcBef>
              <a:tabLst/>
            </a:pPr>
            <a:r>
              <a:rPr sz="700" b="1" kern="0" spc="4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BP 4</a:t>
            </a:r>
            <a:r>
              <a:rPr sz="700" b="1" kern="0" spc="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  </a:t>
            </a:r>
            <a:r>
              <a:rPr sz="700" b="1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Record</a:t>
            </a:r>
            <a:r>
              <a:rPr sz="700" b="1" kern="0" spc="8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b="1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impediments.</a:t>
            </a:r>
            <a:r>
              <a:rPr sz="700" b="1" kern="0" spc="7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Record impediments aff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ecting the achievement of quality objectives and</a:t>
            </a: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communicate</a:t>
            </a: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them to</a:t>
            </a:r>
            <a:r>
              <a:rPr sz="700" kern="0" spc="6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relevant</a:t>
            </a:r>
            <a:r>
              <a:rPr sz="700" kern="0" spc="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  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stakeholders.</a:t>
            </a:r>
            <a:endParaRPr sz="700" dirty="0">
              <a:latin typeface="Arial Narrow"/>
              <a:ea typeface="Arial Narrow"/>
              <a:cs typeface="Arial Narrow"/>
            </a:endParaRPr>
          </a:p>
          <a:p>
            <a:pPr marL="252730" indent="-240030" algn="l" rtl="0" eaLnBrk="0">
              <a:lnSpc>
                <a:spcPct val="121000"/>
              </a:lnSpc>
              <a:spcBef>
                <a:spcPts val="53"/>
              </a:spcBef>
              <a:tabLst/>
            </a:pPr>
            <a:r>
              <a:rPr sz="700" b="1" kern="0" spc="4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BP 5</a:t>
            </a:r>
            <a:r>
              <a:rPr sz="700" b="1" kern="0" spc="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  </a:t>
            </a:r>
            <a:r>
              <a:rPr sz="700" b="1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Resolve</a:t>
            </a:r>
            <a:r>
              <a:rPr sz="700" b="1" kern="0" spc="8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b="1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impediments. </a:t>
            </a: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Track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impediments affecting the achievement of quality objectives to</a:t>
            </a:r>
            <a:r>
              <a:rPr sz="700" kern="0" spc="5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closure</a:t>
            </a: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and</a:t>
            </a:r>
            <a:r>
              <a:rPr sz="700" kern="0" spc="6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prevent their</a:t>
            </a:r>
            <a:r>
              <a:rPr sz="700" kern="0" spc="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                 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re occurrence.</a:t>
            </a:r>
            <a:endParaRPr sz="700" dirty="0">
              <a:latin typeface="Arial Narrow"/>
              <a:ea typeface="Arial Narrow"/>
              <a:cs typeface="Arial Narrow"/>
            </a:endParaRPr>
          </a:p>
          <a:p>
            <a:pPr marL="252730" indent="-240030" algn="l" rtl="0" eaLnBrk="0">
              <a:lnSpc>
                <a:spcPct val="113000"/>
              </a:lnSpc>
              <a:spcBef>
                <a:spcPts val="47"/>
              </a:spcBef>
              <a:tabLst/>
            </a:pPr>
            <a:r>
              <a:rPr sz="700" b="1" kern="0" spc="4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BP 6</a:t>
            </a:r>
            <a:r>
              <a:rPr sz="700" b="1" kern="0" spc="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  </a:t>
            </a:r>
            <a:r>
              <a:rPr sz="700" b="1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Establish escalation mechanisms.</a:t>
            </a:r>
            <a:r>
              <a:rPr sz="700" b="1" kern="0" spc="8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Esta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blish mechanisms and authority to</a:t>
            </a: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escalate</a:t>
            </a:r>
            <a:r>
              <a:rPr sz="700" kern="0" spc="6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non</a:t>
            </a:r>
            <a:r>
              <a:rPr sz="700" kern="0" spc="7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resolution</a:t>
            </a: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of</a:t>
            </a: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impediments within</a:t>
            </a: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and</a:t>
            </a:r>
            <a:r>
              <a:rPr sz="700" kern="0" spc="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 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beyond the agile team</a:t>
            </a:r>
            <a:r>
              <a:rPr sz="700" kern="0" spc="12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(of teams).</a:t>
            </a:r>
            <a:endParaRPr sz="700" dirty="0">
              <a:latin typeface="Arial Narrow"/>
              <a:ea typeface="Arial Narrow"/>
              <a:cs typeface="Arial Narrow"/>
            </a:endParaRPr>
          </a:p>
          <a:p>
            <a:pPr marL="252730" indent="-240030" algn="l" rtl="0" eaLnBrk="0">
              <a:lnSpc>
                <a:spcPct val="121000"/>
              </a:lnSpc>
              <a:spcBef>
                <a:spcPts val="191"/>
              </a:spcBef>
              <a:tabLst/>
            </a:pPr>
            <a:r>
              <a:rPr sz="700" b="1" kern="0" spc="4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BP 7</a:t>
            </a:r>
            <a:r>
              <a:rPr sz="700" b="1" kern="0" spc="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  </a:t>
            </a:r>
            <a:r>
              <a:rPr sz="700" b="1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Ensure effective escalation.</a:t>
            </a:r>
            <a:r>
              <a:rPr sz="700" b="1" kern="0" spc="8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En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sure the resolution of escalated</a:t>
            </a:r>
            <a:r>
              <a:rPr sz="700" kern="0" spc="6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impediments</a:t>
            </a:r>
            <a:r>
              <a:rPr sz="700" kern="0" spc="7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by adequate</a:t>
            </a: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governance</a:t>
            </a: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and</a:t>
            </a: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decision</a:t>
            </a:r>
            <a:r>
              <a:rPr sz="700" kern="0" spc="6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making</a:t>
            </a:r>
            <a:r>
              <a:rPr sz="700" kern="0" spc="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     </a:t>
            </a:r>
            <a:r>
              <a:rPr sz="700" kern="0" spc="2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bodies.</a:t>
            </a:r>
            <a:endParaRPr sz="700" dirty="0">
              <a:latin typeface="Arial Narrow"/>
              <a:ea typeface="Arial Narrow"/>
              <a:cs typeface="Arial Narrow"/>
            </a:endParaRPr>
          </a:p>
          <a:p>
            <a:pPr marL="248920" indent="-236220" algn="l" rtl="0" eaLnBrk="0">
              <a:lnSpc>
                <a:spcPct val="113000"/>
              </a:lnSpc>
              <a:spcBef>
                <a:spcPts val="48"/>
              </a:spcBef>
              <a:tabLst/>
            </a:pPr>
            <a:r>
              <a:rPr sz="700" b="1" kern="0" spc="4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BP 8</a:t>
            </a:r>
            <a:r>
              <a:rPr sz="700" b="1" kern="0" spc="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  </a:t>
            </a:r>
            <a:r>
              <a:rPr sz="700" b="1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Inspect and a</a:t>
            </a:r>
            <a:r>
              <a:rPr sz="700" b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dapt.</a:t>
            </a:r>
            <a:r>
              <a:rPr sz="700" b="1" kern="0" spc="8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Inspect and adapt the quality assurance</a:t>
            </a: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strategy</a:t>
            </a:r>
            <a:r>
              <a:rPr sz="700" kern="0" spc="7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based</a:t>
            </a: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on</a:t>
            </a: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short</a:t>
            </a:r>
            <a:r>
              <a:rPr sz="700" kern="0" spc="6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learning</a:t>
            </a: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cycles</a:t>
            </a:r>
            <a:r>
              <a:rPr sz="700" kern="0" spc="2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within</a:t>
            </a: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the</a:t>
            </a: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agile</a:t>
            </a:r>
            <a:r>
              <a:rPr sz="700" kern="0" spc="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                     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team</a:t>
            </a:r>
            <a:r>
              <a:rPr sz="700" kern="0" spc="10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(of teams).</a:t>
            </a:r>
            <a:endParaRPr sz="700" dirty="0">
              <a:latin typeface="Arial Narrow"/>
              <a:ea typeface="Arial Narrow"/>
              <a:cs typeface="Arial Narrow"/>
            </a:endParaRPr>
          </a:p>
        </p:txBody>
      </p:sp>
      <p:sp>
        <p:nvSpPr>
          <p:cNvPr id="400" name="textbox 400"/>
          <p:cNvSpPr/>
          <p:nvPr/>
        </p:nvSpPr>
        <p:spPr>
          <a:xfrm>
            <a:off x="2726901" y="3644904"/>
            <a:ext cx="2541270" cy="18859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10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9000"/>
              </a:lnSpc>
              <a:tabLst/>
            </a:pPr>
            <a:r>
              <a:rPr sz="900" b="1" kern="0" spc="30" baseline="-17362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33</a:t>
            </a:r>
            <a:r>
              <a:rPr sz="500" b="1" kern="0" spc="1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         </a:t>
            </a:r>
            <a:r>
              <a:rPr sz="500" b="1" kern="0" spc="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                                                                                                       </a:t>
            </a:r>
            <a:r>
              <a:rPr sz="900" kern="0" spc="30" dirty="0">
                <a:solidFill>
                  <a:srgbClr val="0E3654">
                    <a:alpha val="100000"/>
                  </a:srgbClr>
                </a:solidFill>
                <a:latin typeface="Arial"/>
                <a:ea typeface="Arial"/>
                <a:cs typeface="Arial"/>
              </a:rPr>
              <a:t>intacs.</a:t>
            </a:r>
            <a:r>
              <a:rPr sz="900" kern="0" spc="-140" dirty="0">
                <a:solidFill>
                  <a:srgbClr val="0E365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30" dirty="0">
                <a:solidFill>
                  <a:srgbClr val="0E3654">
                    <a:alpha val="100000"/>
                  </a:srgbClr>
                </a:solidFill>
                <a:latin typeface="Arial"/>
                <a:ea typeface="Arial"/>
                <a:cs typeface="Arial"/>
              </a:rPr>
              <a:t>infoulal</a:t>
            </a:r>
            <a:endParaRPr sz="9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5766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512060" algn="l" rtl="0" eaLnBrk="0">
              <a:lnSpc>
                <a:spcPts val="126"/>
              </a:lnSpc>
              <a:tabLst/>
            </a:pPr>
            <a:r>
              <a:rPr sz="100" kern="0" spc="20" dirty="0">
                <a:solidFill>
                  <a:srgbClr val="0E3654">
                    <a:alpha val="100000"/>
                  </a:srgbClr>
                </a:solidFill>
                <a:latin typeface="Arial"/>
                <a:ea typeface="Arial"/>
                <a:cs typeface="Arial"/>
              </a:rPr>
              <a:t>M</a:t>
            </a:r>
            <a:endParaRPr sz="100" dirty="0">
              <a:latin typeface="Arial"/>
              <a:ea typeface="Arial"/>
              <a:cs typeface="Arial"/>
            </a:endParaRPr>
          </a:p>
        </p:txBody>
      </p:sp>
      <p:pic>
        <p:nvPicPr>
          <p:cNvPr id="402" name="picture 40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4481109" y="3788264"/>
            <a:ext cx="755282" cy="31932"/>
          </a:xfrm>
          <a:prstGeom prst="rect">
            <a:avLst/>
          </a:prstGeom>
        </p:spPr>
      </p:pic>
      <p:sp>
        <p:nvSpPr>
          <p:cNvPr id="404" name="textbox 404"/>
          <p:cNvSpPr/>
          <p:nvPr/>
        </p:nvSpPr>
        <p:spPr>
          <a:xfrm>
            <a:off x="278788" y="370947"/>
            <a:ext cx="2623185" cy="13271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90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tabLst/>
            </a:pPr>
            <a:r>
              <a:rPr sz="800" b="1" kern="0" spc="4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AGL.3 Agile Quality Assurance (AQA) – Practice Summar</a:t>
            </a:r>
            <a:r>
              <a:rPr sz="800" b="1" kern="0" spc="3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y</a:t>
            </a:r>
            <a:endParaRPr sz="800" dirty="0">
              <a:latin typeface="Arial Narrow"/>
              <a:ea typeface="Arial Narrow"/>
              <a:cs typeface="Arial Narrow"/>
            </a:endParaRPr>
          </a:p>
        </p:txBody>
      </p:sp>
      <p:sp>
        <p:nvSpPr>
          <p:cNvPr id="406" name="textbox 406"/>
          <p:cNvSpPr/>
          <p:nvPr/>
        </p:nvSpPr>
        <p:spPr>
          <a:xfrm>
            <a:off x="1194082" y="3500902"/>
            <a:ext cx="3164205" cy="1181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96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6000"/>
              </a:lnSpc>
              <a:tabLst/>
            </a:pPr>
            <a:r>
              <a:rPr sz="800" b="1" kern="0" spc="160" dirty="0">
                <a:solidFill>
                  <a:srgbClr val="808285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DRAFT -</a:t>
            </a:r>
            <a:r>
              <a:rPr sz="800" b="1" kern="0" spc="140" dirty="0">
                <a:solidFill>
                  <a:srgbClr val="808285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800" b="1" kern="0" spc="160" dirty="0">
                <a:solidFill>
                  <a:srgbClr val="808285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REA</a:t>
            </a:r>
            <a:r>
              <a:rPr sz="800" b="1" kern="0" spc="150" dirty="0">
                <a:solidFill>
                  <a:srgbClr val="808285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DY FOR</a:t>
            </a:r>
            <a:r>
              <a:rPr sz="800" b="1" kern="0" spc="140" dirty="0">
                <a:solidFill>
                  <a:srgbClr val="808285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800" b="1" kern="0" spc="150" dirty="0">
                <a:solidFill>
                  <a:srgbClr val="808285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PILOTING</a:t>
            </a:r>
            <a:r>
              <a:rPr sz="800" b="1" kern="0" spc="140" dirty="0">
                <a:solidFill>
                  <a:srgbClr val="808285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800" b="1" kern="0" spc="150" dirty="0">
                <a:solidFill>
                  <a:srgbClr val="808285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-</a:t>
            </a:r>
            <a:r>
              <a:rPr sz="800" b="1" kern="0" spc="140" dirty="0">
                <a:solidFill>
                  <a:srgbClr val="808285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800" b="1" kern="0" spc="150" dirty="0">
                <a:solidFill>
                  <a:srgbClr val="808285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FEEDBACK WELCOME</a:t>
            </a:r>
            <a:endParaRPr sz="800" dirty="0">
              <a:latin typeface="Arial Narrow"/>
              <a:ea typeface="Arial Narrow"/>
              <a:cs typeface="Arial Narrow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rect 408"/>
          <p:cNvSpPr/>
          <p:nvPr/>
        </p:nvSpPr>
        <p:spPr>
          <a:xfrm>
            <a:off x="287988" y="590388"/>
            <a:ext cx="4968714" cy="2700003"/>
          </a:xfrm>
          <a:prstGeom prst="rect">
            <a:avLst/>
          </a:prstGeom>
          <a:solidFill>
            <a:srgbClr val="E8EBF6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410" name="textbox 410"/>
          <p:cNvSpPr/>
          <p:nvPr/>
        </p:nvSpPr>
        <p:spPr>
          <a:xfrm>
            <a:off x="581206" y="604614"/>
            <a:ext cx="4599940" cy="169100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603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5240" indent="2540" algn="l" rtl="0" eaLnBrk="0">
              <a:lnSpc>
                <a:spcPct val="111000"/>
              </a:lnSpc>
              <a:tabLst/>
            </a:pPr>
            <a:r>
              <a:rPr sz="700" b="1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Identify qualit</a:t>
            </a:r>
            <a:r>
              <a:rPr sz="700" b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y objectives.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Collaboratively identify and agree on</a:t>
            </a: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quality</a:t>
            </a: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objectives</a:t>
            </a:r>
            <a:r>
              <a:rPr sz="700" kern="0" spc="7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in</a:t>
            </a:r>
            <a:r>
              <a:rPr sz="700" kern="0" spc="6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line with</a:t>
            </a:r>
            <a:r>
              <a:rPr sz="700" kern="0" spc="2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work</a:t>
            </a:r>
            <a:r>
              <a:rPr sz="700" kern="0" spc="6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boundaries, vision,</a:t>
            </a:r>
            <a:r>
              <a:rPr sz="700" kern="0" spc="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       </a:t>
            </a: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strategic themes, w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ork approach and governance criteria.</a:t>
            </a:r>
            <a:r>
              <a:rPr sz="700" kern="0" spc="7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[OUTCOME</a:t>
            </a:r>
            <a:r>
              <a:rPr sz="700" kern="0" spc="8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1]</a:t>
            </a:r>
            <a:endParaRPr sz="700" dirty="0">
              <a:latin typeface="Arial Narrow"/>
              <a:ea typeface="Arial Narrow"/>
              <a:cs typeface="Arial Narrow"/>
            </a:endParaRPr>
          </a:p>
          <a:p>
            <a:pPr marL="18415" algn="l" rtl="0" eaLnBrk="0">
              <a:lnSpc>
                <a:spcPct val="76000"/>
              </a:lnSpc>
              <a:spcBef>
                <a:spcPts val="221"/>
              </a:spcBef>
              <a:tabLst/>
            </a:pPr>
            <a:r>
              <a:rPr sz="700" b="1" kern="0" spc="3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Notes &amp;</a:t>
            </a:r>
            <a:r>
              <a:rPr sz="700" b="1" kern="0" spc="11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b="1" kern="0" spc="3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Definitions:</a:t>
            </a:r>
            <a:endParaRPr sz="700" dirty="0">
              <a:latin typeface="Arial Narrow"/>
              <a:ea typeface="Arial Narrow"/>
              <a:cs typeface="Arial Narrow"/>
            </a:endParaRPr>
          </a:p>
          <a:p>
            <a:pPr marL="111760" algn="l" rtl="0" eaLnBrk="0">
              <a:lnSpc>
                <a:spcPts val="1041"/>
              </a:lnSpc>
              <a:spcBef>
                <a:spcPts val="114"/>
              </a:spcBef>
              <a:tabLst/>
            </a:pP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.</a:t>
            </a:r>
            <a:r>
              <a:rPr sz="700" kern="0" spc="10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Quality objectives</a:t>
            </a:r>
            <a:endParaRPr sz="700" dirty="0">
              <a:latin typeface="Arial Narrow"/>
              <a:ea typeface="Arial Narrow"/>
              <a:cs typeface="Arial Narrow"/>
            </a:endParaRPr>
          </a:p>
          <a:p>
            <a:pPr marL="250825" indent="-69215" algn="l" rtl="0" eaLnBrk="0">
              <a:lnSpc>
                <a:spcPct val="119000"/>
              </a:lnSpc>
              <a:spcBef>
                <a:spcPts val="1"/>
              </a:spcBef>
              <a:tabLst/>
            </a:pPr>
            <a:r>
              <a:rPr sz="700" i="1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- encompass the</a:t>
            </a:r>
            <a:r>
              <a:rPr sz="700" i="1" kern="0" spc="6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work approach selected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by the agile team</a:t>
            </a:r>
            <a:r>
              <a:rPr sz="700" i="1" kern="0" spc="8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(of</a:t>
            </a:r>
            <a:r>
              <a:rPr sz="700" i="1" kern="0" spc="-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teams) as</a:t>
            </a:r>
            <a:r>
              <a:rPr sz="700" i="1" kern="0" spc="7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well</a:t>
            </a:r>
            <a:r>
              <a:rPr sz="700" i="1" kern="0" spc="2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as</a:t>
            </a:r>
            <a:r>
              <a:rPr sz="700" i="1" kern="0" spc="6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the</a:t>
            </a:r>
            <a:r>
              <a:rPr sz="700" i="1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relevant governance processes</a:t>
            </a:r>
            <a:r>
              <a:rPr sz="700" i="1" kern="0" spc="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    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of</a:t>
            </a:r>
            <a:r>
              <a:rPr sz="700" i="1" kern="0" spc="1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the organization,</a:t>
            </a:r>
            <a:endParaRPr sz="700" dirty="0">
              <a:latin typeface="Arial Narrow"/>
              <a:ea typeface="Arial Narrow"/>
              <a:cs typeface="Arial Narrow"/>
            </a:endParaRPr>
          </a:p>
          <a:p>
            <a:pPr marL="181610" algn="l" rtl="0" eaLnBrk="0">
              <a:lnSpc>
                <a:spcPts val="1000"/>
              </a:lnSpc>
              <a:tabLst/>
            </a:pP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- are agreed</a:t>
            </a:r>
            <a:r>
              <a:rPr sz="700" i="1" kern="0" spc="6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collaboratively,</a:t>
            </a:r>
            <a:endParaRPr sz="700" dirty="0">
              <a:latin typeface="Arial Narrow"/>
              <a:ea typeface="Arial Narrow"/>
              <a:cs typeface="Arial Narrow"/>
            </a:endParaRPr>
          </a:p>
          <a:p>
            <a:pPr marL="181610" algn="l" rtl="0" eaLnBrk="0">
              <a:lnSpc>
                <a:spcPts val="999"/>
              </a:lnSpc>
              <a:tabLst/>
            </a:pPr>
            <a:r>
              <a:rPr sz="700" i="1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- are ach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ieved by the agile team</a:t>
            </a:r>
            <a:r>
              <a:rPr sz="700" i="1" kern="0" spc="7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(of</a:t>
            </a:r>
            <a:r>
              <a:rPr sz="700" i="1" kern="0" spc="-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teams)</a:t>
            </a:r>
            <a:r>
              <a:rPr sz="700" i="1" kern="0" spc="5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across</a:t>
            </a:r>
            <a:r>
              <a:rPr sz="700" i="1" kern="0" spc="5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the iterations.</a:t>
            </a:r>
            <a:endParaRPr sz="700" dirty="0">
              <a:latin typeface="Arial Narrow"/>
              <a:ea typeface="Arial Narrow"/>
              <a:cs typeface="Arial Narrow"/>
            </a:endParaRPr>
          </a:p>
          <a:p>
            <a:pPr algn="r" rtl="0" eaLnBrk="0">
              <a:lnSpc>
                <a:spcPts val="1000"/>
              </a:lnSpc>
              <a:tabLst/>
            </a:pP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.</a:t>
            </a:r>
            <a:r>
              <a:rPr sz="700" kern="0" spc="7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Quality objectives lead to the establish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ment of</a:t>
            </a:r>
            <a:r>
              <a:rPr sz="700" i="1" kern="0" spc="-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suitable</a:t>
            </a:r>
            <a:r>
              <a:rPr sz="700" i="1" kern="0" spc="7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work</a:t>
            </a:r>
            <a:r>
              <a:rPr sz="700" i="1" kern="0" spc="-2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processes and quality characteristics for the</a:t>
            </a:r>
            <a:r>
              <a:rPr sz="700" i="1" kern="0" spc="7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work</a:t>
            </a:r>
            <a:r>
              <a:rPr sz="700" i="1" kern="0" spc="-2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products.</a:t>
            </a:r>
            <a:endParaRPr sz="700" dirty="0">
              <a:latin typeface="Arial Narrow"/>
              <a:ea typeface="Arial Narrow"/>
              <a:cs typeface="Arial Narrow"/>
            </a:endParaRPr>
          </a:p>
          <a:p>
            <a:pPr marL="181610" indent="-60960" algn="l" rtl="0" eaLnBrk="0">
              <a:lnSpc>
                <a:spcPct val="122000"/>
              </a:lnSpc>
              <a:spcBef>
                <a:spcPts val="12"/>
              </a:spcBef>
              <a:tabLst/>
            </a:pP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.</a:t>
            </a:r>
            <a:r>
              <a:rPr sz="700" kern="0" spc="-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Among other, criteria fo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r contents definition, structure, review, approval</a:t>
            </a:r>
            <a:r>
              <a:rPr sz="700" i="1" kern="0" spc="2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of</a:t>
            </a:r>
            <a:r>
              <a:rPr sz="700" i="1" kern="0" spc="-1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work</a:t>
            </a:r>
            <a:r>
              <a:rPr sz="700" i="1" kern="0" spc="-2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products</a:t>
            </a:r>
            <a:r>
              <a:rPr sz="700" i="1" kern="0" spc="5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as</a:t>
            </a:r>
            <a:r>
              <a:rPr sz="700" i="1" kern="0" spc="7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well</a:t>
            </a:r>
            <a:r>
              <a:rPr sz="700" i="1" kern="0" spc="2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as</a:t>
            </a:r>
            <a:r>
              <a:rPr sz="700" i="1" kern="0" spc="5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any other criterion</a:t>
            </a:r>
            <a:r>
              <a:rPr sz="700" i="1" kern="0" spc="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   </a:t>
            </a:r>
            <a:r>
              <a:rPr sz="700" i="1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derived from s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tandards are part of</a:t>
            </a:r>
            <a:r>
              <a:rPr sz="700" i="1" kern="0" spc="-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the quality objectives.</a:t>
            </a:r>
            <a:endParaRPr sz="700" dirty="0">
              <a:latin typeface="Arial Narrow"/>
              <a:ea typeface="Arial Narrow"/>
              <a:cs typeface="Arial Narrow"/>
            </a:endParaRPr>
          </a:p>
          <a:p>
            <a:pPr marL="12700" algn="l" rtl="0" eaLnBrk="0">
              <a:lnSpc>
                <a:spcPct val="89000"/>
              </a:lnSpc>
              <a:spcBef>
                <a:spcPts val="438"/>
              </a:spcBef>
              <a:tabLst/>
            </a:pPr>
            <a:r>
              <a:rPr sz="700" b="1" kern="0" spc="4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Agile Work</a:t>
            </a:r>
            <a:r>
              <a:rPr sz="700" b="1" kern="0" spc="6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b="1" kern="0" spc="4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Products:</a:t>
            </a:r>
            <a:r>
              <a:rPr sz="700" b="1" kern="0" spc="3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Quality objectives</a:t>
            </a:r>
            <a:endParaRPr sz="700" dirty="0">
              <a:latin typeface="Arial Narrow"/>
              <a:ea typeface="Arial Narrow"/>
              <a:cs typeface="Arial Narrow"/>
            </a:endParaRPr>
          </a:p>
          <a:p>
            <a:pPr marL="15240" algn="l" rtl="0" eaLnBrk="0">
              <a:lnSpc>
                <a:spcPts val="1074"/>
              </a:lnSpc>
              <a:spcBef>
                <a:spcPts val="2"/>
              </a:spcBef>
              <a:tabLst/>
            </a:pPr>
            <a:r>
              <a:rPr sz="700" b="1" kern="0" spc="3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Supporting Agile</a:t>
            </a:r>
            <a:r>
              <a:rPr sz="700" b="1" kern="0" spc="7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b="1" kern="0" spc="3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Principles</a:t>
            </a:r>
            <a:r>
              <a:rPr sz="700" b="1" kern="0" spc="11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3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1, 3, 4</a:t>
            </a:r>
            <a:endParaRPr sz="700" dirty="0">
              <a:latin typeface="Arial Narrow"/>
              <a:ea typeface="Arial Narrow"/>
              <a:cs typeface="Arial Narrow"/>
            </a:endParaRPr>
          </a:p>
        </p:txBody>
      </p:sp>
      <p:sp>
        <p:nvSpPr>
          <p:cNvPr id="412" name="textbox 412"/>
          <p:cNvSpPr/>
          <p:nvPr/>
        </p:nvSpPr>
        <p:spPr>
          <a:xfrm>
            <a:off x="288012" y="396005"/>
            <a:ext cx="4968240" cy="137160"/>
          </a:xfrm>
          <a:prstGeom prst="rect">
            <a:avLst/>
          </a:prstGeom>
          <a:solidFill>
            <a:srgbClr val="015AAA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4000"/>
              </a:lnSpc>
              <a:tabLst/>
            </a:pPr>
            <a:endParaRPr sz="200" dirty="0">
              <a:latin typeface="Arial"/>
              <a:ea typeface="Arial"/>
              <a:cs typeface="Arial"/>
            </a:endParaRPr>
          </a:p>
          <a:p>
            <a:pPr marL="33655" algn="l" rtl="0" eaLnBrk="0">
              <a:lnSpc>
                <a:spcPct val="89000"/>
              </a:lnSpc>
              <a:spcBef>
                <a:spcPts val="1"/>
              </a:spcBef>
              <a:tabLst/>
            </a:pPr>
            <a:r>
              <a:rPr sz="700" b="1" kern="0" spc="40" dirty="0">
                <a:solidFill>
                  <a:srgbClr val="FFFFFF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AGL.3 with </a:t>
            </a:r>
            <a:r>
              <a:rPr sz="700" b="1" kern="0" spc="30" dirty="0">
                <a:solidFill>
                  <a:srgbClr val="FFFFFF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8</a:t>
            </a:r>
            <a:r>
              <a:rPr sz="700" b="1" kern="0" spc="70" dirty="0">
                <a:solidFill>
                  <a:srgbClr val="FFFFFF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b="1" kern="0" spc="30" dirty="0">
                <a:solidFill>
                  <a:srgbClr val="FFFFFF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Base</a:t>
            </a:r>
            <a:r>
              <a:rPr sz="700" b="1" kern="0" spc="60" dirty="0">
                <a:solidFill>
                  <a:srgbClr val="FFFFFF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b="1" kern="0" spc="30" dirty="0">
                <a:solidFill>
                  <a:srgbClr val="FFFFFF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Practices</a:t>
            </a:r>
            <a:endParaRPr sz="700" dirty="0">
              <a:latin typeface="Arial Narrow"/>
              <a:ea typeface="Arial Narrow"/>
              <a:cs typeface="Arial Narrow"/>
            </a:endParaRPr>
          </a:p>
        </p:txBody>
      </p:sp>
      <p:sp>
        <p:nvSpPr>
          <p:cNvPr id="414" name="textbox 414"/>
          <p:cNvSpPr/>
          <p:nvPr/>
        </p:nvSpPr>
        <p:spPr>
          <a:xfrm>
            <a:off x="2726901" y="3644904"/>
            <a:ext cx="2541270" cy="18859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10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9000"/>
              </a:lnSpc>
              <a:tabLst/>
            </a:pPr>
            <a:r>
              <a:rPr sz="900" b="1" kern="0" spc="30" baseline="-17362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34</a:t>
            </a:r>
            <a:r>
              <a:rPr sz="500" b="1" kern="0" spc="1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         </a:t>
            </a:r>
            <a:r>
              <a:rPr sz="500" b="1" kern="0" spc="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                                                                                                       </a:t>
            </a:r>
            <a:r>
              <a:rPr sz="900" kern="0" spc="30" dirty="0">
                <a:solidFill>
                  <a:srgbClr val="0E3654">
                    <a:alpha val="100000"/>
                  </a:srgbClr>
                </a:solidFill>
                <a:latin typeface="Arial"/>
                <a:ea typeface="Arial"/>
                <a:cs typeface="Arial"/>
              </a:rPr>
              <a:t>intacs.</a:t>
            </a:r>
            <a:r>
              <a:rPr sz="900" kern="0" spc="-140" dirty="0">
                <a:solidFill>
                  <a:srgbClr val="0E365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30" dirty="0">
                <a:solidFill>
                  <a:srgbClr val="0E3654">
                    <a:alpha val="100000"/>
                  </a:srgbClr>
                </a:solidFill>
                <a:latin typeface="Arial"/>
                <a:ea typeface="Arial"/>
                <a:cs typeface="Arial"/>
              </a:rPr>
              <a:t>infoulal</a:t>
            </a:r>
            <a:endParaRPr sz="9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5766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512060" algn="l" rtl="0" eaLnBrk="0">
              <a:lnSpc>
                <a:spcPts val="126"/>
              </a:lnSpc>
              <a:tabLst/>
            </a:pPr>
            <a:r>
              <a:rPr sz="100" kern="0" spc="20" dirty="0">
                <a:solidFill>
                  <a:srgbClr val="0E3654">
                    <a:alpha val="100000"/>
                  </a:srgbClr>
                </a:solidFill>
                <a:latin typeface="Arial"/>
                <a:ea typeface="Arial"/>
                <a:cs typeface="Arial"/>
              </a:rPr>
              <a:t>M</a:t>
            </a:r>
            <a:endParaRPr sz="100" dirty="0">
              <a:latin typeface="Arial"/>
              <a:ea typeface="Arial"/>
              <a:cs typeface="Arial"/>
            </a:endParaRPr>
          </a:p>
        </p:txBody>
      </p:sp>
      <p:pic>
        <p:nvPicPr>
          <p:cNvPr id="416" name="picture 4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4481109" y="3788264"/>
            <a:ext cx="755282" cy="31932"/>
          </a:xfrm>
          <a:prstGeom prst="rect">
            <a:avLst/>
          </a:prstGeom>
        </p:spPr>
      </p:pic>
      <p:sp>
        <p:nvSpPr>
          <p:cNvPr id="418" name="textbox 418"/>
          <p:cNvSpPr/>
          <p:nvPr/>
        </p:nvSpPr>
        <p:spPr>
          <a:xfrm>
            <a:off x="1194082" y="3500902"/>
            <a:ext cx="3164205" cy="1181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96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6000"/>
              </a:lnSpc>
              <a:tabLst/>
            </a:pPr>
            <a:r>
              <a:rPr sz="800" b="1" kern="0" spc="160" dirty="0">
                <a:solidFill>
                  <a:srgbClr val="808285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DRAFT -</a:t>
            </a:r>
            <a:r>
              <a:rPr sz="800" b="1" kern="0" spc="140" dirty="0">
                <a:solidFill>
                  <a:srgbClr val="808285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800" b="1" kern="0" spc="160" dirty="0">
                <a:solidFill>
                  <a:srgbClr val="808285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REA</a:t>
            </a:r>
            <a:r>
              <a:rPr sz="800" b="1" kern="0" spc="150" dirty="0">
                <a:solidFill>
                  <a:srgbClr val="808285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DY FOR</a:t>
            </a:r>
            <a:r>
              <a:rPr sz="800" b="1" kern="0" spc="140" dirty="0">
                <a:solidFill>
                  <a:srgbClr val="808285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800" b="1" kern="0" spc="150" dirty="0">
                <a:solidFill>
                  <a:srgbClr val="808285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PILOTING</a:t>
            </a:r>
            <a:r>
              <a:rPr sz="800" b="1" kern="0" spc="140" dirty="0">
                <a:solidFill>
                  <a:srgbClr val="808285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800" b="1" kern="0" spc="150" dirty="0">
                <a:solidFill>
                  <a:srgbClr val="808285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-</a:t>
            </a:r>
            <a:r>
              <a:rPr sz="800" b="1" kern="0" spc="140" dirty="0">
                <a:solidFill>
                  <a:srgbClr val="808285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800" b="1" kern="0" spc="150" dirty="0">
                <a:solidFill>
                  <a:srgbClr val="808285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FEEDBACK WELCOME</a:t>
            </a:r>
            <a:endParaRPr sz="800" dirty="0">
              <a:latin typeface="Arial Narrow"/>
              <a:ea typeface="Arial Narrow"/>
              <a:cs typeface="Arial Narrow"/>
            </a:endParaRPr>
          </a:p>
        </p:txBody>
      </p:sp>
      <p:sp>
        <p:nvSpPr>
          <p:cNvPr id="420" name="textbox 420"/>
          <p:cNvSpPr/>
          <p:nvPr/>
        </p:nvSpPr>
        <p:spPr>
          <a:xfrm>
            <a:off x="337985" y="673943"/>
            <a:ext cx="161925" cy="9398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57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5000"/>
              </a:lnSpc>
              <a:tabLst/>
            </a:pPr>
            <a:r>
              <a:rPr sz="600" b="1" kern="0" spc="30" dirty="0">
                <a:solidFill>
                  <a:srgbClr val="FFFFFF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BP1</a:t>
            </a:r>
            <a:endParaRPr sz="600" dirty="0">
              <a:latin typeface="Arial Narrow"/>
              <a:ea typeface="Arial Narrow"/>
              <a:cs typeface="Arial Narrow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rect 422"/>
          <p:cNvSpPr/>
          <p:nvPr/>
        </p:nvSpPr>
        <p:spPr>
          <a:xfrm>
            <a:off x="287988" y="590388"/>
            <a:ext cx="4968714" cy="2700003"/>
          </a:xfrm>
          <a:prstGeom prst="rect">
            <a:avLst/>
          </a:prstGeom>
          <a:solidFill>
            <a:srgbClr val="E8EBF6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424" name="textbox 424"/>
          <p:cNvSpPr/>
          <p:nvPr/>
        </p:nvSpPr>
        <p:spPr>
          <a:xfrm>
            <a:off x="581302" y="603598"/>
            <a:ext cx="4604385" cy="181864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270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5875" indent="2540" algn="l" rtl="0" eaLnBrk="0">
              <a:lnSpc>
                <a:spcPct val="111000"/>
              </a:lnSpc>
              <a:tabLst/>
            </a:pPr>
            <a:r>
              <a:rPr sz="700" b="1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Define a quality</a:t>
            </a:r>
            <a:r>
              <a:rPr sz="700" b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assurance strategy.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Jointly define and</a:t>
            </a:r>
            <a:r>
              <a:rPr sz="700" kern="0" spc="6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record</a:t>
            </a: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a</a:t>
            </a: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quality</a:t>
            </a: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assurance</a:t>
            </a: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strategy to</a:t>
            </a:r>
            <a:r>
              <a:rPr sz="700" kern="0" spc="6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identify</a:t>
            </a:r>
            <a:r>
              <a:rPr sz="700" kern="0" spc="5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and</a:t>
            </a:r>
            <a:r>
              <a:rPr sz="700" kern="0" spc="6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independently</a:t>
            </a:r>
            <a:r>
              <a:rPr sz="700" kern="0" spc="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   </a:t>
            </a: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communicate impediments in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achieving quality objectives.</a:t>
            </a:r>
            <a:r>
              <a:rPr sz="700" kern="0" spc="6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[OUTCOME</a:t>
            </a:r>
            <a:r>
              <a:rPr sz="700" kern="0" spc="4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2]</a:t>
            </a:r>
            <a:endParaRPr sz="700" dirty="0">
              <a:latin typeface="Arial Narrow"/>
              <a:ea typeface="Arial Narrow"/>
              <a:cs typeface="Arial Narrow"/>
            </a:endParaRPr>
          </a:p>
          <a:p>
            <a:pPr marL="18415" algn="l" rtl="0" eaLnBrk="0">
              <a:lnSpc>
                <a:spcPct val="76000"/>
              </a:lnSpc>
              <a:spcBef>
                <a:spcPts val="221"/>
              </a:spcBef>
              <a:tabLst/>
            </a:pPr>
            <a:r>
              <a:rPr sz="700" b="1" kern="0" spc="3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Notes &amp;</a:t>
            </a:r>
            <a:r>
              <a:rPr sz="700" b="1" kern="0" spc="11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b="1" kern="0" spc="3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Definitions:</a:t>
            </a:r>
            <a:endParaRPr sz="700" dirty="0">
              <a:latin typeface="Arial Narrow"/>
              <a:ea typeface="Arial Narrow"/>
              <a:cs typeface="Arial Narrow"/>
            </a:endParaRPr>
          </a:p>
          <a:p>
            <a:pPr marL="111760" algn="l" rtl="0" eaLnBrk="0">
              <a:lnSpc>
                <a:spcPts val="1041"/>
              </a:lnSpc>
              <a:spcBef>
                <a:spcPts val="114"/>
              </a:spcBef>
              <a:tabLst/>
            </a:pP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▪</a:t>
            </a:r>
            <a:r>
              <a:rPr sz="700" kern="0" spc="8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The agile team</a:t>
            </a:r>
            <a:r>
              <a:rPr sz="700" i="1" kern="0" spc="7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(of</a:t>
            </a:r>
            <a:r>
              <a:rPr sz="700" i="1" kern="0" spc="-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teams) is</a:t>
            </a:r>
            <a:r>
              <a:rPr sz="700" i="1" kern="0" spc="-5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jointly respo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nsible for the quality of</a:t>
            </a:r>
            <a:r>
              <a:rPr sz="700" i="1" kern="0" spc="-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their</a:t>
            </a:r>
            <a:r>
              <a:rPr sz="700" i="1" kern="0" spc="-5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processes and work</a:t>
            </a:r>
            <a:r>
              <a:rPr sz="700" i="1" kern="0" spc="-2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products.</a:t>
            </a:r>
            <a:endParaRPr sz="700" dirty="0">
              <a:latin typeface="Arial Narrow"/>
              <a:ea typeface="Arial Narrow"/>
              <a:cs typeface="Arial Narrow"/>
            </a:endParaRPr>
          </a:p>
          <a:p>
            <a:pPr marL="111760" algn="l" rtl="0" eaLnBrk="0">
              <a:lnSpc>
                <a:spcPts val="999"/>
              </a:lnSpc>
              <a:tabLst/>
            </a:pP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▪</a:t>
            </a:r>
            <a:r>
              <a:rPr sz="700" kern="0" spc="8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The strategy encompasses the quality o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f</a:t>
            </a:r>
            <a:r>
              <a:rPr sz="700" i="1" kern="0" spc="-2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work</a:t>
            </a:r>
            <a:r>
              <a:rPr sz="700" i="1" kern="0" spc="-2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processes and developed</a:t>
            </a:r>
            <a:r>
              <a:rPr sz="700" i="1" kern="0" spc="-1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products.</a:t>
            </a:r>
            <a:endParaRPr sz="700" dirty="0">
              <a:latin typeface="Arial Narrow"/>
              <a:ea typeface="Arial Narrow"/>
              <a:cs typeface="Arial Narrow"/>
            </a:endParaRPr>
          </a:p>
          <a:p>
            <a:pPr marL="111760" algn="l" rtl="0" eaLnBrk="0">
              <a:lnSpc>
                <a:spcPts val="1000"/>
              </a:lnSpc>
              <a:tabLst/>
            </a:pP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▪</a:t>
            </a:r>
            <a:r>
              <a:rPr sz="700" kern="0" spc="8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The strategy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includes the quality assurance of</a:t>
            </a:r>
            <a:r>
              <a:rPr sz="700" i="1" kern="0" spc="-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supplier deliverables.</a:t>
            </a:r>
            <a:endParaRPr sz="700" dirty="0">
              <a:latin typeface="Arial Narrow"/>
              <a:ea typeface="Arial Narrow"/>
              <a:cs typeface="Arial Narrow"/>
            </a:endParaRPr>
          </a:p>
          <a:p>
            <a:pPr marL="180340" indent="-68580" algn="l" rtl="0" eaLnBrk="0">
              <a:lnSpc>
                <a:spcPct val="119000"/>
              </a:lnSpc>
              <a:spcBef>
                <a:spcPts val="1"/>
              </a:spcBef>
              <a:tabLst/>
            </a:pP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▪</a:t>
            </a:r>
            <a:r>
              <a:rPr sz="700" kern="0" spc="8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The strategy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addresses methods to identify, track to closure,</a:t>
            </a:r>
            <a:r>
              <a:rPr sz="700" i="1" kern="0" spc="5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escalate</a:t>
            </a:r>
            <a:r>
              <a:rPr sz="700" i="1" kern="0" spc="5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and further</a:t>
            </a:r>
            <a:r>
              <a:rPr sz="700" i="1" kern="0" spc="-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prevent impediments</a:t>
            </a:r>
            <a:r>
              <a:rPr sz="700" i="1" kern="0" spc="5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affecting</a:t>
            </a:r>
            <a:r>
              <a:rPr sz="700" i="1" kern="0" spc="5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the</a:t>
            </a:r>
            <a:r>
              <a:rPr sz="700" i="1" kern="0" spc="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       </a:t>
            </a:r>
            <a:r>
              <a:rPr sz="700" i="1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achievement o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f</a:t>
            </a:r>
            <a:r>
              <a:rPr sz="700" i="1" kern="0" spc="-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quality objectives.</a:t>
            </a:r>
            <a:endParaRPr sz="700" dirty="0">
              <a:latin typeface="Arial Narrow"/>
              <a:ea typeface="Arial Narrow"/>
              <a:cs typeface="Arial Narrow"/>
            </a:endParaRPr>
          </a:p>
          <a:p>
            <a:pPr marL="111760" algn="l" rtl="0" eaLnBrk="0">
              <a:lnSpc>
                <a:spcPts val="1000"/>
              </a:lnSpc>
              <a:tabLst/>
            </a:pP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▪</a:t>
            </a:r>
            <a:r>
              <a:rPr sz="700" kern="0" spc="8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The strategy includes the communicatio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n of</a:t>
            </a:r>
            <a:r>
              <a:rPr sz="700" i="1" kern="0" spc="-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impediments independently from the</a:t>
            </a:r>
            <a:r>
              <a:rPr sz="700" i="1" kern="0" spc="5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development team.</a:t>
            </a:r>
            <a:endParaRPr sz="700" dirty="0">
              <a:latin typeface="Arial Narrow"/>
              <a:ea typeface="Arial Narrow"/>
              <a:cs typeface="Arial Narrow"/>
            </a:endParaRPr>
          </a:p>
          <a:p>
            <a:pPr marL="176530" indent="-64770" algn="l" rtl="0" eaLnBrk="0">
              <a:lnSpc>
                <a:spcPct val="119000"/>
              </a:lnSpc>
              <a:spcBef>
                <a:spcPts val="1"/>
              </a:spcBef>
              <a:tabLst/>
            </a:pP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▪</a:t>
            </a:r>
            <a:r>
              <a:rPr sz="700" kern="0" spc="-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Agile quality assurance may make use of</a:t>
            </a:r>
            <a:r>
              <a:rPr sz="700" i="1" kern="0" spc="-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the resu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lts of</a:t>
            </a:r>
            <a:r>
              <a:rPr sz="700" i="1" kern="0" spc="-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other</a:t>
            </a:r>
            <a:r>
              <a:rPr sz="700" i="1" kern="0" spc="-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processes such</a:t>
            </a:r>
            <a:r>
              <a:rPr sz="700" i="1" kern="0" spc="5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as</a:t>
            </a:r>
            <a:r>
              <a:rPr sz="700" i="1" kern="0" spc="5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e</a:t>
            </a:r>
            <a:r>
              <a:rPr sz="700" i="1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g iteration</a:t>
            </a:r>
            <a:r>
              <a:rPr sz="700" i="1" kern="0" spc="5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reviews</a:t>
            </a:r>
            <a:r>
              <a:rPr sz="700" i="1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and retrospectives,</a:t>
            </a:r>
            <a:r>
              <a:rPr sz="700" i="1" kern="0" spc="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problem analysis, reports.</a:t>
            </a:r>
            <a:endParaRPr sz="700" dirty="0">
              <a:latin typeface="Arial Narrow"/>
              <a:ea typeface="Arial Narrow"/>
              <a:cs typeface="Arial Narrow"/>
            </a:endParaRPr>
          </a:p>
          <a:p>
            <a:pPr marL="111760" algn="l" rtl="0" eaLnBrk="0">
              <a:lnSpc>
                <a:spcPts val="1041"/>
              </a:lnSpc>
              <a:tabLst/>
            </a:pP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▪</a:t>
            </a:r>
            <a:r>
              <a:rPr sz="700" kern="0" spc="8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The strate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gy is agreed to, recorded and communicated.</a:t>
            </a:r>
            <a:endParaRPr sz="700" dirty="0">
              <a:latin typeface="Arial Narrow"/>
              <a:ea typeface="Arial Narrow"/>
              <a:cs typeface="Arial Narrow"/>
            </a:endParaRPr>
          </a:p>
          <a:p>
            <a:pPr marL="12700" algn="l" rtl="0" eaLnBrk="0">
              <a:lnSpc>
                <a:spcPct val="89000"/>
              </a:lnSpc>
              <a:spcBef>
                <a:spcPts val="459"/>
              </a:spcBef>
              <a:tabLst/>
            </a:pPr>
            <a:r>
              <a:rPr sz="700" b="1" kern="0" spc="4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Agile Work</a:t>
            </a:r>
            <a:r>
              <a:rPr sz="700" b="1" kern="0" spc="6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b="1" kern="0" spc="4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Prod</a:t>
            </a:r>
            <a:r>
              <a:rPr sz="700" b="1" kern="0" spc="3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ucts: </a:t>
            </a:r>
            <a:r>
              <a:rPr sz="700" kern="0" spc="3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Agile quality strategy, Quality plan</a:t>
            </a:r>
            <a:endParaRPr sz="700" dirty="0">
              <a:latin typeface="Arial Narrow"/>
              <a:ea typeface="Arial Narrow"/>
              <a:cs typeface="Arial Narrow"/>
            </a:endParaRPr>
          </a:p>
          <a:p>
            <a:pPr marL="15240" algn="l" rtl="0" eaLnBrk="0">
              <a:lnSpc>
                <a:spcPts val="1074"/>
              </a:lnSpc>
              <a:spcBef>
                <a:spcPts val="2"/>
              </a:spcBef>
              <a:tabLst/>
            </a:pPr>
            <a:r>
              <a:rPr sz="700" b="1" kern="0" spc="3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Supporting Agile</a:t>
            </a:r>
            <a:r>
              <a:rPr sz="700" b="1" kern="0" spc="6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b="1" kern="0" spc="3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Principles </a:t>
            </a:r>
            <a:r>
              <a:rPr sz="700" i="1" kern="0" spc="3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2, 4,</a:t>
            </a:r>
            <a:r>
              <a:rPr sz="700" i="1" kern="0" spc="7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3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6,</a:t>
            </a:r>
            <a:r>
              <a:rPr sz="700" i="1" kern="0" spc="12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3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1</a:t>
            </a:r>
            <a:r>
              <a:rPr sz="700" i="1" kern="0" spc="2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2</a:t>
            </a:r>
            <a:endParaRPr sz="700" dirty="0">
              <a:latin typeface="Arial Narrow"/>
              <a:ea typeface="Arial Narrow"/>
              <a:cs typeface="Arial Narrow"/>
            </a:endParaRPr>
          </a:p>
        </p:txBody>
      </p:sp>
      <p:sp>
        <p:nvSpPr>
          <p:cNvPr id="426" name="textbox 426"/>
          <p:cNvSpPr/>
          <p:nvPr/>
        </p:nvSpPr>
        <p:spPr>
          <a:xfrm>
            <a:off x="288012" y="396005"/>
            <a:ext cx="4968240" cy="137160"/>
          </a:xfrm>
          <a:prstGeom prst="rect">
            <a:avLst/>
          </a:prstGeom>
          <a:solidFill>
            <a:srgbClr val="015AAA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4000"/>
              </a:lnSpc>
              <a:tabLst/>
            </a:pPr>
            <a:endParaRPr sz="200" dirty="0">
              <a:latin typeface="Arial"/>
              <a:ea typeface="Arial"/>
              <a:cs typeface="Arial"/>
            </a:endParaRPr>
          </a:p>
          <a:p>
            <a:pPr marL="33655" algn="l" rtl="0" eaLnBrk="0">
              <a:lnSpc>
                <a:spcPct val="89000"/>
              </a:lnSpc>
              <a:spcBef>
                <a:spcPts val="1"/>
              </a:spcBef>
              <a:tabLst/>
            </a:pPr>
            <a:r>
              <a:rPr sz="700" b="1" kern="0" spc="40" dirty="0">
                <a:solidFill>
                  <a:srgbClr val="FFFFFF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AGL.3 with </a:t>
            </a:r>
            <a:r>
              <a:rPr sz="700" b="1" kern="0" spc="30" dirty="0">
                <a:solidFill>
                  <a:srgbClr val="FFFFFF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8</a:t>
            </a:r>
            <a:r>
              <a:rPr sz="700" b="1" kern="0" spc="70" dirty="0">
                <a:solidFill>
                  <a:srgbClr val="FFFFFF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b="1" kern="0" spc="30" dirty="0">
                <a:solidFill>
                  <a:srgbClr val="FFFFFF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Base</a:t>
            </a:r>
            <a:r>
              <a:rPr sz="700" b="1" kern="0" spc="60" dirty="0">
                <a:solidFill>
                  <a:srgbClr val="FFFFFF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b="1" kern="0" spc="30" dirty="0">
                <a:solidFill>
                  <a:srgbClr val="FFFFFF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Practices</a:t>
            </a:r>
            <a:endParaRPr sz="700" dirty="0">
              <a:latin typeface="Arial Narrow"/>
              <a:ea typeface="Arial Narrow"/>
              <a:cs typeface="Arial Narrow"/>
            </a:endParaRPr>
          </a:p>
        </p:txBody>
      </p:sp>
      <p:sp>
        <p:nvSpPr>
          <p:cNvPr id="428" name="textbox 428"/>
          <p:cNvSpPr/>
          <p:nvPr/>
        </p:nvSpPr>
        <p:spPr>
          <a:xfrm>
            <a:off x="2726901" y="3644904"/>
            <a:ext cx="2541270" cy="18859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10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9000"/>
              </a:lnSpc>
              <a:tabLst/>
            </a:pPr>
            <a:r>
              <a:rPr sz="900" b="1" kern="0" spc="30" baseline="-17362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35</a:t>
            </a:r>
            <a:r>
              <a:rPr sz="500" b="1" kern="0" spc="1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         </a:t>
            </a:r>
            <a:r>
              <a:rPr sz="500" b="1" kern="0" spc="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                                                                                                       </a:t>
            </a:r>
            <a:r>
              <a:rPr sz="900" kern="0" spc="30" dirty="0">
                <a:solidFill>
                  <a:srgbClr val="0E3654">
                    <a:alpha val="100000"/>
                  </a:srgbClr>
                </a:solidFill>
                <a:latin typeface="Arial"/>
                <a:ea typeface="Arial"/>
                <a:cs typeface="Arial"/>
              </a:rPr>
              <a:t>intacs.</a:t>
            </a:r>
            <a:r>
              <a:rPr sz="900" kern="0" spc="-140" dirty="0">
                <a:solidFill>
                  <a:srgbClr val="0E365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30" dirty="0">
                <a:solidFill>
                  <a:srgbClr val="0E3654">
                    <a:alpha val="100000"/>
                  </a:srgbClr>
                </a:solidFill>
                <a:latin typeface="Arial"/>
                <a:ea typeface="Arial"/>
                <a:cs typeface="Arial"/>
              </a:rPr>
              <a:t>infoulal</a:t>
            </a:r>
            <a:endParaRPr sz="9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5766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512060" algn="l" rtl="0" eaLnBrk="0">
              <a:lnSpc>
                <a:spcPts val="126"/>
              </a:lnSpc>
              <a:tabLst/>
            </a:pPr>
            <a:r>
              <a:rPr sz="100" kern="0" spc="20" dirty="0">
                <a:solidFill>
                  <a:srgbClr val="0E3654">
                    <a:alpha val="100000"/>
                  </a:srgbClr>
                </a:solidFill>
                <a:latin typeface="Arial"/>
                <a:ea typeface="Arial"/>
                <a:cs typeface="Arial"/>
              </a:rPr>
              <a:t>M</a:t>
            </a:r>
            <a:endParaRPr sz="100" dirty="0">
              <a:latin typeface="Arial"/>
              <a:ea typeface="Arial"/>
              <a:cs typeface="Arial"/>
            </a:endParaRPr>
          </a:p>
        </p:txBody>
      </p:sp>
      <p:pic>
        <p:nvPicPr>
          <p:cNvPr id="430" name="picture 43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4481109" y="3788264"/>
            <a:ext cx="755282" cy="31932"/>
          </a:xfrm>
          <a:prstGeom prst="rect">
            <a:avLst/>
          </a:prstGeom>
        </p:spPr>
      </p:pic>
      <p:sp>
        <p:nvSpPr>
          <p:cNvPr id="432" name="textbox 432"/>
          <p:cNvSpPr/>
          <p:nvPr/>
        </p:nvSpPr>
        <p:spPr>
          <a:xfrm>
            <a:off x="1194082" y="3500902"/>
            <a:ext cx="3164205" cy="1181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96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6000"/>
              </a:lnSpc>
              <a:tabLst/>
            </a:pPr>
            <a:r>
              <a:rPr sz="800" b="1" kern="0" spc="160" dirty="0">
                <a:solidFill>
                  <a:srgbClr val="808285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DRAFT -</a:t>
            </a:r>
            <a:r>
              <a:rPr sz="800" b="1" kern="0" spc="140" dirty="0">
                <a:solidFill>
                  <a:srgbClr val="808285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800" b="1" kern="0" spc="160" dirty="0">
                <a:solidFill>
                  <a:srgbClr val="808285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REA</a:t>
            </a:r>
            <a:r>
              <a:rPr sz="800" b="1" kern="0" spc="150" dirty="0">
                <a:solidFill>
                  <a:srgbClr val="808285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DY FOR</a:t>
            </a:r>
            <a:r>
              <a:rPr sz="800" b="1" kern="0" spc="140" dirty="0">
                <a:solidFill>
                  <a:srgbClr val="808285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800" b="1" kern="0" spc="150" dirty="0">
                <a:solidFill>
                  <a:srgbClr val="808285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PILOTING</a:t>
            </a:r>
            <a:r>
              <a:rPr sz="800" b="1" kern="0" spc="140" dirty="0">
                <a:solidFill>
                  <a:srgbClr val="808285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800" b="1" kern="0" spc="150" dirty="0">
                <a:solidFill>
                  <a:srgbClr val="808285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-</a:t>
            </a:r>
            <a:r>
              <a:rPr sz="800" b="1" kern="0" spc="140" dirty="0">
                <a:solidFill>
                  <a:srgbClr val="808285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800" b="1" kern="0" spc="150" dirty="0">
                <a:solidFill>
                  <a:srgbClr val="808285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FEEDBACK WELCOME</a:t>
            </a:r>
            <a:endParaRPr sz="800" dirty="0">
              <a:latin typeface="Arial Narrow"/>
              <a:ea typeface="Arial Narrow"/>
              <a:cs typeface="Arial Narrow"/>
            </a:endParaRPr>
          </a:p>
        </p:txBody>
      </p:sp>
      <p:sp>
        <p:nvSpPr>
          <p:cNvPr id="434" name="textbox 434"/>
          <p:cNvSpPr/>
          <p:nvPr/>
        </p:nvSpPr>
        <p:spPr>
          <a:xfrm>
            <a:off x="337985" y="673943"/>
            <a:ext cx="161925" cy="9398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57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5000"/>
              </a:lnSpc>
              <a:tabLst/>
            </a:pPr>
            <a:r>
              <a:rPr sz="600" b="1" kern="0" spc="30" dirty="0">
                <a:solidFill>
                  <a:srgbClr val="FFFFFF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BP2</a:t>
            </a:r>
            <a:endParaRPr sz="600" dirty="0">
              <a:latin typeface="Arial Narrow"/>
              <a:ea typeface="Arial Narrow"/>
              <a:cs typeface="Arial Narrow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rect 436"/>
          <p:cNvSpPr/>
          <p:nvPr/>
        </p:nvSpPr>
        <p:spPr>
          <a:xfrm>
            <a:off x="287988" y="590388"/>
            <a:ext cx="4968714" cy="2700003"/>
          </a:xfrm>
          <a:prstGeom prst="rect">
            <a:avLst/>
          </a:prstGeom>
          <a:solidFill>
            <a:srgbClr val="E8EBF6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438" name="textbox 438"/>
          <p:cNvSpPr/>
          <p:nvPr/>
        </p:nvSpPr>
        <p:spPr>
          <a:xfrm>
            <a:off x="581206" y="604614"/>
            <a:ext cx="4522470" cy="131000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603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7145" indent="635" algn="l" rtl="0" eaLnBrk="0">
              <a:lnSpc>
                <a:spcPct val="111000"/>
              </a:lnSpc>
              <a:tabLst/>
            </a:pPr>
            <a:r>
              <a:rPr sz="700" b="1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Ensure conformance.</a:t>
            </a:r>
            <a:r>
              <a:rPr sz="700" b="1" kern="0" spc="7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40" dirty="0">
                <a:solidFill>
                  <a:srgbClr val="00000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Ensure the conformance of </a:t>
            </a:r>
            <a:r>
              <a:rPr sz="700" kern="0" spc="30" dirty="0">
                <a:solidFill>
                  <a:srgbClr val="00000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actual work products and</a:t>
            </a:r>
            <a:r>
              <a:rPr sz="700" kern="0" spc="60" dirty="0">
                <a:solidFill>
                  <a:srgbClr val="00000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00000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processes</a:t>
            </a:r>
            <a:r>
              <a:rPr sz="700" kern="0" spc="40" dirty="0">
                <a:solidFill>
                  <a:srgbClr val="00000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00000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as</a:t>
            </a:r>
            <a:r>
              <a:rPr sz="700" kern="0" spc="60" dirty="0">
                <a:solidFill>
                  <a:srgbClr val="00000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00000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implemented</a:t>
            </a:r>
            <a:r>
              <a:rPr sz="700" kern="0" spc="70" dirty="0">
                <a:solidFill>
                  <a:srgbClr val="00000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00000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by the</a:t>
            </a:r>
            <a:r>
              <a:rPr sz="700" kern="0" spc="40" dirty="0">
                <a:solidFill>
                  <a:srgbClr val="00000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00000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agile team</a:t>
            </a:r>
            <a:r>
              <a:rPr sz="700" kern="0" spc="0" dirty="0">
                <a:solidFill>
                  <a:srgbClr val="00000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40" dirty="0">
                <a:solidFill>
                  <a:srgbClr val="00000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(of teams) to agreed w</a:t>
            </a:r>
            <a:r>
              <a:rPr sz="700" kern="0" spc="30" dirty="0">
                <a:solidFill>
                  <a:srgbClr val="00000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ork approach and applicable governance criteria.</a:t>
            </a:r>
            <a:r>
              <a:rPr sz="700" kern="0" spc="70" dirty="0">
                <a:solidFill>
                  <a:srgbClr val="00000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[OUTCOME 2,</a:t>
            </a:r>
            <a:r>
              <a:rPr sz="700" kern="0" spc="4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3]</a:t>
            </a:r>
            <a:endParaRPr sz="700" dirty="0">
              <a:latin typeface="Arial Narrow"/>
              <a:ea typeface="Arial Narrow"/>
              <a:cs typeface="Arial Narrow"/>
            </a:endParaRPr>
          </a:p>
          <a:p>
            <a:pPr marL="18415" algn="l" rtl="0" eaLnBrk="0">
              <a:lnSpc>
                <a:spcPct val="76000"/>
              </a:lnSpc>
              <a:spcBef>
                <a:spcPts val="221"/>
              </a:spcBef>
              <a:tabLst/>
            </a:pPr>
            <a:r>
              <a:rPr sz="700" b="1" kern="0" spc="3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Notes &amp;</a:t>
            </a:r>
            <a:r>
              <a:rPr sz="700" b="1" kern="0" spc="11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b="1" kern="0" spc="3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Definitions:</a:t>
            </a:r>
            <a:endParaRPr sz="700" dirty="0">
              <a:latin typeface="Arial Narrow"/>
              <a:ea typeface="Arial Narrow"/>
              <a:cs typeface="Arial Narrow"/>
            </a:endParaRPr>
          </a:p>
          <a:p>
            <a:pPr marL="111760" algn="l" rtl="0" eaLnBrk="0">
              <a:lnSpc>
                <a:spcPts val="1041"/>
              </a:lnSpc>
              <a:spcBef>
                <a:spcPts val="114"/>
              </a:spcBef>
              <a:tabLst/>
            </a:pP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.</a:t>
            </a:r>
            <a:r>
              <a:rPr sz="700" kern="0" spc="9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Typically, criteri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a for the quality of</a:t>
            </a:r>
            <a:r>
              <a:rPr sz="700" i="1" kern="0" spc="-7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processes and work</a:t>
            </a:r>
            <a:r>
              <a:rPr sz="700" i="1" kern="0" spc="-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product are defined,</a:t>
            </a:r>
            <a:r>
              <a:rPr sz="700" i="1" kern="0" spc="6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e g</a:t>
            </a:r>
            <a:r>
              <a:rPr sz="700" i="1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in</a:t>
            </a:r>
            <a:r>
              <a:rPr sz="700" i="1" kern="0" spc="5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a</a:t>
            </a:r>
            <a:r>
              <a:rPr sz="700" i="1" kern="0" spc="5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DoR</a:t>
            </a:r>
            <a:r>
              <a:rPr sz="700" i="1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and DoD.</a:t>
            </a:r>
            <a:endParaRPr sz="700" dirty="0">
              <a:latin typeface="Arial Narrow"/>
              <a:ea typeface="Arial Narrow"/>
              <a:cs typeface="Arial Narrow"/>
            </a:endParaRPr>
          </a:p>
          <a:p>
            <a:pPr marL="111760" algn="l" rtl="0" eaLnBrk="0">
              <a:lnSpc>
                <a:spcPts val="999"/>
              </a:lnSpc>
              <a:tabLst/>
            </a:pP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.</a:t>
            </a:r>
            <a:r>
              <a:rPr sz="700" kern="0" spc="8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Quality assurance act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ivities are planned, e g as part of</a:t>
            </a:r>
            <a:r>
              <a:rPr sz="700" i="1" kern="0" spc="-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the backlog and iteration planning.</a:t>
            </a:r>
            <a:endParaRPr sz="700" dirty="0">
              <a:latin typeface="Arial Narrow"/>
              <a:ea typeface="Arial Narrow"/>
              <a:cs typeface="Arial Narrow"/>
            </a:endParaRPr>
          </a:p>
          <a:p>
            <a:pPr marL="183515" indent="-71755" algn="l" rtl="0" eaLnBrk="0">
              <a:lnSpc>
                <a:spcPct val="119000"/>
              </a:lnSpc>
              <a:spcBef>
                <a:spcPts val="1"/>
              </a:spcBef>
              <a:tabLst/>
            </a:pP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.</a:t>
            </a:r>
            <a:r>
              <a:rPr sz="700" kern="0" spc="8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Quality assurance checks objectively for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each release that work</a:t>
            </a:r>
            <a:r>
              <a:rPr sz="700" i="1" kern="0" spc="-2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products and</a:t>
            </a:r>
            <a:r>
              <a:rPr sz="700" i="1" kern="0" spc="-2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processes are</a:t>
            </a:r>
            <a:r>
              <a:rPr sz="700" i="1" kern="0" spc="5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aligned</a:t>
            </a:r>
            <a:r>
              <a:rPr sz="700" i="1" kern="0" spc="5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with</a:t>
            </a:r>
            <a:r>
              <a:rPr sz="700" i="1" kern="0" spc="5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the</a:t>
            </a:r>
            <a:r>
              <a:rPr sz="700" i="1" kern="0" spc="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               </a:t>
            </a:r>
            <a:r>
              <a:rPr sz="700" i="1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work approach a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nd the applicable governance criteria.</a:t>
            </a:r>
            <a:endParaRPr sz="700" dirty="0">
              <a:latin typeface="Arial Narrow"/>
              <a:ea typeface="Arial Narrow"/>
              <a:cs typeface="Arial Narrow"/>
            </a:endParaRPr>
          </a:p>
          <a:p>
            <a:pPr marL="111760" algn="l" rtl="0" eaLnBrk="0">
              <a:lnSpc>
                <a:spcPts val="1041"/>
              </a:lnSpc>
              <a:tabLst/>
            </a:pP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.</a:t>
            </a:r>
            <a:r>
              <a:rPr sz="700" kern="0" spc="8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The agile meth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odology followed by the agile team</a:t>
            </a:r>
            <a:r>
              <a:rPr sz="700" i="1" kern="0" spc="7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(of</a:t>
            </a:r>
            <a:r>
              <a:rPr sz="700" i="1" kern="0" spc="-2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teams) is also</a:t>
            </a:r>
            <a:r>
              <a:rPr sz="700" i="1" kern="0" spc="7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verified.</a:t>
            </a:r>
            <a:endParaRPr sz="700" dirty="0">
              <a:latin typeface="Arial Narrow"/>
              <a:ea typeface="Arial Narrow"/>
              <a:cs typeface="Arial Narrow"/>
            </a:endParaRPr>
          </a:p>
          <a:p>
            <a:pPr marL="12700" algn="l" rtl="0" eaLnBrk="0">
              <a:lnSpc>
                <a:spcPct val="89000"/>
              </a:lnSpc>
              <a:spcBef>
                <a:spcPts val="459"/>
              </a:spcBef>
              <a:tabLst/>
            </a:pPr>
            <a:r>
              <a:rPr sz="700" b="1" kern="0" spc="4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Agile Work</a:t>
            </a:r>
            <a:r>
              <a:rPr sz="700" b="1" kern="0" spc="6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b="1" kern="0" spc="4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Products:</a:t>
            </a:r>
            <a:r>
              <a:rPr sz="700" b="1" kern="0" spc="7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Review record</a:t>
            </a:r>
            <a:endParaRPr sz="700" dirty="0">
              <a:latin typeface="Arial Narrow"/>
              <a:ea typeface="Arial Narrow"/>
              <a:cs typeface="Arial Narrow"/>
            </a:endParaRPr>
          </a:p>
          <a:p>
            <a:pPr marL="15240" algn="l" rtl="0" eaLnBrk="0">
              <a:lnSpc>
                <a:spcPts val="1074"/>
              </a:lnSpc>
              <a:spcBef>
                <a:spcPts val="2"/>
              </a:spcBef>
              <a:tabLst/>
            </a:pPr>
            <a:r>
              <a:rPr sz="700" b="1" kern="0" spc="3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Supporting Agile</a:t>
            </a:r>
            <a:r>
              <a:rPr sz="700" b="1" kern="0" spc="7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b="1" kern="0" spc="3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Principles</a:t>
            </a:r>
            <a:r>
              <a:rPr sz="700" b="1" kern="0" spc="11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3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1, 3,</a:t>
            </a:r>
            <a:r>
              <a:rPr sz="700" i="1" kern="0" spc="7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3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5</a:t>
            </a:r>
            <a:endParaRPr sz="700" dirty="0">
              <a:latin typeface="Arial Narrow"/>
              <a:ea typeface="Arial Narrow"/>
              <a:cs typeface="Arial Narrow"/>
            </a:endParaRPr>
          </a:p>
        </p:txBody>
      </p:sp>
      <p:sp>
        <p:nvSpPr>
          <p:cNvPr id="440" name="textbox 440"/>
          <p:cNvSpPr/>
          <p:nvPr/>
        </p:nvSpPr>
        <p:spPr>
          <a:xfrm>
            <a:off x="288012" y="396005"/>
            <a:ext cx="4968240" cy="137160"/>
          </a:xfrm>
          <a:prstGeom prst="rect">
            <a:avLst/>
          </a:prstGeom>
          <a:solidFill>
            <a:srgbClr val="015AAA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4000"/>
              </a:lnSpc>
              <a:tabLst/>
            </a:pPr>
            <a:endParaRPr sz="200" dirty="0">
              <a:latin typeface="Arial"/>
              <a:ea typeface="Arial"/>
              <a:cs typeface="Arial"/>
            </a:endParaRPr>
          </a:p>
          <a:p>
            <a:pPr marL="33655" algn="l" rtl="0" eaLnBrk="0">
              <a:lnSpc>
                <a:spcPct val="89000"/>
              </a:lnSpc>
              <a:spcBef>
                <a:spcPts val="1"/>
              </a:spcBef>
              <a:tabLst/>
            </a:pPr>
            <a:r>
              <a:rPr sz="700" b="1" kern="0" spc="40" dirty="0">
                <a:solidFill>
                  <a:srgbClr val="FFFFFF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AGL.3 with </a:t>
            </a:r>
            <a:r>
              <a:rPr sz="700" b="1" kern="0" spc="30" dirty="0">
                <a:solidFill>
                  <a:srgbClr val="FFFFFF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8</a:t>
            </a:r>
            <a:r>
              <a:rPr sz="700" b="1" kern="0" spc="70" dirty="0">
                <a:solidFill>
                  <a:srgbClr val="FFFFFF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b="1" kern="0" spc="30" dirty="0">
                <a:solidFill>
                  <a:srgbClr val="FFFFFF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Base</a:t>
            </a:r>
            <a:r>
              <a:rPr sz="700" b="1" kern="0" spc="60" dirty="0">
                <a:solidFill>
                  <a:srgbClr val="FFFFFF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b="1" kern="0" spc="30" dirty="0">
                <a:solidFill>
                  <a:srgbClr val="FFFFFF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Practices</a:t>
            </a:r>
            <a:endParaRPr sz="700" dirty="0">
              <a:latin typeface="Arial Narrow"/>
              <a:ea typeface="Arial Narrow"/>
              <a:cs typeface="Arial Narrow"/>
            </a:endParaRPr>
          </a:p>
        </p:txBody>
      </p:sp>
      <p:sp>
        <p:nvSpPr>
          <p:cNvPr id="442" name="textbox 442"/>
          <p:cNvSpPr/>
          <p:nvPr/>
        </p:nvSpPr>
        <p:spPr>
          <a:xfrm>
            <a:off x="2726901" y="3644904"/>
            <a:ext cx="2541270" cy="18859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10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9000"/>
              </a:lnSpc>
              <a:tabLst/>
            </a:pPr>
            <a:r>
              <a:rPr sz="900" b="1" kern="0" spc="30" baseline="-17362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36</a:t>
            </a:r>
            <a:r>
              <a:rPr sz="500" b="1" kern="0" spc="1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         </a:t>
            </a:r>
            <a:r>
              <a:rPr sz="500" b="1" kern="0" spc="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                                                                                                       </a:t>
            </a:r>
            <a:r>
              <a:rPr sz="900" kern="0" spc="30" dirty="0">
                <a:solidFill>
                  <a:srgbClr val="0E3654">
                    <a:alpha val="100000"/>
                  </a:srgbClr>
                </a:solidFill>
                <a:latin typeface="Arial"/>
                <a:ea typeface="Arial"/>
                <a:cs typeface="Arial"/>
              </a:rPr>
              <a:t>intacs.</a:t>
            </a:r>
            <a:r>
              <a:rPr sz="900" kern="0" spc="-140" dirty="0">
                <a:solidFill>
                  <a:srgbClr val="0E365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30" dirty="0">
                <a:solidFill>
                  <a:srgbClr val="0E3654">
                    <a:alpha val="100000"/>
                  </a:srgbClr>
                </a:solidFill>
                <a:latin typeface="Arial"/>
                <a:ea typeface="Arial"/>
                <a:cs typeface="Arial"/>
              </a:rPr>
              <a:t>infoulal</a:t>
            </a:r>
            <a:endParaRPr sz="9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5766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512060" algn="l" rtl="0" eaLnBrk="0">
              <a:lnSpc>
                <a:spcPts val="126"/>
              </a:lnSpc>
              <a:tabLst/>
            </a:pPr>
            <a:r>
              <a:rPr sz="100" kern="0" spc="20" dirty="0">
                <a:solidFill>
                  <a:srgbClr val="0E3654">
                    <a:alpha val="100000"/>
                  </a:srgbClr>
                </a:solidFill>
                <a:latin typeface="Arial"/>
                <a:ea typeface="Arial"/>
                <a:cs typeface="Arial"/>
              </a:rPr>
              <a:t>M</a:t>
            </a:r>
            <a:endParaRPr sz="100" dirty="0">
              <a:latin typeface="Arial"/>
              <a:ea typeface="Arial"/>
              <a:cs typeface="Arial"/>
            </a:endParaRPr>
          </a:p>
        </p:txBody>
      </p:sp>
      <p:pic>
        <p:nvPicPr>
          <p:cNvPr id="444" name="picture 44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4481109" y="3788264"/>
            <a:ext cx="755282" cy="31932"/>
          </a:xfrm>
          <a:prstGeom prst="rect">
            <a:avLst/>
          </a:prstGeom>
        </p:spPr>
      </p:pic>
      <p:sp>
        <p:nvSpPr>
          <p:cNvPr id="446" name="textbox 446"/>
          <p:cNvSpPr/>
          <p:nvPr/>
        </p:nvSpPr>
        <p:spPr>
          <a:xfrm>
            <a:off x="1194082" y="3500902"/>
            <a:ext cx="3164205" cy="1181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96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6000"/>
              </a:lnSpc>
              <a:tabLst/>
            </a:pPr>
            <a:r>
              <a:rPr sz="800" b="1" kern="0" spc="160" dirty="0">
                <a:solidFill>
                  <a:srgbClr val="808285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DRAFT -</a:t>
            </a:r>
            <a:r>
              <a:rPr sz="800" b="1" kern="0" spc="140" dirty="0">
                <a:solidFill>
                  <a:srgbClr val="808285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800" b="1" kern="0" spc="160" dirty="0">
                <a:solidFill>
                  <a:srgbClr val="808285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REA</a:t>
            </a:r>
            <a:r>
              <a:rPr sz="800" b="1" kern="0" spc="150" dirty="0">
                <a:solidFill>
                  <a:srgbClr val="808285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DY FOR</a:t>
            </a:r>
            <a:r>
              <a:rPr sz="800" b="1" kern="0" spc="140" dirty="0">
                <a:solidFill>
                  <a:srgbClr val="808285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800" b="1" kern="0" spc="150" dirty="0">
                <a:solidFill>
                  <a:srgbClr val="808285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PILOTING</a:t>
            </a:r>
            <a:r>
              <a:rPr sz="800" b="1" kern="0" spc="140" dirty="0">
                <a:solidFill>
                  <a:srgbClr val="808285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800" b="1" kern="0" spc="150" dirty="0">
                <a:solidFill>
                  <a:srgbClr val="808285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-</a:t>
            </a:r>
            <a:r>
              <a:rPr sz="800" b="1" kern="0" spc="140" dirty="0">
                <a:solidFill>
                  <a:srgbClr val="808285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800" b="1" kern="0" spc="150" dirty="0">
                <a:solidFill>
                  <a:srgbClr val="808285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FEEDBACK WELCOME</a:t>
            </a:r>
            <a:endParaRPr sz="800" dirty="0">
              <a:latin typeface="Arial Narrow"/>
              <a:ea typeface="Arial Narrow"/>
              <a:cs typeface="Arial Narrow"/>
            </a:endParaRPr>
          </a:p>
        </p:txBody>
      </p:sp>
      <p:sp>
        <p:nvSpPr>
          <p:cNvPr id="448" name="textbox 448"/>
          <p:cNvSpPr/>
          <p:nvPr/>
        </p:nvSpPr>
        <p:spPr>
          <a:xfrm>
            <a:off x="337985" y="673943"/>
            <a:ext cx="161925" cy="9461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97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5000"/>
              </a:lnSpc>
              <a:tabLst/>
            </a:pPr>
            <a:r>
              <a:rPr sz="600" b="1" kern="0" spc="30" dirty="0">
                <a:solidFill>
                  <a:srgbClr val="FFFFFF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BP3</a:t>
            </a:r>
            <a:endParaRPr sz="600" dirty="0">
              <a:latin typeface="Arial Narrow"/>
              <a:ea typeface="Arial Narrow"/>
              <a:cs typeface="Arial Narrow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rect 450"/>
          <p:cNvSpPr/>
          <p:nvPr/>
        </p:nvSpPr>
        <p:spPr>
          <a:xfrm>
            <a:off x="287988" y="590388"/>
            <a:ext cx="4968714" cy="2700003"/>
          </a:xfrm>
          <a:prstGeom prst="rect">
            <a:avLst/>
          </a:prstGeom>
          <a:solidFill>
            <a:srgbClr val="E8EBF6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452" name="textbox 452"/>
          <p:cNvSpPr/>
          <p:nvPr/>
        </p:nvSpPr>
        <p:spPr>
          <a:xfrm>
            <a:off x="581206" y="604614"/>
            <a:ext cx="4528185" cy="181800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603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7145" indent="635" algn="l" rtl="0" eaLnBrk="0">
              <a:lnSpc>
                <a:spcPct val="111000"/>
              </a:lnSpc>
              <a:tabLst/>
            </a:pPr>
            <a:r>
              <a:rPr sz="700" b="1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Record</a:t>
            </a:r>
            <a:r>
              <a:rPr sz="700" b="1" kern="0" spc="6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b="1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impediments.</a:t>
            </a:r>
            <a:r>
              <a:rPr sz="700" b="1" kern="0" spc="7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Ensure the conformance of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actual work products and processes</a:t>
            </a:r>
            <a:r>
              <a:rPr sz="700" kern="0" spc="5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as</a:t>
            </a:r>
            <a:r>
              <a:rPr sz="700" kern="0" spc="6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implemented</a:t>
            </a:r>
            <a:r>
              <a:rPr sz="700" kern="0" spc="6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by the</a:t>
            </a:r>
            <a:r>
              <a:rPr sz="700" kern="0" spc="5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agile team</a:t>
            </a:r>
            <a:r>
              <a:rPr sz="700" kern="0" spc="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(of teams) to agreed work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approach and applicable governance criteria.</a:t>
            </a:r>
            <a:r>
              <a:rPr sz="700" kern="0" spc="6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[OUTCOME 4]</a:t>
            </a:r>
            <a:endParaRPr sz="700" dirty="0">
              <a:latin typeface="Arial Narrow"/>
              <a:ea typeface="Arial Narrow"/>
              <a:cs typeface="Arial Narrow"/>
            </a:endParaRPr>
          </a:p>
          <a:p>
            <a:pPr marL="18415" algn="l" rtl="0" eaLnBrk="0">
              <a:lnSpc>
                <a:spcPct val="76000"/>
              </a:lnSpc>
              <a:spcBef>
                <a:spcPts val="221"/>
              </a:spcBef>
              <a:tabLst/>
            </a:pPr>
            <a:r>
              <a:rPr sz="700" b="1" kern="0" spc="3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Notes &amp;</a:t>
            </a:r>
            <a:r>
              <a:rPr sz="700" b="1" kern="0" spc="11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b="1" kern="0" spc="3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Definitions:</a:t>
            </a:r>
            <a:endParaRPr sz="700" dirty="0">
              <a:latin typeface="Arial Narrow"/>
              <a:ea typeface="Arial Narrow"/>
              <a:cs typeface="Arial Narrow"/>
            </a:endParaRPr>
          </a:p>
          <a:p>
            <a:pPr marL="111760" algn="l" rtl="0" eaLnBrk="0">
              <a:lnSpc>
                <a:spcPts val="1041"/>
              </a:lnSpc>
              <a:spcBef>
                <a:spcPts val="114"/>
              </a:spcBef>
              <a:tabLst/>
            </a:pP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. </a:t>
            </a:r>
            <a:r>
              <a:rPr sz="700" i="1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Record impediments that affe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ct the achievement of</a:t>
            </a:r>
            <a:r>
              <a:rPr sz="700" i="1" kern="0" spc="-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quality objectives.</a:t>
            </a:r>
            <a:endParaRPr sz="700" dirty="0">
              <a:latin typeface="Arial Narrow"/>
              <a:ea typeface="Arial Narrow"/>
              <a:cs typeface="Arial Narrow"/>
            </a:endParaRPr>
          </a:p>
          <a:p>
            <a:pPr marL="183515" indent="-71755" algn="l" rtl="0" eaLnBrk="0">
              <a:lnSpc>
                <a:spcPct val="119000"/>
              </a:lnSpc>
              <a:spcBef>
                <a:spcPts val="1"/>
              </a:spcBef>
              <a:tabLst/>
            </a:pP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.</a:t>
            </a:r>
            <a:r>
              <a:rPr sz="700" kern="0" spc="8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Communicate regularly with the team</a:t>
            </a:r>
            <a:r>
              <a:rPr sz="700" i="1" kern="0" spc="7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(of</a:t>
            </a:r>
            <a:r>
              <a:rPr sz="700" i="1" kern="0" spc="-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teams) reg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arding impediments and desired</a:t>
            </a:r>
            <a:r>
              <a:rPr sz="700" i="1" kern="0" spc="-1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performance.</a:t>
            </a:r>
            <a:r>
              <a:rPr sz="700" i="1" kern="0" spc="9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This</a:t>
            </a:r>
            <a:r>
              <a:rPr sz="700" i="1" kern="0" spc="5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can</a:t>
            </a:r>
            <a:r>
              <a:rPr sz="700" i="1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happen</a:t>
            </a:r>
            <a:r>
              <a:rPr sz="700" i="1" kern="0" spc="5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at</a:t>
            </a:r>
            <a:r>
              <a:rPr sz="700" i="1" kern="0" spc="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various l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evels, during daily stand ups, during iteration reviews</a:t>
            </a:r>
            <a:r>
              <a:rPr sz="700" i="1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and retrospectives,</a:t>
            </a:r>
            <a:r>
              <a:rPr sz="700" i="1" kern="0" spc="5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etc.</a:t>
            </a:r>
            <a:endParaRPr sz="700" dirty="0">
              <a:latin typeface="Arial Narrow"/>
              <a:ea typeface="Arial Narrow"/>
              <a:cs typeface="Arial Narrow"/>
            </a:endParaRPr>
          </a:p>
          <a:p>
            <a:pPr marL="111760" algn="l" rtl="0" eaLnBrk="0">
              <a:lnSpc>
                <a:spcPts val="1000"/>
              </a:lnSpc>
              <a:tabLst/>
            </a:pP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.</a:t>
            </a:r>
            <a:r>
              <a:rPr sz="700" kern="0" spc="8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The agile team</a:t>
            </a:r>
            <a:r>
              <a:rPr sz="700" i="1" kern="0" spc="8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(of</a:t>
            </a:r>
            <a:r>
              <a:rPr sz="700" i="1" kern="0" spc="-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teams) pla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ns in the backlog the</a:t>
            </a:r>
            <a:r>
              <a:rPr sz="700" i="1" kern="0" spc="5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corrective</a:t>
            </a:r>
            <a:r>
              <a:rPr sz="700" i="1" kern="0" spc="5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actions</a:t>
            </a:r>
            <a:r>
              <a:rPr sz="700" i="1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necessary to</a:t>
            </a:r>
            <a:r>
              <a:rPr sz="700" i="1" kern="0" spc="5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resolve</a:t>
            </a:r>
            <a:r>
              <a:rPr sz="700" i="1" kern="0" spc="5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the</a:t>
            </a:r>
            <a:r>
              <a:rPr sz="700" i="1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recorded impediments.</a:t>
            </a:r>
            <a:endParaRPr sz="700" dirty="0">
              <a:latin typeface="Arial Narrow"/>
              <a:ea typeface="Arial Narrow"/>
              <a:cs typeface="Arial Narrow"/>
            </a:endParaRPr>
          </a:p>
          <a:p>
            <a:pPr marL="111760" algn="l" rtl="0" eaLnBrk="0">
              <a:lnSpc>
                <a:spcPts val="999"/>
              </a:lnSpc>
              <a:tabLst/>
            </a:pP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.</a:t>
            </a:r>
            <a:r>
              <a:rPr sz="700" kern="0" spc="8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Communication c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an include metrics, risks, qualitative</a:t>
            </a:r>
            <a:r>
              <a:rPr sz="700" i="1" kern="0" spc="5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feedback,</a:t>
            </a:r>
            <a:r>
              <a:rPr sz="700" i="1" kern="0" spc="5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etc.</a:t>
            </a:r>
            <a:endParaRPr sz="700" dirty="0">
              <a:latin typeface="Arial Narrow"/>
              <a:ea typeface="Arial Narrow"/>
              <a:cs typeface="Arial Narrow"/>
            </a:endParaRPr>
          </a:p>
          <a:p>
            <a:pPr marL="180975" indent="-69215" algn="l" rtl="0" eaLnBrk="0">
              <a:lnSpc>
                <a:spcPct val="119000"/>
              </a:lnSpc>
              <a:spcBef>
                <a:spcPts val="1"/>
              </a:spcBef>
              <a:tabLst/>
            </a:pP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. </a:t>
            </a:r>
            <a:r>
              <a:rPr sz="700" i="1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Metrics relevant to pr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ocess and</a:t>
            </a:r>
            <a:r>
              <a:rPr sz="700" i="1" kern="0" spc="-1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product quality can be present.</a:t>
            </a:r>
            <a:r>
              <a:rPr sz="700" i="1" kern="0" spc="8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This can include(but not limited to)</a:t>
            </a:r>
            <a:r>
              <a:rPr sz="700" i="1" kern="0" spc="8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velocity forecasts,</a:t>
            </a:r>
            <a:r>
              <a:rPr sz="700" i="1" kern="0" spc="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 </a:t>
            </a:r>
            <a:r>
              <a:rPr sz="700" i="1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defect trends, in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crements released</a:t>
            </a:r>
            <a:r>
              <a:rPr sz="700" i="1" kern="0" spc="-1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per</a:t>
            </a:r>
            <a:r>
              <a:rPr sz="700" i="1" kern="0" spc="-2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gate, etc.</a:t>
            </a:r>
            <a:endParaRPr sz="700" dirty="0">
              <a:latin typeface="Arial Narrow"/>
              <a:ea typeface="Arial Narrow"/>
              <a:cs typeface="Arial Narrow"/>
            </a:endParaRPr>
          </a:p>
          <a:p>
            <a:pPr marL="181610" indent="-69850" algn="l" rtl="0" eaLnBrk="0">
              <a:lnSpc>
                <a:spcPct val="116000"/>
              </a:lnSpc>
              <a:spcBef>
                <a:spcPts val="16"/>
              </a:spcBef>
              <a:tabLst/>
            </a:pP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.</a:t>
            </a:r>
            <a:r>
              <a:rPr sz="700" kern="0" spc="7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Communication should be based on the perspec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tive relevant for the recipient agile team</a:t>
            </a:r>
            <a:r>
              <a:rPr sz="700" i="1" kern="0" spc="8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(of</a:t>
            </a:r>
            <a:r>
              <a:rPr sz="700" i="1" kern="0" spc="-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teams), management,</a:t>
            </a:r>
            <a:r>
              <a:rPr sz="700" i="1" kern="0" spc="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      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customer.</a:t>
            </a:r>
            <a:endParaRPr sz="700" dirty="0">
              <a:latin typeface="Arial Narrow"/>
              <a:ea typeface="Arial Narrow"/>
              <a:cs typeface="Arial Narrow"/>
            </a:endParaRPr>
          </a:p>
          <a:p>
            <a:pPr marL="12700" algn="l" rtl="0" eaLnBrk="0">
              <a:lnSpc>
                <a:spcPct val="89000"/>
              </a:lnSpc>
              <a:spcBef>
                <a:spcPts val="535"/>
              </a:spcBef>
              <a:tabLst/>
            </a:pPr>
            <a:r>
              <a:rPr sz="700" b="1" kern="0" spc="4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Agile Work</a:t>
            </a:r>
            <a:r>
              <a:rPr sz="700" b="1" kern="0" spc="7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b="1" kern="0" spc="4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Products:</a:t>
            </a:r>
            <a:r>
              <a:rPr sz="700" b="1" kern="0" spc="8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4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Impediment backl</a:t>
            </a:r>
            <a:r>
              <a:rPr sz="700" kern="0" spc="3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og,</a:t>
            </a:r>
            <a:r>
              <a:rPr sz="700" kern="0" spc="7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Backlog, Communication record</a:t>
            </a:r>
            <a:endParaRPr sz="700" dirty="0">
              <a:latin typeface="Arial Narrow"/>
              <a:ea typeface="Arial Narrow"/>
              <a:cs typeface="Arial Narrow"/>
            </a:endParaRPr>
          </a:p>
          <a:p>
            <a:pPr marL="15240" algn="l" rtl="0" eaLnBrk="0">
              <a:lnSpc>
                <a:spcPts val="1074"/>
              </a:lnSpc>
              <a:spcBef>
                <a:spcPts val="2"/>
              </a:spcBef>
              <a:tabLst/>
            </a:pPr>
            <a:r>
              <a:rPr sz="700" b="1" kern="0" spc="3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Supporting Agile</a:t>
            </a:r>
            <a:r>
              <a:rPr sz="700" b="1" kern="0" spc="7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b="1" kern="0" spc="3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Princi</a:t>
            </a:r>
            <a:r>
              <a:rPr sz="700" b="1" kern="0" spc="2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ples</a:t>
            </a:r>
            <a:r>
              <a:rPr sz="700" b="1" kern="0" spc="7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2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6,</a:t>
            </a:r>
            <a:r>
              <a:rPr sz="700" i="1" kern="0" spc="10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2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7,</a:t>
            </a:r>
            <a:r>
              <a:rPr sz="700" i="1" kern="0" spc="12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2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12</a:t>
            </a:r>
            <a:endParaRPr sz="700" dirty="0">
              <a:latin typeface="Arial Narrow"/>
              <a:ea typeface="Arial Narrow"/>
              <a:cs typeface="Arial Narrow"/>
            </a:endParaRPr>
          </a:p>
        </p:txBody>
      </p:sp>
      <p:sp>
        <p:nvSpPr>
          <p:cNvPr id="454" name="textbox 454"/>
          <p:cNvSpPr/>
          <p:nvPr/>
        </p:nvSpPr>
        <p:spPr>
          <a:xfrm>
            <a:off x="288012" y="396005"/>
            <a:ext cx="4968240" cy="137160"/>
          </a:xfrm>
          <a:prstGeom prst="rect">
            <a:avLst/>
          </a:prstGeom>
          <a:solidFill>
            <a:srgbClr val="015AAA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4000"/>
              </a:lnSpc>
              <a:tabLst/>
            </a:pPr>
            <a:endParaRPr sz="200" dirty="0">
              <a:latin typeface="Arial"/>
              <a:ea typeface="Arial"/>
              <a:cs typeface="Arial"/>
            </a:endParaRPr>
          </a:p>
          <a:p>
            <a:pPr marL="33655" algn="l" rtl="0" eaLnBrk="0">
              <a:lnSpc>
                <a:spcPct val="89000"/>
              </a:lnSpc>
              <a:spcBef>
                <a:spcPts val="1"/>
              </a:spcBef>
              <a:tabLst/>
            </a:pPr>
            <a:r>
              <a:rPr sz="700" b="1" kern="0" spc="40" dirty="0">
                <a:solidFill>
                  <a:srgbClr val="FFFFFF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AGL.3 with </a:t>
            </a:r>
            <a:r>
              <a:rPr sz="700" b="1" kern="0" spc="30" dirty="0">
                <a:solidFill>
                  <a:srgbClr val="FFFFFF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8</a:t>
            </a:r>
            <a:r>
              <a:rPr sz="700" b="1" kern="0" spc="70" dirty="0">
                <a:solidFill>
                  <a:srgbClr val="FFFFFF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b="1" kern="0" spc="30" dirty="0">
                <a:solidFill>
                  <a:srgbClr val="FFFFFF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Base</a:t>
            </a:r>
            <a:r>
              <a:rPr sz="700" b="1" kern="0" spc="60" dirty="0">
                <a:solidFill>
                  <a:srgbClr val="FFFFFF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b="1" kern="0" spc="30" dirty="0">
                <a:solidFill>
                  <a:srgbClr val="FFFFFF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Practices</a:t>
            </a:r>
            <a:endParaRPr sz="700" dirty="0">
              <a:latin typeface="Arial Narrow"/>
              <a:ea typeface="Arial Narrow"/>
              <a:cs typeface="Arial Narrow"/>
            </a:endParaRPr>
          </a:p>
        </p:txBody>
      </p:sp>
      <p:sp>
        <p:nvSpPr>
          <p:cNvPr id="456" name="textbox 456"/>
          <p:cNvSpPr/>
          <p:nvPr/>
        </p:nvSpPr>
        <p:spPr>
          <a:xfrm>
            <a:off x="2726901" y="3644904"/>
            <a:ext cx="2541270" cy="18859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10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9000"/>
              </a:lnSpc>
              <a:tabLst/>
            </a:pPr>
            <a:r>
              <a:rPr sz="900" b="1" kern="0" spc="30" baseline="-17362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37</a:t>
            </a:r>
            <a:r>
              <a:rPr sz="500" b="1" kern="0" spc="1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         </a:t>
            </a:r>
            <a:r>
              <a:rPr sz="500" b="1" kern="0" spc="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                                                                                                       </a:t>
            </a:r>
            <a:r>
              <a:rPr sz="900" kern="0" spc="30" dirty="0">
                <a:solidFill>
                  <a:srgbClr val="0E3654">
                    <a:alpha val="100000"/>
                  </a:srgbClr>
                </a:solidFill>
                <a:latin typeface="Arial"/>
                <a:ea typeface="Arial"/>
                <a:cs typeface="Arial"/>
              </a:rPr>
              <a:t>intacs.</a:t>
            </a:r>
            <a:r>
              <a:rPr sz="900" kern="0" spc="-140" dirty="0">
                <a:solidFill>
                  <a:srgbClr val="0E365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30" dirty="0">
                <a:solidFill>
                  <a:srgbClr val="0E3654">
                    <a:alpha val="100000"/>
                  </a:srgbClr>
                </a:solidFill>
                <a:latin typeface="Arial"/>
                <a:ea typeface="Arial"/>
                <a:cs typeface="Arial"/>
              </a:rPr>
              <a:t>infoulal</a:t>
            </a:r>
            <a:endParaRPr sz="9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5766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512060" algn="l" rtl="0" eaLnBrk="0">
              <a:lnSpc>
                <a:spcPts val="126"/>
              </a:lnSpc>
              <a:tabLst/>
            </a:pPr>
            <a:r>
              <a:rPr sz="100" kern="0" spc="20" dirty="0">
                <a:solidFill>
                  <a:srgbClr val="0E3654">
                    <a:alpha val="100000"/>
                  </a:srgbClr>
                </a:solidFill>
                <a:latin typeface="Arial"/>
                <a:ea typeface="Arial"/>
                <a:cs typeface="Arial"/>
              </a:rPr>
              <a:t>M</a:t>
            </a:r>
            <a:endParaRPr sz="100" dirty="0">
              <a:latin typeface="Arial"/>
              <a:ea typeface="Arial"/>
              <a:cs typeface="Arial"/>
            </a:endParaRPr>
          </a:p>
        </p:txBody>
      </p:sp>
      <p:pic>
        <p:nvPicPr>
          <p:cNvPr id="458" name="picture 45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4481109" y="3788264"/>
            <a:ext cx="755282" cy="31932"/>
          </a:xfrm>
          <a:prstGeom prst="rect">
            <a:avLst/>
          </a:prstGeom>
        </p:spPr>
      </p:pic>
      <p:sp>
        <p:nvSpPr>
          <p:cNvPr id="460" name="textbox 460"/>
          <p:cNvSpPr/>
          <p:nvPr/>
        </p:nvSpPr>
        <p:spPr>
          <a:xfrm>
            <a:off x="1194082" y="3500902"/>
            <a:ext cx="3164205" cy="1181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96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6000"/>
              </a:lnSpc>
              <a:tabLst/>
            </a:pPr>
            <a:r>
              <a:rPr sz="800" b="1" kern="0" spc="160" dirty="0">
                <a:solidFill>
                  <a:srgbClr val="808285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DRAFT -</a:t>
            </a:r>
            <a:r>
              <a:rPr sz="800" b="1" kern="0" spc="140" dirty="0">
                <a:solidFill>
                  <a:srgbClr val="808285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800" b="1" kern="0" spc="160" dirty="0">
                <a:solidFill>
                  <a:srgbClr val="808285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REA</a:t>
            </a:r>
            <a:r>
              <a:rPr sz="800" b="1" kern="0" spc="150" dirty="0">
                <a:solidFill>
                  <a:srgbClr val="808285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DY FOR</a:t>
            </a:r>
            <a:r>
              <a:rPr sz="800" b="1" kern="0" spc="140" dirty="0">
                <a:solidFill>
                  <a:srgbClr val="808285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800" b="1" kern="0" spc="150" dirty="0">
                <a:solidFill>
                  <a:srgbClr val="808285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PILOTING</a:t>
            </a:r>
            <a:r>
              <a:rPr sz="800" b="1" kern="0" spc="140" dirty="0">
                <a:solidFill>
                  <a:srgbClr val="808285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800" b="1" kern="0" spc="150" dirty="0">
                <a:solidFill>
                  <a:srgbClr val="808285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-</a:t>
            </a:r>
            <a:r>
              <a:rPr sz="800" b="1" kern="0" spc="140" dirty="0">
                <a:solidFill>
                  <a:srgbClr val="808285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800" b="1" kern="0" spc="150" dirty="0">
                <a:solidFill>
                  <a:srgbClr val="808285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FEEDBACK WELCOME</a:t>
            </a:r>
            <a:endParaRPr sz="800" dirty="0">
              <a:latin typeface="Arial Narrow"/>
              <a:ea typeface="Arial Narrow"/>
              <a:cs typeface="Arial Narrow"/>
            </a:endParaRPr>
          </a:p>
        </p:txBody>
      </p:sp>
      <p:sp>
        <p:nvSpPr>
          <p:cNvPr id="462" name="textbox 462"/>
          <p:cNvSpPr/>
          <p:nvPr/>
        </p:nvSpPr>
        <p:spPr>
          <a:xfrm>
            <a:off x="337985" y="673943"/>
            <a:ext cx="161925" cy="9398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57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5000"/>
              </a:lnSpc>
              <a:tabLst/>
            </a:pPr>
            <a:r>
              <a:rPr sz="600" b="1" kern="0" spc="30" dirty="0">
                <a:solidFill>
                  <a:srgbClr val="FFFFFF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BP4</a:t>
            </a:r>
            <a:endParaRPr sz="600" dirty="0">
              <a:latin typeface="Arial Narrow"/>
              <a:ea typeface="Arial Narrow"/>
              <a:cs typeface="Arial Narrow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rect 464"/>
          <p:cNvSpPr/>
          <p:nvPr/>
        </p:nvSpPr>
        <p:spPr>
          <a:xfrm>
            <a:off x="287988" y="590388"/>
            <a:ext cx="4968714" cy="2700003"/>
          </a:xfrm>
          <a:prstGeom prst="rect">
            <a:avLst/>
          </a:prstGeom>
          <a:solidFill>
            <a:srgbClr val="E8EBF6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466" name="textbox 466"/>
          <p:cNvSpPr/>
          <p:nvPr/>
        </p:nvSpPr>
        <p:spPr>
          <a:xfrm>
            <a:off x="581302" y="604614"/>
            <a:ext cx="4439285" cy="131000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287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3970" indent="4445" algn="l" rtl="0" eaLnBrk="0">
              <a:lnSpc>
                <a:spcPct val="111000"/>
              </a:lnSpc>
              <a:tabLst/>
            </a:pPr>
            <a:r>
              <a:rPr sz="700" b="1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Resolve</a:t>
            </a:r>
            <a:r>
              <a:rPr sz="700" b="1" kern="0" spc="7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b="1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impediments Track. </a:t>
            </a: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Track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impediments affecting the achievement of quality objectives to</a:t>
            </a: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closure</a:t>
            </a:r>
            <a:r>
              <a:rPr sz="700" kern="0" spc="5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and</a:t>
            </a:r>
            <a:r>
              <a:rPr sz="700" kern="0" spc="6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prevent</a:t>
            </a:r>
            <a:r>
              <a:rPr sz="700" kern="0" spc="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their re-occurrence.</a:t>
            </a:r>
            <a:r>
              <a:rPr sz="700" kern="0" spc="1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[OUTCOME 5]</a:t>
            </a:r>
            <a:endParaRPr sz="700" dirty="0">
              <a:latin typeface="Arial Narrow"/>
              <a:ea typeface="Arial Narrow"/>
              <a:cs typeface="Arial Narrow"/>
            </a:endParaRPr>
          </a:p>
          <a:p>
            <a:pPr marL="18415" algn="l" rtl="0" eaLnBrk="0">
              <a:lnSpc>
                <a:spcPct val="76000"/>
              </a:lnSpc>
              <a:spcBef>
                <a:spcPts val="213"/>
              </a:spcBef>
              <a:tabLst/>
            </a:pPr>
            <a:r>
              <a:rPr sz="700" b="1" kern="0" spc="3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Notes &amp;</a:t>
            </a:r>
            <a:r>
              <a:rPr sz="700" b="1" kern="0" spc="11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b="1" kern="0" spc="3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Definitions:</a:t>
            </a:r>
            <a:endParaRPr sz="700" dirty="0">
              <a:latin typeface="Arial Narrow"/>
              <a:ea typeface="Arial Narrow"/>
              <a:cs typeface="Arial Narrow"/>
            </a:endParaRPr>
          </a:p>
          <a:p>
            <a:pPr marL="111760" algn="l" rtl="0" eaLnBrk="0">
              <a:lnSpc>
                <a:spcPts val="1041"/>
              </a:lnSpc>
              <a:spcBef>
                <a:spcPts val="114"/>
              </a:spcBef>
              <a:tabLst/>
            </a:pP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. </a:t>
            </a:r>
            <a:r>
              <a:rPr sz="700" i="1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Ensure that impediments are co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rrectly understood by relevant stakeholders.</a:t>
            </a:r>
            <a:endParaRPr sz="700" dirty="0">
              <a:latin typeface="Arial Narrow"/>
              <a:ea typeface="Arial Narrow"/>
              <a:cs typeface="Arial Narrow"/>
            </a:endParaRPr>
          </a:p>
          <a:p>
            <a:pPr marL="111760" algn="l" rtl="0" eaLnBrk="0">
              <a:lnSpc>
                <a:spcPts val="999"/>
              </a:lnSpc>
              <a:tabLst/>
            </a:pP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. </a:t>
            </a:r>
            <a:r>
              <a:rPr sz="700" i="1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Ensure that resolving and closing of</a:t>
            </a:r>
            <a:r>
              <a:rPr sz="700" i="1" kern="0" spc="-5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impedimen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ts are planned by the agile</a:t>
            </a:r>
            <a:r>
              <a:rPr sz="700" i="1" kern="0" spc="5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team(of</a:t>
            </a:r>
            <a:r>
              <a:rPr sz="700" i="1" kern="0" spc="-2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teams).</a:t>
            </a:r>
            <a:endParaRPr sz="700" dirty="0">
              <a:latin typeface="Arial Narrow"/>
              <a:ea typeface="Arial Narrow"/>
              <a:cs typeface="Arial Narrow"/>
            </a:endParaRPr>
          </a:p>
          <a:p>
            <a:pPr marL="111760" algn="l" rtl="0" eaLnBrk="0">
              <a:lnSpc>
                <a:spcPts val="1000"/>
              </a:lnSpc>
              <a:tabLst/>
            </a:pP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.</a:t>
            </a:r>
            <a:r>
              <a:rPr sz="700" kern="0" spc="8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Track and verif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y the closure of</a:t>
            </a:r>
            <a:r>
              <a:rPr sz="700" i="1" kern="0" spc="-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impediments.</a:t>
            </a:r>
            <a:endParaRPr sz="700" dirty="0">
              <a:latin typeface="Arial Narrow"/>
              <a:ea typeface="Arial Narrow"/>
              <a:cs typeface="Arial Narrow"/>
            </a:endParaRPr>
          </a:p>
          <a:p>
            <a:pPr marL="111760" algn="l" rtl="0" eaLnBrk="0">
              <a:lnSpc>
                <a:spcPts val="1000"/>
              </a:lnSpc>
              <a:tabLst/>
            </a:pP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.</a:t>
            </a:r>
            <a:r>
              <a:rPr sz="700" kern="0" spc="-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Analyse and communicate root causes of</a:t>
            </a:r>
            <a:r>
              <a:rPr sz="700" i="1" kern="0" spc="-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re-occur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ring impediments.</a:t>
            </a:r>
            <a:endParaRPr sz="700" dirty="0">
              <a:latin typeface="Arial Narrow"/>
              <a:ea typeface="Arial Narrow"/>
              <a:cs typeface="Arial Narrow"/>
            </a:endParaRPr>
          </a:p>
          <a:p>
            <a:pPr marL="111760" algn="l" rtl="0" eaLnBrk="0">
              <a:lnSpc>
                <a:spcPts val="1041"/>
              </a:lnSpc>
              <a:tabLst/>
            </a:pP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.</a:t>
            </a:r>
            <a:r>
              <a:rPr sz="700" kern="0" spc="6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Support the agile team</a:t>
            </a:r>
            <a:r>
              <a:rPr sz="700" i="1" kern="0" spc="7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(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of</a:t>
            </a:r>
            <a:r>
              <a:rPr sz="700" i="1" kern="0" spc="-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teams) to avoid impediment re</a:t>
            </a:r>
            <a:r>
              <a:rPr sz="700" i="1" kern="0" spc="6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occurrence.</a:t>
            </a:r>
            <a:endParaRPr sz="700" dirty="0">
              <a:latin typeface="Arial Narrow"/>
              <a:ea typeface="Arial Narrow"/>
              <a:cs typeface="Arial Narrow"/>
            </a:endParaRPr>
          </a:p>
          <a:p>
            <a:pPr marL="12700" algn="l" rtl="0" eaLnBrk="0">
              <a:lnSpc>
                <a:spcPct val="89000"/>
              </a:lnSpc>
              <a:spcBef>
                <a:spcPts val="459"/>
              </a:spcBef>
              <a:tabLst/>
            </a:pPr>
            <a:r>
              <a:rPr sz="700" b="1" kern="0" spc="4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Agile Work</a:t>
            </a:r>
            <a:r>
              <a:rPr sz="700" b="1" kern="0" spc="7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b="1" kern="0" spc="4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Products:</a:t>
            </a:r>
            <a:r>
              <a:rPr sz="700" b="1" kern="0" spc="8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4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Impediment backl</a:t>
            </a:r>
            <a:r>
              <a:rPr sz="700" kern="0" spc="3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og,</a:t>
            </a:r>
            <a:r>
              <a:rPr sz="700" kern="0" spc="7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Backlog, Communication record</a:t>
            </a:r>
            <a:endParaRPr sz="700" dirty="0">
              <a:latin typeface="Arial Narrow"/>
              <a:ea typeface="Arial Narrow"/>
              <a:cs typeface="Arial Narrow"/>
            </a:endParaRPr>
          </a:p>
          <a:p>
            <a:pPr marL="15240" algn="l" rtl="0" eaLnBrk="0">
              <a:lnSpc>
                <a:spcPts val="1074"/>
              </a:lnSpc>
              <a:spcBef>
                <a:spcPts val="2"/>
              </a:spcBef>
              <a:tabLst/>
            </a:pPr>
            <a:r>
              <a:rPr sz="700" b="1" kern="0" spc="3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Supporting Agile</a:t>
            </a:r>
            <a:r>
              <a:rPr sz="700" b="1" kern="0" spc="7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b="1" kern="0" spc="3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Principle</a:t>
            </a:r>
            <a:r>
              <a:rPr sz="700" b="1" kern="0" spc="2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s</a:t>
            </a:r>
            <a:r>
              <a:rPr sz="700" b="1" kern="0" spc="7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2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6,</a:t>
            </a:r>
            <a:r>
              <a:rPr sz="700" i="1" kern="0" spc="7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2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8,</a:t>
            </a:r>
            <a:r>
              <a:rPr sz="700" i="1" kern="0" spc="12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2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12</a:t>
            </a:r>
            <a:endParaRPr sz="700" dirty="0">
              <a:latin typeface="Arial Narrow"/>
              <a:ea typeface="Arial Narrow"/>
              <a:cs typeface="Arial Narrow"/>
            </a:endParaRPr>
          </a:p>
        </p:txBody>
      </p:sp>
      <p:sp>
        <p:nvSpPr>
          <p:cNvPr id="468" name="textbox 468"/>
          <p:cNvSpPr/>
          <p:nvPr/>
        </p:nvSpPr>
        <p:spPr>
          <a:xfrm>
            <a:off x="288012" y="396005"/>
            <a:ext cx="4968240" cy="137160"/>
          </a:xfrm>
          <a:prstGeom prst="rect">
            <a:avLst/>
          </a:prstGeom>
          <a:solidFill>
            <a:srgbClr val="015AAA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4000"/>
              </a:lnSpc>
              <a:tabLst/>
            </a:pPr>
            <a:endParaRPr sz="200" dirty="0">
              <a:latin typeface="Arial"/>
              <a:ea typeface="Arial"/>
              <a:cs typeface="Arial"/>
            </a:endParaRPr>
          </a:p>
          <a:p>
            <a:pPr marL="33655" algn="l" rtl="0" eaLnBrk="0">
              <a:lnSpc>
                <a:spcPct val="89000"/>
              </a:lnSpc>
              <a:spcBef>
                <a:spcPts val="1"/>
              </a:spcBef>
              <a:tabLst/>
            </a:pPr>
            <a:r>
              <a:rPr sz="700" b="1" kern="0" spc="40" dirty="0">
                <a:solidFill>
                  <a:srgbClr val="FFFFFF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AGL.3 with </a:t>
            </a:r>
            <a:r>
              <a:rPr sz="700" b="1" kern="0" spc="30" dirty="0">
                <a:solidFill>
                  <a:srgbClr val="FFFFFF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8</a:t>
            </a:r>
            <a:r>
              <a:rPr sz="700" b="1" kern="0" spc="70" dirty="0">
                <a:solidFill>
                  <a:srgbClr val="FFFFFF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b="1" kern="0" spc="30" dirty="0">
                <a:solidFill>
                  <a:srgbClr val="FFFFFF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Base</a:t>
            </a:r>
            <a:r>
              <a:rPr sz="700" b="1" kern="0" spc="60" dirty="0">
                <a:solidFill>
                  <a:srgbClr val="FFFFFF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b="1" kern="0" spc="30" dirty="0">
                <a:solidFill>
                  <a:srgbClr val="FFFFFF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Practices</a:t>
            </a:r>
            <a:endParaRPr sz="700" dirty="0">
              <a:latin typeface="Arial Narrow"/>
              <a:ea typeface="Arial Narrow"/>
              <a:cs typeface="Arial Narrow"/>
            </a:endParaRPr>
          </a:p>
        </p:txBody>
      </p:sp>
      <p:sp>
        <p:nvSpPr>
          <p:cNvPr id="470" name="textbox 470"/>
          <p:cNvSpPr/>
          <p:nvPr/>
        </p:nvSpPr>
        <p:spPr>
          <a:xfrm>
            <a:off x="2726901" y="3644904"/>
            <a:ext cx="2541270" cy="18859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10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9000"/>
              </a:lnSpc>
              <a:tabLst/>
            </a:pPr>
            <a:r>
              <a:rPr sz="900" b="1" kern="0" spc="30" baseline="-17362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38</a:t>
            </a:r>
            <a:r>
              <a:rPr sz="500" b="1" kern="0" spc="1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         </a:t>
            </a:r>
            <a:r>
              <a:rPr sz="500" b="1" kern="0" spc="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                                                                                                       </a:t>
            </a:r>
            <a:r>
              <a:rPr sz="900" kern="0" spc="30" dirty="0">
                <a:solidFill>
                  <a:srgbClr val="0E3654">
                    <a:alpha val="100000"/>
                  </a:srgbClr>
                </a:solidFill>
                <a:latin typeface="Arial"/>
                <a:ea typeface="Arial"/>
                <a:cs typeface="Arial"/>
              </a:rPr>
              <a:t>intacs.</a:t>
            </a:r>
            <a:r>
              <a:rPr sz="900" kern="0" spc="-140" dirty="0">
                <a:solidFill>
                  <a:srgbClr val="0E365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30" dirty="0">
                <a:solidFill>
                  <a:srgbClr val="0E3654">
                    <a:alpha val="100000"/>
                  </a:srgbClr>
                </a:solidFill>
                <a:latin typeface="Arial"/>
                <a:ea typeface="Arial"/>
                <a:cs typeface="Arial"/>
              </a:rPr>
              <a:t>infoulal</a:t>
            </a:r>
            <a:endParaRPr sz="9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5766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512060" algn="l" rtl="0" eaLnBrk="0">
              <a:lnSpc>
                <a:spcPts val="126"/>
              </a:lnSpc>
              <a:tabLst/>
            </a:pPr>
            <a:r>
              <a:rPr sz="100" kern="0" spc="20" dirty="0">
                <a:solidFill>
                  <a:srgbClr val="0E3654">
                    <a:alpha val="100000"/>
                  </a:srgbClr>
                </a:solidFill>
                <a:latin typeface="Arial"/>
                <a:ea typeface="Arial"/>
                <a:cs typeface="Arial"/>
              </a:rPr>
              <a:t>M</a:t>
            </a:r>
            <a:endParaRPr sz="100" dirty="0">
              <a:latin typeface="Arial"/>
              <a:ea typeface="Arial"/>
              <a:cs typeface="Arial"/>
            </a:endParaRPr>
          </a:p>
        </p:txBody>
      </p:sp>
      <p:pic>
        <p:nvPicPr>
          <p:cNvPr id="472" name="picture 47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4481109" y="3788264"/>
            <a:ext cx="755282" cy="31932"/>
          </a:xfrm>
          <a:prstGeom prst="rect">
            <a:avLst/>
          </a:prstGeom>
        </p:spPr>
      </p:pic>
      <p:sp>
        <p:nvSpPr>
          <p:cNvPr id="474" name="textbox 474"/>
          <p:cNvSpPr/>
          <p:nvPr/>
        </p:nvSpPr>
        <p:spPr>
          <a:xfrm>
            <a:off x="1194082" y="3500902"/>
            <a:ext cx="3164205" cy="1181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96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6000"/>
              </a:lnSpc>
              <a:tabLst/>
            </a:pPr>
            <a:r>
              <a:rPr sz="800" b="1" kern="0" spc="160" dirty="0">
                <a:solidFill>
                  <a:srgbClr val="808285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DRAFT -</a:t>
            </a:r>
            <a:r>
              <a:rPr sz="800" b="1" kern="0" spc="140" dirty="0">
                <a:solidFill>
                  <a:srgbClr val="808285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800" b="1" kern="0" spc="160" dirty="0">
                <a:solidFill>
                  <a:srgbClr val="808285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REA</a:t>
            </a:r>
            <a:r>
              <a:rPr sz="800" b="1" kern="0" spc="150" dirty="0">
                <a:solidFill>
                  <a:srgbClr val="808285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DY FOR</a:t>
            </a:r>
            <a:r>
              <a:rPr sz="800" b="1" kern="0" spc="140" dirty="0">
                <a:solidFill>
                  <a:srgbClr val="808285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800" b="1" kern="0" spc="150" dirty="0">
                <a:solidFill>
                  <a:srgbClr val="808285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PILOTING</a:t>
            </a:r>
            <a:r>
              <a:rPr sz="800" b="1" kern="0" spc="140" dirty="0">
                <a:solidFill>
                  <a:srgbClr val="808285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800" b="1" kern="0" spc="150" dirty="0">
                <a:solidFill>
                  <a:srgbClr val="808285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-</a:t>
            </a:r>
            <a:r>
              <a:rPr sz="800" b="1" kern="0" spc="140" dirty="0">
                <a:solidFill>
                  <a:srgbClr val="808285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800" b="1" kern="0" spc="150" dirty="0">
                <a:solidFill>
                  <a:srgbClr val="808285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FEEDBACK WELCOME</a:t>
            </a:r>
            <a:endParaRPr sz="800" dirty="0">
              <a:latin typeface="Arial Narrow"/>
              <a:ea typeface="Arial Narrow"/>
              <a:cs typeface="Arial Narrow"/>
            </a:endParaRPr>
          </a:p>
        </p:txBody>
      </p:sp>
      <p:sp>
        <p:nvSpPr>
          <p:cNvPr id="476" name="textbox 476"/>
          <p:cNvSpPr/>
          <p:nvPr/>
        </p:nvSpPr>
        <p:spPr>
          <a:xfrm>
            <a:off x="337985" y="674210"/>
            <a:ext cx="161925" cy="9398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76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5000"/>
              </a:lnSpc>
              <a:tabLst/>
            </a:pPr>
            <a:r>
              <a:rPr sz="600" b="1" kern="0" spc="30" dirty="0">
                <a:solidFill>
                  <a:srgbClr val="FFFFFF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BP5</a:t>
            </a:r>
            <a:endParaRPr sz="600" dirty="0">
              <a:latin typeface="Arial Narrow"/>
              <a:ea typeface="Arial Narrow"/>
              <a:cs typeface="Arial Narrow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rect 478"/>
          <p:cNvSpPr/>
          <p:nvPr/>
        </p:nvSpPr>
        <p:spPr>
          <a:xfrm>
            <a:off x="287988" y="590388"/>
            <a:ext cx="4968714" cy="2700003"/>
          </a:xfrm>
          <a:prstGeom prst="rect">
            <a:avLst/>
          </a:prstGeom>
          <a:solidFill>
            <a:srgbClr val="E8EBF6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480" name="textbox 480"/>
          <p:cNvSpPr/>
          <p:nvPr/>
        </p:nvSpPr>
        <p:spPr>
          <a:xfrm>
            <a:off x="581206" y="604614"/>
            <a:ext cx="4531360" cy="143700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603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5240" indent="3175" algn="l" rtl="0" eaLnBrk="0">
              <a:lnSpc>
                <a:spcPct val="111000"/>
              </a:lnSpc>
              <a:tabLst/>
            </a:pPr>
            <a:r>
              <a:rPr sz="700" b="1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Establish escalation mechanisms.</a:t>
            </a:r>
            <a:r>
              <a:rPr sz="700" b="1" kern="0" spc="7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Establis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h mechanisms and authority to</a:t>
            </a: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escalate</a:t>
            </a:r>
            <a:r>
              <a:rPr sz="700" kern="0" spc="6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non</a:t>
            </a:r>
            <a:r>
              <a:rPr sz="700" kern="0" spc="7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resolution</a:t>
            </a: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of</a:t>
            </a: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impediments within</a:t>
            </a:r>
            <a:r>
              <a:rPr sz="700" kern="0" spc="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and beyond the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agile team(of teams).</a:t>
            </a:r>
            <a:r>
              <a:rPr sz="700" kern="0" spc="7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[OUTCOME 6]</a:t>
            </a:r>
            <a:endParaRPr sz="700" dirty="0">
              <a:latin typeface="Arial Narrow"/>
              <a:ea typeface="Arial Narrow"/>
              <a:cs typeface="Arial Narrow"/>
            </a:endParaRPr>
          </a:p>
          <a:p>
            <a:pPr marL="18415" algn="l" rtl="0" eaLnBrk="0">
              <a:lnSpc>
                <a:spcPct val="76000"/>
              </a:lnSpc>
              <a:spcBef>
                <a:spcPts val="221"/>
              </a:spcBef>
              <a:tabLst/>
            </a:pPr>
            <a:r>
              <a:rPr sz="700" b="1" kern="0" spc="3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Notes &amp;</a:t>
            </a:r>
            <a:r>
              <a:rPr sz="700" b="1" kern="0" spc="11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b="1" kern="0" spc="3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Definitions:</a:t>
            </a:r>
            <a:endParaRPr sz="700" dirty="0">
              <a:latin typeface="Arial Narrow"/>
              <a:ea typeface="Arial Narrow"/>
              <a:cs typeface="Arial Narrow"/>
            </a:endParaRPr>
          </a:p>
          <a:p>
            <a:pPr marL="111760" algn="l" rtl="0" eaLnBrk="0">
              <a:lnSpc>
                <a:spcPts val="1041"/>
              </a:lnSpc>
              <a:spcBef>
                <a:spcPts val="114"/>
              </a:spcBef>
              <a:tabLst/>
            </a:pP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.</a:t>
            </a:r>
            <a:r>
              <a:rPr sz="700" kern="0" spc="8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The escalation path is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known by each team member and those that contribute</a:t>
            </a:r>
            <a:r>
              <a:rPr sz="700" i="1" kern="0" spc="5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to</a:t>
            </a:r>
            <a:r>
              <a:rPr sz="700" i="1" kern="0" spc="6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the</a:t>
            </a:r>
            <a:r>
              <a:rPr sz="700" i="1" kern="0" spc="6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team.</a:t>
            </a:r>
            <a:endParaRPr sz="700" dirty="0">
              <a:latin typeface="Arial Narrow"/>
              <a:ea typeface="Arial Narrow"/>
              <a:cs typeface="Arial Narrow"/>
            </a:endParaRPr>
          </a:p>
          <a:p>
            <a:pPr marL="179070" indent="-67310" algn="l" rtl="0" eaLnBrk="0">
              <a:lnSpc>
                <a:spcPct val="119000"/>
              </a:lnSpc>
              <a:spcBef>
                <a:spcPts val="1"/>
              </a:spcBef>
              <a:tabLst/>
            </a:pP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.</a:t>
            </a:r>
            <a:r>
              <a:rPr sz="700" kern="0" spc="8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The escalation path begins</a:t>
            </a:r>
            <a:r>
              <a:rPr sz="700" i="1" kern="0" spc="7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with the team as</a:t>
            </a:r>
            <a:r>
              <a:rPr sz="700" i="1" kern="0" spc="6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the</a:t>
            </a:r>
            <a:r>
              <a:rPr sz="700" i="1" kern="0" spc="5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starting point</a:t>
            </a:r>
            <a:r>
              <a:rPr sz="700" i="1" kern="0" spc="6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Typically,</a:t>
            </a:r>
            <a:r>
              <a:rPr sz="700" i="1" kern="0" spc="5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the path</a:t>
            </a:r>
            <a:r>
              <a:rPr sz="700" i="1" kern="0" spc="6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ends</a:t>
            </a:r>
            <a:r>
              <a:rPr sz="700" i="1" kern="0" spc="7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with</a:t>
            </a:r>
            <a:r>
              <a:rPr sz="700" i="1" kern="0" spc="6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the</a:t>
            </a:r>
            <a:r>
              <a:rPr sz="700" i="1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highes</a:t>
            </a:r>
            <a:r>
              <a:rPr sz="700" i="1" kern="0" spc="2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t authority</a:t>
            </a:r>
            <a:r>
              <a:rPr sz="700" i="1" kern="0" spc="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            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in the</a:t>
            </a:r>
            <a:r>
              <a:rPr sz="700" i="1" kern="0" spc="5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organisati</a:t>
            </a:r>
            <a:r>
              <a:rPr sz="700" i="1" kern="0" spc="2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on.</a:t>
            </a:r>
            <a:endParaRPr sz="700" dirty="0">
              <a:latin typeface="Arial Narrow"/>
              <a:ea typeface="Arial Narrow"/>
              <a:cs typeface="Arial Narrow"/>
            </a:endParaRPr>
          </a:p>
          <a:p>
            <a:pPr marL="111760" algn="l" rtl="0" eaLnBrk="0">
              <a:lnSpc>
                <a:spcPts val="1000"/>
              </a:lnSpc>
              <a:tabLst/>
            </a:pP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.</a:t>
            </a:r>
            <a:r>
              <a:rPr sz="700" kern="0" spc="8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The escalation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path is typically recorded e g by an organigram.</a:t>
            </a:r>
            <a:endParaRPr sz="700" dirty="0">
              <a:latin typeface="Arial Narrow"/>
              <a:ea typeface="Arial Narrow"/>
              <a:cs typeface="Arial Narrow"/>
            </a:endParaRPr>
          </a:p>
          <a:p>
            <a:pPr marL="111760" algn="l" rtl="0" eaLnBrk="0">
              <a:lnSpc>
                <a:spcPts val="999"/>
              </a:lnSpc>
              <a:tabLst/>
            </a:pP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.</a:t>
            </a:r>
            <a:r>
              <a:rPr sz="700" kern="0" spc="1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The escalation path is accessible to</a:t>
            </a:r>
            <a:r>
              <a:rPr sz="700" i="1" kern="0" spc="5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anyone in</a:t>
            </a:r>
            <a:r>
              <a:rPr sz="700" i="1" kern="0" spc="6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the</a:t>
            </a:r>
            <a:r>
              <a:rPr sz="700" i="1" kern="0" spc="5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organisation.</a:t>
            </a:r>
            <a:endParaRPr sz="700" dirty="0">
              <a:latin typeface="Arial Narrow"/>
              <a:ea typeface="Arial Narrow"/>
              <a:cs typeface="Arial Narrow"/>
            </a:endParaRPr>
          </a:p>
          <a:p>
            <a:pPr marL="111760" algn="l" rtl="0" eaLnBrk="0">
              <a:lnSpc>
                <a:spcPts val="1041"/>
              </a:lnSpc>
              <a:tabLst/>
            </a:pP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.</a:t>
            </a:r>
            <a:r>
              <a:rPr sz="700" kern="0" spc="8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The impediment ba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cklog is</a:t>
            </a:r>
            <a:r>
              <a:rPr sz="700" i="1" kern="0" spc="7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visible at least to anyone in the</a:t>
            </a:r>
            <a:r>
              <a:rPr sz="700" i="1" kern="0" spc="5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escalation path and the</a:t>
            </a:r>
            <a:r>
              <a:rPr sz="700" i="1" kern="0" spc="6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team</a:t>
            </a:r>
            <a:r>
              <a:rPr sz="700" i="1" kern="0" spc="8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(of</a:t>
            </a:r>
            <a:r>
              <a:rPr sz="700" i="1" kern="0" spc="-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teams).</a:t>
            </a:r>
            <a:endParaRPr sz="700" dirty="0">
              <a:latin typeface="Arial Narrow"/>
              <a:ea typeface="Arial Narrow"/>
              <a:cs typeface="Arial Narrow"/>
            </a:endParaRPr>
          </a:p>
          <a:p>
            <a:pPr marL="12700" algn="l" rtl="0" eaLnBrk="0">
              <a:lnSpc>
                <a:spcPct val="89000"/>
              </a:lnSpc>
              <a:spcBef>
                <a:spcPts val="459"/>
              </a:spcBef>
              <a:tabLst/>
            </a:pPr>
            <a:r>
              <a:rPr sz="700" b="1" kern="0" spc="4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Agile Work</a:t>
            </a:r>
            <a:r>
              <a:rPr sz="700" b="1" kern="0" spc="6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b="1" kern="0" spc="4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Products:</a:t>
            </a:r>
            <a:r>
              <a:rPr sz="700" b="1" kern="0" spc="8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4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Escalation path,</a:t>
            </a:r>
            <a:r>
              <a:rPr sz="700" kern="0" spc="3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Communication record,</a:t>
            </a:r>
            <a:r>
              <a:rPr sz="700" kern="0" spc="8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Impediment backlog</a:t>
            </a:r>
            <a:endParaRPr sz="700" dirty="0">
              <a:latin typeface="Arial Narrow"/>
              <a:ea typeface="Arial Narrow"/>
              <a:cs typeface="Arial Narrow"/>
            </a:endParaRPr>
          </a:p>
          <a:p>
            <a:pPr marL="15240" algn="l" rtl="0" eaLnBrk="0">
              <a:lnSpc>
                <a:spcPts val="1074"/>
              </a:lnSpc>
              <a:spcBef>
                <a:spcPts val="2"/>
              </a:spcBef>
              <a:tabLst/>
            </a:pPr>
            <a:r>
              <a:rPr sz="700" b="1" kern="0" spc="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Supporting</a:t>
            </a:r>
            <a:r>
              <a:rPr sz="700" b="1" kern="0" spc="7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b="1" kern="0" spc="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Agile</a:t>
            </a:r>
            <a:r>
              <a:rPr sz="700" b="1" kern="0" spc="6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b="1" kern="0" spc="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Principles</a:t>
            </a:r>
            <a:r>
              <a:rPr sz="700" b="1" kern="0" spc="12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7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1, 3, 4,</a:t>
            </a:r>
            <a:r>
              <a:rPr sz="700" i="1" kern="0" spc="10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6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7, 8,</a:t>
            </a:r>
            <a:r>
              <a:rPr sz="700" i="1" kern="0" spc="8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6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(9)</a:t>
            </a:r>
            <a:endParaRPr sz="700" dirty="0">
              <a:latin typeface="Arial Narrow"/>
              <a:ea typeface="Arial Narrow"/>
              <a:cs typeface="Arial Narrow"/>
            </a:endParaRPr>
          </a:p>
        </p:txBody>
      </p:sp>
      <p:sp>
        <p:nvSpPr>
          <p:cNvPr id="482" name="textbox 482"/>
          <p:cNvSpPr/>
          <p:nvPr/>
        </p:nvSpPr>
        <p:spPr>
          <a:xfrm>
            <a:off x="288012" y="396005"/>
            <a:ext cx="4968240" cy="137160"/>
          </a:xfrm>
          <a:prstGeom prst="rect">
            <a:avLst/>
          </a:prstGeom>
          <a:solidFill>
            <a:srgbClr val="015AAA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4000"/>
              </a:lnSpc>
              <a:tabLst/>
            </a:pPr>
            <a:endParaRPr sz="200" dirty="0">
              <a:latin typeface="Arial"/>
              <a:ea typeface="Arial"/>
              <a:cs typeface="Arial"/>
            </a:endParaRPr>
          </a:p>
          <a:p>
            <a:pPr marL="33655" algn="l" rtl="0" eaLnBrk="0">
              <a:lnSpc>
                <a:spcPct val="89000"/>
              </a:lnSpc>
              <a:spcBef>
                <a:spcPts val="1"/>
              </a:spcBef>
              <a:tabLst/>
            </a:pPr>
            <a:r>
              <a:rPr sz="700" b="1" kern="0" spc="40" dirty="0">
                <a:solidFill>
                  <a:srgbClr val="FFFFFF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AGL.3 with </a:t>
            </a:r>
            <a:r>
              <a:rPr sz="700" b="1" kern="0" spc="30" dirty="0">
                <a:solidFill>
                  <a:srgbClr val="FFFFFF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8</a:t>
            </a:r>
            <a:r>
              <a:rPr sz="700" b="1" kern="0" spc="70" dirty="0">
                <a:solidFill>
                  <a:srgbClr val="FFFFFF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b="1" kern="0" spc="30" dirty="0">
                <a:solidFill>
                  <a:srgbClr val="FFFFFF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Base</a:t>
            </a:r>
            <a:r>
              <a:rPr sz="700" b="1" kern="0" spc="60" dirty="0">
                <a:solidFill>
                  <a:srgbClr val="FFFFFF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b="1" kern="0" spc="30" dirty="0">
                <a:solidFill>
                  <a:srgbClr val="FFFFFF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Practices</a:t>
            </a:r>
            <a:endParaRPr sz="700" dirty="0">
              <a:latin typeface="Arial Narrow"/>
              <a:ea typeface="Arial Narrow"/>
              <a:cs typeface="Arial Narrow"/>
            </a:endParaRPr>
          </a:p>
        </p:txBody>
      </p:sp>
      <p:sp>
        <p:nvSpPr>
          <p:cNvPr id="484" name="textbox 484"/>
          <p:cNvSpPr/>
          <p:nvPr/>
        </p:nvSpPr>
        <p:spPr>
          <a:xfrm>
            <a:off x="2726901" y="3644904"/>
            <a:ext cx="2541270" cy="18859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10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9000"/>
              </a:lnSpc>
              <a:tabLst/>
            </a:pPr>
            <a:r>
              <a:rPr sz="900" b="1" kern="0" spc="30" baseline="-17362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39</a:t>
            </a:r>
            <a:r>
              <a:rPr sz="500" b="1" kern="0" spc="1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         </a:t>
            </a:r>
            <a:r>
              <a:rPr sz="500" b="1" kern="0" spc="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                                                                                                       </a:t>
            </a:r>
            <a:r>
              <a:rPr sz="900" kern="0" spc="30" dirty="0">
                <a:solidFill>
                  <a:srgbClr val="0E3654">
                    <a:alpha val="100000"/>
                  </a:srgbClr>
                </a:solidFill>
                <a:latin typeface="Arial"/>
                <a:ea typeface="Arial"/>
                <a:cs typeface="Arial"/>
              </a:rPr>
              <a:t>intacs.</a:t>
            </a:r>
            <a:r>
              <a:rPr sz="900" kern="0" spc="-140" dirty="0">
                <a:solidFill>
                  <a:srgbClr val="0E365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30" dirty="0">
                <a:solidFill>
                  <a:srgbClr val="0E3654">
                    <a:alpha val="100000"/>
                  </a:srgbClr>
                </a:solidFill>
                <a:latin typeface="Arial"/>
                <a:ea typeface="Arial"/>
                <a:cs typeface="Arial"/>
              </a:rPr>
              <a:t>infoulal</a:t>
            </a:r>
            <a:endParaRPr sz="9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5766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512060" algn="l" rtl="0" eaLnBrk="0">
              <a:lnSpc>
                <a:spcPts val="126"/>
              </a:lnSpc>
              <a:tabLst/>
            </a:pPr>
            <a:r>
              <a:rPr sz="100" kern="0" spc="20" dirty="0">
                <a:solidFill>
                  <a:srgbClr val="0E3654">
                    <a:alpha val="100000"/>
                  </a:srgbClr>
                </a:solidFill>
                <a:latin typeface="Arial"/>
                <a:ea typeface="Arial"/>
                <a:cs typeface="Arial"/>
              </a:rPr>
              <a:t>M</a:t>
            </a:r>
            <a:endParaRPr sz="100" dirty="0">
              <a:latin typeface="Arial"/>
              <a:ea typeface="Arial"/>
              <a:cs typeface="Arial"/>
            </a:endParaRPr>
          </a:p>
        </p:txBody>
      </p:sp>
      <p:pic>
        <p:nvPicPr>
          <p:cNvPr id="486" name="picture 48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4481109" y="3788264"/>
            <a:ext cx="755282" cy="31932"/>
          </a:xfrm>
          <a:prstGeom prst="rect">
            <a:avLst/>
          </a:prstGeom>
        </p:spPr>
      </p:pic>
      <p:sp>
        <p:nvSpPr>
          <p:cNvPr id="488" name="textbox 488"/>
          <p:cNvSpPr/>
          <p:nvPr/>
        </p:nvSpPr>
        <p:spPr>
          <a:xfrm>
            <a:off x="1194082" y="3500902"/>
            <a:ext cx="3164205" cy="1181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96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6000"/>
              </a:lnSpc>
              <a:tabLst/>
            </a:pPr>
            <a:r>
              <a:rPr sz="800" b="1" kern="0" spc="160" dirty="0">
                <a:solidFill>
                  <a:srgbClr val="808285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DRAFT -</a:t>
            </a:r>
            <a:r>
              <a:rPr sz="800" b="1" kern="0" spc="140" dirty="0">
                <a:solidFill>
                  <a:srgbClr val="808285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800" b="1" kern="0" spc="160" dirty="0">
                <a:solidFill>
                  <a:srgbClr val="808285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REA</a:t>
            </a:r>
            <a:r>
              <a:rPr sz="800" b="1" kern="0" spc="150" dirty="0">
                <a:solidFill>
                  <a:srgbClr val="808285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DY FOR</a:t>
            </a:r>
            <a:r>
              <a:rPr sz="800" b="1" kern="0" spc="140" dirty="0">
                <a:solidFill>
                  <a:srgbClr val="808285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800" b="1" kern="0" spc="150" dirty="0">
                <a:solidFill>
                  <a:srgbClr val="808285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PILOTING</a:t>
            </a:r>
            <a:r>
              <a:rPr sz="800" b="1" kern="0" spc="140" dirty="0">
                <a:solidFill>
                  <a:srgbClr val="808285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800" b="1" kern="0" spc="150" dirty="0">
                <a:solidFill>
                  <a:srgbClr val="808285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-</a:t>
            </a:r>
            <a:r>
              <a:rPr sz="800" b="1" kern="0" spc="140" dirty="0">
                <a:solidFill>
                  <a:srgbClr val="808285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800" b="1" kern="0" spc="150" dirty="0">
                <a:solidFill>
                  <a:srgbClr val="808285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FEEDBACK WELCOME</a:t>
            </a:r>
            <a:endParaRPr sz="800" dirty="0">
              <a:latin typeface="Arial Narrow"/>
              <a:ea typeface="Arial Narrow"/>
              <a:cs typeface="Arial Narrow"/>
            </a:endParaRPr>
          </a:p>
        </p:txBody>
      </p:sp>
      <p:sp>
        <p:nvSpPr>
          <p:cNvPr id="490" name="textbox 490"/>
          <p:cNvSpPr/>
          <p:nvPr/>
        </p:nvSpPr>
        <p:spPr>
          <a:xfrm>
            <a:off x="337985" y="673943"/>
            <a:ext cx="161925" cy="9461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97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5000"/>
              </a:lnSpc>
              <a:tabLst/>
            </a:pPr>
            <a:r>
              <a:rPr sz="600" b="1" kern="0" spc="30" dirty="0">
                <a:solidFill>
                  <a:srgbClr val="FFFFFF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BP6</a:t>
            </a:r>
            <a:endParaRPr sz="600" dirty="0">
              <a:latin typeface="Arial Narrow"/>
              <a:ea typeface="Arial Narrow"/>
              <a:cs typeface="Arial Narrow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rect 492"/>
          <p:cNvSpPr/>
          <p:nvPr/>
        </p:nvSpPr>
        <p:spPr>
          <a:xfrm>
            <a:off x="287988" y="590388"/>
            <a:ext cx="4968714" cy="2700003"/>
          </a:xfrm>
          <a:prstGeom prst="rect">
            <a:avLst/>
          </a:prstGeom>
          <a:solidFill>
            <a:srgbClr val="E8EBF6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494" name="textbox 494"/>
          <p:cNvSpPr/>
          <p:nvPr/>
        </p:nvSpPr>
        <p:spPr>
          <a:xfrm>
            <a:off x="581302" y="604614"/>
            <a:ext cx="4568190" cy="143700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287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7780" indent="635" algn="l" rtl="0" eaLnBrk="0">
              <a:lnSpc>
                <a:spcPct val="111000"/>
              </a:lnSpc>
              <a:tabLst/>
            </a:pPr>
            <a:r>
              <a:rPr sz="700" b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Ensure effective escalation.</a:t>
            </a:r>
            <a:r>
              <a:rPr sz="700" b="1" kern="0" spc="6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Ensure the resolution of escalated impediments</a:t>
            </a:r>
            <a:r>
              <a:rPr sz="700" kern="0" spc="5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by</a:t>
            </a: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adequate</a:t>
            </a: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2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governance</a:t>
            </a: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2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and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2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decision-making</a:t>
            </a:r>
            <a:r>
              <a:rPr sz="700" kern="0" spc="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bodies.</a:t>
            </a:r>
            <a:r>
              <a:rPr sz="700" kern="0" spc="5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[OUTCOME </a:t>
            </a:r>
            <a:r>
              <a:rPr sz="700" kern="0" spc="2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6]</a:t>
            </a:r>
            <a:endParaRPr sz="700" dirty="0">
              <a:latin typeface="Arial Narrow"/>
              <a:ea typeface="Arial Narrow"/>
              <a:cs typeface="Arial Narrow"/>
            </a:endParaRPr>
          </a:p>
          <a:p>
            <a:pPr marL="18415" algn="l" rtl="0" eaLnBrk="0">
              <a:lnSpc>
                <a:spcPct val="76000"/>
              </a:lnSpc>
              <a:spcBef>
                <a:spcPts val="213"/>
              </a:spcBef>
              <a:tabLst/>
            </a:pPr>
            <a:r>
              <a:rPr sz="700" b="1" kern="0" spc="3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Notes &amp;</a:t>
            </a:r>
            <a:r>
              <a:rPr sz="700" b="1" kern="0" spc="11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b="1" kern="0" spc="3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Definitions:</a:t>
            </a:r>
            <a:endParaRPr sz="700" dirty="0">
              <a:latin typeface="Arial Narrow"/>
              <a:ea typeface="Arial Narrow"/>
              <a:cs typeface="Arial Narrow"/>
            </a:endParaRPr>
          </a:p>
          <a:p>
            <a:pPr marL="176530" indent="-64770" algn="l" rtl="0" eaLnBrk="0">
              <a:lnSpc>
                <a:spcPct val="122000"/>
              </a:lnSpc>
              <a:spcBef>
                <a:spcPts val="106"/>
              </a:spcBef>
              <a:tabLst/>
            </a:pP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. </a:t>
            </a:r>
            <a:r>
              <a:rPr sz="700" i="1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Primarily, the agile team</a:t>
            </a:r>
            <a:r>
              <a:rPr sz="700" i="1" kern="0" spc="7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(of</a:t>
            </a:r>
            <a:r>
              <a:rPr sz="700" i="1" kern="0" spc="-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teams)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is</a:t>
            </a:r>
            <a:r>
              <a:rPr sz="700" i="1" kern="0" spc="-6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jointly responsible for</a:t>
            </a:r>
            <a:r>
              <a:rPr sz="700" i="1" kern="0" spc="-1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resolving impediments</a:t>
            </a:r>
            <a:r>
              <a:rPr sz="700" i="1" kern="0" spc="5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and collaborates</a:t>
            </a:r>
            <a:r>
              <a:rPr sz="700" i="1" kern="0" spc="5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closely with</a:t>
            </a:r>
            <a:r>
              <a:rPr sz="700" i="1" kern="0" spc="6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the</a:t>
            </a:r>
            <a:r>
              <a:rPr sz="700" i="1" kern="0" spc="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     </a:t>
            </a:r>
            <a:r>
              <a:rPr sz="700" i="1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person</a:t>
            </a:r>
            <a:r>
              <a:rPr sz="700" i="1" kern="0" spc="7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who track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s their</a:t>
            </a:r>
            <a:r>
              <a:rPr sz="700" i="1" kern="0" spc="-2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impediments</a:t>
            </a:r>
            <a:r>
              <a:rPr sz="700" i="1" kern="0" spc="6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to</a:t>
            </a:r>
            <a:r>
              <a:rPr sz="700" i="1" kern="0" spc="5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closure</a:t>
            </a:r>
            <a:endParaRPr sz="700" dirty="0">
              <a:latin typeface="Arial Narrow"/>
              <a:ea typeface="Arial Narrow"/>
              <a:cs typeface="Arial Narrow"/>
            </a:endParaRPr>
          </a:p>
          <a:p>
            <a:pPr marL="111760" algn="l" rtl="0" eaLnBrk="0">
              <a:lnSpc>
                <a:spcPts val="1000"/>
              </a:lnSpc>
              <a:tabLst/>
            </a:pP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. </a:t>
            </a:r>
            <a:r>
              <a:rPr sz="700" i="1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Each member</a:t>
            </a:r>
            <a:r>
              <a:rPr sz="700" i="1" kern="0" spc="-2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in the escalation path maintains se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amless</a:t>
            </a:r>
            <a:r>
              <a:rPr sz="700" i="1" kern="0" spc="6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communication</a:t>
            </a:r>
            <a:r>
              <a:rPr sz="700" i="1" kern="0" spc="5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to its</a:t>
            </a:r>
            <a:r>
              <a:rPr sz="700" i="1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lower and its</a:t>
            </a:r>
            <a:r>
              <a:rPr sz="700" i="1" kern="0" spc="6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upper</a:t>
            </a:r>
            <a:r>
              <a:rPr sz="700" i="1" kern="0" spc="-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partners in</a:t>
            </a:r>
            <a:r>
              <a:rPr sz="700" i="1" kern="0" spc="5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the path</a:t>
            </a:r>
            <a:endParaRPr sz="700" dirty="0">
              <a:latin typeface="Arial Narrow"/>
              <a:ea typeface="Arial Narrow"/>
              <a:cs typeface="Arial Narrow"/>
            </a:endParaRPr>
          </a:p>
          <a:p>
            <a:pPr marL="180975" indent="-69215" algn="l" rtl="0" eaLnBrk="0">
              <a:lnSpc>
                <a:spcPct val="119000"/>
              </a:lnSpc>
              <a:spcBef>
                <a:spcPts val="1"/>
              </a:spcBef>
              <a:tabLst/>
            </a:pP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.</a:t>
            </a:r>
            <a:r>
              <a:rPr sz="700" kern="0" spc="8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The agile quality assur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ance responsible acts as</a:t>
            </a:r>
            <a:r>
              <a:rPr sz="700" i="1" kern="0" spc="11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íescalation guard’</a:t>
            </a:r>
            <a:r>
              <a:rPr sz="700" i="1" kern="0" spc="-2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and is empowered to</a:t>
            </a:r>
            <a:r>
              <a:rPr sz="700" i="1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involve</a:t>
            </a:r>
            <a:r>
              <a:rPr sz="700" i="1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higher authorities</a:t>
            </a:r>
            <a:r>
              <a:rPr sz="700" i="1" kern="0" spc="6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of</a:t>
            </a:r>
            <a:r>
              <a:rPr sz="700" i="1" kern="0" spc="-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the</a:t>
            </a:r>
            <a:r>
              <a:rPr sz="700" i="1" kern="0" spc="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escalation path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, if</a:t>
            </a:r>
            <a:r>
              <a:rPr sz="700" i="1" kern="0" spc="-5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necessary</a:t>
            </a:r>
            <a:endParaRPr sz="700" dirty="0">
              <a:latin typeface="Arial Narrow"/>
              <a:ea typeface="Arial Narrow"/>
              <a:cs typeface="Arial Narrow"/>
            </a:endParaRPr>
          </a:p>
          <a:p>
            <a:pPr marL="111760" algn="l" rtl="0" eaLnBrk="0">
              <a:lnSpc>
                <a:spcPts val="1041"/>
              </a:lnSpc>
              <a:tabLst/>
            </a:pP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.</a:t>
            </a:r>
            <a:r>
              <a:rPr sz="700" kern="0" spc="-5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Any escalation rationale, dec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ision, action and effect is recorded in the impediment backlog</a:t>
            </a:r>
            <a:endParaRPr sz="700" dirty="0">
              <a:latin typeface="Arial Narrow"/>
              <a:ea typeface="Arial Narrow"/>
              <a:cs typeface="Arial Narrow"/>
            </a:endParaRPr>
          </a:p>
          <a:p>
            <a:pPr marL="12700" algn="l" rtl="0" eaLnBrk="0">
              <a:lnSpc>
                <a:spcPct val="89000"/>
              </a:lnSpc>
              <a:spcBef>
                <a:spcPts val="459"/>
              </a:spcBef>
              <a:tabLst/>
            </a:pPr>
            <a:r>
              <a:rPr sz="700" b="1" kern="0" spc="4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Agile Work</a:t>
            </a:r>
            <a:r>
              <a:rPr sz="700" b="1" kern="0" spc="6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b="1" kern="0" spc="4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Products:</a:t>
            </a:r>
            <a:r>
              <a:rPr sz="700" b="1" kern="0" spc="7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4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Escalation record,</a:t>
            </a:r>
            <a:r>
              <a:rPr sz="700" kern="0" spc="3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Communication record,</a:t>
            </a:r>
            <a:r>
              <a:rPr sz="700" kern="0" spc="9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Impediment backlog</a:t>
            </a:r>
            <a:endParaRPr sz="700" dirty="0">
              <a:latin typeface="Arial Narrow"/>
              <a:ea typeface="Arial Narrow"/>
              <a:cs typeface="Arial Narrow"/>
            </a:endParaRPr>
          </a:p>
          <a:p>
            <a:pPr marL="15240" algn="l" rtl="0" eaLnBrk="0">
              <a:lnSpc>
                <a:spcPts val="1074"/>
              </a:lnSpc>
              <a:spcBef>
                <a:spcPts val="2"/>
              </a:spcBef>
              <a:tabLst/>
            </a:pPr>
            <a:r>
              <a:rPr sz="700" b="1" kern="0" spc="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Supporting</a:t>
            </a:r>
            <a:r>
              <a:rPr sz="700" b="1" kern="0" spc="7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b="1" kern="0" spc="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Agile</a:t>
            </a:r>
            <a:r>
              <a:rPr sz="700" b="1" kern="0" spc="6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b="1" kern="0" spc="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Principles</a:t>
            </a:r>
            <a:r>
              <a:rPr sz="700" b="1" kern="0" spc="12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7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1, 3, 4,</a:t>
            </a:r>
            <a:r>
              <a:rPr sz="700" i="1" kern="0" spc="10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6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7, 8,</a:t>
            </a:r>
            <a:r>
              <a:rPr sz="700" i="1" kern="0" spc="8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6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(9)</a:t>
            </a:r>
            <a:endParaRPr sz="700" dirty="0">
              <a:latin typeface="Arial Narrow"/>
              <a:ea typeface="Arial Narrow"/>
              <a:cs typeface="Arial Narrow"/>
            </a:endParaRPr>
          </a:p>
        </p:txBody>
      </p:sp>
      <p:sp>
        <p:nvSpPr>
          <p:cNvPr id="496" name="textbox 496"/>
          <p:cNvSpPr/>
          <p:nvPr/>
        </p:nvSpPr>
        <p:spPr>
          <a:xfrm>
            <a:off x="288012" y="396005"/>
            <a:ext cx="4968240" cy="137160"/>
          </a:xfrm>
          <a:prstGeom prst="rect">
            <a:avLst/>
          </a:prstGeom>
          <a:solidFill>
            <a:srgbClr val="015AAA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4000"/>
              </a:lnSpc>
              <a:tabLst/>
            </a:pPr>
            <a:endParaRPr sz="200" dirty="0">
              <a:latin typeface="Arial"/>
              <a:ea typeface="Arial"/>
              <a:cs typeface="Arial"/>
            </a:endParaRPr>
          </a:p>
          <a:p>
            <a:pPr marL="33655" algn="l" rtl="0" eaLnBrk="0">
              <a:lnSpc>
                <a:spcPct val="89000"/>
              </a:lnSpc>
              <a:spcBef>
                <a:spcPts val="1"/>
              </a:spcBef>
              <a:tabLst/>
            </a:pPr>
            <a:r>
              <a:rPr sz="700" b="1" kern="0" spc="40" dirty="0">
                <a:solidFill>
                  <a:srgbClr val="FFFFFF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AGL.3 with </a:t>
            </a:r>
            <a:r>
              <a:rPr sz="700" b="1" kern="0" spc="30" dirty="0">
                <a:solidFill>
                  <a:srgbClr val="FFFFFF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8</a:t>
            </a:r>
            <a:r>
              <a:rPr sz="700" b="1" kern="0" spc="70" dirty="0">
                <a:solidFill>
                  <a:srgbClr val="FFFFFF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b="1" kern="0" spc="30" dirty="0">
                <a:solidFill>
                  <a:srgbClr val="FFFFFF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Base</a:t>
            </a:r>
            <a:r>
              <a:rPr sz="700" b="1" kern="0" spc="60" dirty="0">
                <a:solidFill>
                  <a:srgbClr val="FFFFFF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b="1" kern="0" spc="30" dirty="0">
                <a:solidFill>
                  <a:srgbClr val="FFFFFF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Practices</a:t>
            </a:r>
            <a:endParaRPr sz="700" dirty="0">
              <a:latin typeface="Arial Narrow"/>
              <a:ea typeface="Arial Narrow"/>
              <a:cs typeface="Arial Narrow"/>
            </a:endParaRPr>
          </a:p>
        </p:txBody>
      </p:sp>
      <p:sp>
        <p:nvSpPr>
          <p:cNvPr id="498" name="textbox 498"/>
          <p:cNvSpPr/>
          <p:nvPr/>
        </p:nvSpPr>
        <p:spPr>
          <a:xfrm>
            <a:off x="2725682" y="3644904"/>
            <a:ext cx="2543175" cy="1727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09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tabLst/>
            </a:pPr>
            <a:r>
              <a:rPr sz="500" b="1" kern="0" spc="1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40                                  </a:t>
            </a:r>
            <a:r>
              <a:rPr sz="500" b="1" kern="0" spc="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                                                                             </a:t>
            </a:r>
            <a:r>
              <a:rPr sz="1000" u="sng" kern="0" spc="0" dirty="0">
                <a:solidFill>
                  <a:srgbClr val="0E3654">
                    <a:alpha val="100000"/>
                  </a:srgbClr>
                </a:solidFill>
                <a:latin typeface="Arial"/>
                <a:ea typeface="Arial"/>
                <a:cs typeface="Arial"/>
              </a:rPr>
              <a:t>intacs</a:t>
            </a:r>
            <a:r>
              <a:rPr sz="1000" u="sng" kern="0" spc="0" dirty="0">
                <a:solidFill>
                  <a:srgbClr val="0E3654">
                    <a:alpha val="100000"/>
                  </a:srgbClr>
                </a:solidFill>
                <a:latin typeface="Arial"/>
                <a:ea typeface="Arial"/>
                <a:cs typeface="Arial"/>
              </a:rPr>
              <a:t>.</a:t>
            </a:r>
            <a:r>
              <a:rPr sz="1000" u="sng" kern="0" spc="-170" dirty="0">
                <a:solidFill>
                  <a:srgbClr val="0E365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u="sng" kern="0" spc="0" dirty="0">
                <a:solidFill>
                  <a:srgbClr val="0E3654">
                    <a:alpha val="100000"/>
                  </a:srgbClr>
                </a:solidFill>
                <a:latin typeface="Arial"/>
                <a:ea typeface="Arial"/>
                <a:cs typeface="Arial"/>
              </a:rPr>
              <a:t>infoul</a:t>
            </a:r>
            <a:r>
              <a:rPr sz="1000" kern="0" spc="0" dirty="0">
                <a:solidFill>
                  <a:srgbClr val="0E3654">
                    <a:alpha val="100000"/>
                  </a:srgbClr>
                </a:solidFill>
                <a:latin typeface="Arial"/>
                <a:ea typeface="Arial"/>
                <a:cs typeface="Arial"/>
              </a:rPr>
              <a:t>al</a:t>
            </a:r>
            <a:endParaRPr sz="1000" dirty="0">
              <a:latin typeface="Arial"/>
              <a:ea typeface="Arial"/>
              <a:cs typeface="Arial"/>
            </a:endParaRPr>
          </a:p>
        </p:txBody>
      </p:sp>
      <p:sp>
        <p:nvSpPr>
          <p:cNvPr id="500" name="textbox 500"/>
          <p:cNvSpPr/>
          <p:nvPr/>
        </p:nvSpPr>
        <p:spPr>
          <a:xfrm>
            <a:off x="1194082" y="3500902"/>
            <a:ext cx="3164205" cy="1181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96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6000"/>
              </a:lnSpc>
              <a:tabLst/>
            </a:pPr>
            <a:r>
              <a:rPr sz="800" b="1" kern="0" spc="160" dirty="0">
                <a:solidFill>
                  <a:srgbClr val="808285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DRAFT -</a:t>
            </a:r>
            <a:r>
              <a:rPr sz="800" b="1" kern="0" spc="140" dirty="0">
                <a:solidFill>
                  <a:srgbClr val="808285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800" b="1" kern="0" spc="160" dirty="0">
                <a:solidFill>
                  <a:srgbClr val="808285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REA</a:t>
            </a:r>
            <a:r>
              <a:rPr sz="800" b="1" kern="0" spc="150" dirty="0">
                <a:solidFill>
                  <a:srgbClr val="808285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DY FOR</a:t>
            </a:r>
            <a:r>
              <a:rPr sz="800" b="1" kern="0" spc="140" dirty="0">
                <a:solidFill>
                  <a:srgbClr val="808285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800" b="1" kern="0" spc="150" dirty="0">
                <a:solidFill>
                  <a:srgbClr val="808285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PILOTING</a:t>
            </a:r>
            <a:r>
              <a:rPr sz="800" b="1" kern="0" spc="140" dirty="0">
                <a:solidFill>
                  <a:srgbClr val="808285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800" b="1" kern="0" spc="150" dirty="0">
                <a:solidFill>
                  <a:srgbClr val="808285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-</a:t>
            </a:r>
            <a:r>
              <a:rPr sz="800" b="1" kern="0" spc="140" dirty="0">
                <a:solidFill>
                  <a:srgbClr val="808285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800" b="1" kern="0" spc="150" dirty="0">
                <a:solidFill>
                  <a:srgbClr val="808285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FEEDBACK WELCOME</a:t>
            </a:r>
            <a:endParaRPr sz="800" dirty="0">
              <a:latin typeface="Arial Narrow"/>
              <a:ea typeface="Arial Narrow"/>
              <a:cs typeface="Arial Narrow"/>
            </a:endParaRPr>
          </a:p>
        </p:txBody>
      </p:sp>
      <p:sp>
        <p:nvSpPr>
          <p:cNvPr id="502" name="textbox 502"/>
          <p:cNvSpPr/>
          <p:nvPr/>
        </p:nvSpPr>
        <p:spPr>
          <a:xfrm>
            <a:off x="337985" y="674210"/>
            <a:ext cx="161925" cy="9398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35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4000"/>
              </a:lnSpc>
              <a:tabLst/>
            </a:pPr>
            <a:r>
              <a:rPr sz="600" b="1" kern="0" spc="30" dirty="0">
                <a:solidFill>
                  <a:srgbClr val="FFFFFF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BP7</a:t>
            </a:r>
            <a:endParaRPr sz="600" dirty="0">
              <a:latin typeface="Arial Narrow"/>
              <a:ea typeface="Arial Narrow"/>
              <a:cs typeface="Arial Narrow"/>
            </a:endParaRPr>
          </a:p>
        </p:txBody>
      </p:sp>
      <p:sp>
        <p:nvSpPr>
          <p:cNvPr id="504" name="textbox 504"/>
          <p:cNvSpPr/>
          <p:nvPr/>
        </p:nvSpPr>
        <p:spPr>
          <a:xfrm>
            <a:off x="5226288" y="3775564"/>
            <a:ext cx="41275" cy="419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26"/>
              </a:lnSpc>
              <a:tabLst/>
            </a:pPr>
            <a:r>
              <a:rPr sz="100" kern="0" spc="20" dirty="0">
                <a:solidFill>
                  <a:srgbClr val="0E3654">
                    <a:alpha val="100000"/>
                  </a:srgbClr>
                </a:solidFill>
                <a:latin typeface="Arial"/>
                <a:ea typeface="Arial"/>
                <a:cs typeface="Arial"/>
              </a:rPr>
              <a:t>M</a:t>
            </a:r>
            <a:endParaRPr sz="100" dirty="0"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rect 506"/>
          <p:cNvSpPr/>
          <p:nvPr/>
        </p:nvSpPr>
        <p:spPr>
          <a:xfrm>
            <a:off x="287988" y="590388"/>
            <a:ext cx="4968714" cy="2700003"/>
          </a:xfrm>
          <a:prstGeom prst="rect">
            <a:avLst/>
          </a:prstGeom>
          <a:solidFill>
            <a:srgbClr val="E8EBF6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508" name="textbox 508"/>
          <p:cNvSpPr/>
          <p:nvPr/>
        </p:nvSpPr>
        <p:spPr>
          <a:xfrm>
            <a:off x="581302" y="604614"/>
            <a:ext cx="4599305" cy="156400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603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7145" indent="635" algn="l" rtl="0" eaLnBrk="0">
              <a:lnSpc>
                <a:spcPct val="111000"/>
              </a:lnSpc>
              <a:tabLst/>
            </a:pPr>
            <a:r>
              <a:rPr sz="700" b="1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Inspect and adapt.</a:t>
            </a:r>
            <a:r>
              <a:rPr sz="700" b="1" kern="0" spc="8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Insp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ect and adapt the quality assurance strategy</a:t>
            </a:r>
            <a:r>
              <a:rPr sz="700" kern="0" spc="6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based</a:t>
            </a: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on</a:t>
            </a: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short</a:t>
            </a:r>
            <a:r>
              <a:rPr sz="700" kern="0" spc="6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learning</a:t>
            </a:r>
            <a:r>
              <a:rPr sz="700" kern="0" spc="5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cycles</a:t>
            </a:r>
            <a:r>
              <a:rPr sz="700" kern="0" spc="2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within the</a:t>
            </a: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agile team</a:t>
            </a:r>
            <a:r>
              <a:rPr sz="700" kern="0" spc="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   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(of teams).</a:t>
            </a:r>
            <a:r>
              <a:rPr sz="700" kern="0" spc="6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[OUTCOM</a:t>
            </a:r>
            <a:r>
              <a:rPr sz="700" kern="0" spc="2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E</a:t>
            </a:r>
            <a:r>
              <a:rPr sz="700" kern="0" spc="9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2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1, 2]</a:t>
            </a:r>
            <a:endParaRPr sz="700" dirty="0">
              <a:latin typeface="Arial Narrow"/>
              <a:ea typeface="Arial Narrow"/>
              <a:cs typeface="Arial Narrow"/>
            </a:endParaRPr>
          </a:p>
          <a:p>
            <a:pPr marL="18415" algn="l" rtl="0" eaLnBrk="0">
              <a:lnSpc>
                <a:spcPct val="76000"/>
              </a:lnSpc>
              <a:spcBef>
                <a:spcPts val="221"/>
              </a:spcBef>
              <a:tabLst/>
            </a:pPr>
            <a:r>
              <a:rPr sz="700" b="1" kern="0" spc="3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Notes &amp;</a:t>
            </a:r>
            <a:r>
              <a:rPr sz="700" b="1" kern="0" spc="11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b="1" kern="0" spc="3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Definitions:</a:t>
            </a:r>
            <a:endParaRPr sz="700" dirty="0">
              <a:latin typeface="Arial Narrow"/>
              <a:ea typeface="Arial Narrow"/>
              <a:cs typeface="Arial Narrow"/>
            </a:endParaRPr>
          </a:p>
          <a:p>
            <a:pPr marL="111760" algn="l" rtl="0" eaLnBrk="0">
              <a:lnSpc>
                <a:spcPts val="1041"/>
              </a:lnSpc>
              <a:spcBef>
                <a:spcPts val="114"/>
              </a:spcBef>
              <a:tabLst/>
            </a:pP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.</a:t>
            </a:r>
            <a:r>
              <a:rPr sz="700" kern="0" spc="8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The quality strategy typ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ically considers different organizational levels of</a:t>
            </a:r>
            <a:r>
              <a:rPr sz="700" i="1" kern="0" spc="-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development</a:t>
            </a:r>
            <a:endParaRPr sz="700" dirty="0">
              <a:latin typeface="Arial Narrow"/>
              <a:ea typeface="Arial Narrow"/>
              <a:cs typeface="Arial Narrow"/>
            </a:endParaRPr>
          </a:p>
          <a:p>
            <a:pPr marL="180340" indent="-68580" algn="l" rtl="0" eaLnBrk="0">
              <a:lnSpc>
                <a:spcPct val="119000"/>
              </a:lnSpc>
              <a:spcBef>
                <a:spcPts val="1"/>
              </a:spcBef>
              <a:tabLst/>
            </a:pP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. </a:t>
            </a:r>
            <a:r>
              <a:rPr sz="700" i="1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Inspect and adapt event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s take place regularly in a collaborative</a:t>
            </a:r>
            <a:r>
              <a:rPr sz="700" i="1" kern="0" spc="7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way with</a:t>
            </a:r>
            <a:r>
              <a:rPr sz="700" i="1" kern="0" spc="5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the</a:t>
            </a:r>
            <a:r>
              <a:rPr sz="700" i="1" kern="0" spc="5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agile</a:t>
            </a:r>
            <a:r>
              <a:rPr sz="700" i="1" kern="0" spc="6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team</a:t>
            </a:r>
            <a:r>
              <a:rPr sz="700" i="1" kern="0" spc="7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(of</a:t>
            </a:r>
            <a:r>
              <a:rPr sz="700" i="1" kern="0" spc="-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teams)</a:t>
            </a:r>
            <a:r>
              <a:rPr sz="700" i="1" kern="0" spc="5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and relevant</a:t>
            </a:r>
            <a:r>
              <a:rPr sz="700" i="1" kern="0" spc="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              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stakeholders</a:t>
            </a:r>
            <a:endParaRPr sz="700" dirty="0">
              <a:latin typeface="Arial Narrow"/>
              <a:ea typeface="Arial Narrow"/>
              <a:cs typeface="Arial Narrow"/>
            </a:endParaRPr>
          </a:p>
          <a:p>
            <a:pPr marL="111760" algn="l" rtl="0" eaLnBrk="0">
              <a:lnSpc>
                <a:spcPts val="1000"/>
              </a:lnSpc>
              <a:tabLst/>
            </a:pP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.</a:t>
            </a:r>
            <a:r>
              <a:rPr sz="700" kern="0" spc="8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The learning aspects consider</a:t>
            </a:r>
            <a:r>
              <a:rPr sz="700" i="1" kern="0" spc="-2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multiple</a:t>
            </a:r>
            <a:r>
              <a:rPr sz="700" i="1" kern="0" spc="7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views, i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ncluding management, teams and customer</a:t>
            </a:r>
            <a:endParaRPr sz="700" dirty="0">
              <a:latin typeface="Arial Narrow"/>
              <a:ea typeface="Arial Narrow"/>
              <a:cs typeface="Arial Narrow"/>
            </a:endParaRPr>
          </a:p>
          <a:p>
            <a:pPr marL="180975" indent="-69215" algn="l" rtl="0" eaLnBrk="0">
              <a:lnSpc>
                <a:spcPct val="119000"/>
              </a:lnSpc>
              <a:spcBef>
                <a:spcPts val="1"/>
              </a:spcBef>
              <a:tabLst/>
            </a:pP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.</a:t>
            </a:r>
            <a:r>
              <a:rPr sz="700" kern="0" spc="8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The adaptations of</a:t>
            </a:r>
            <a:r>
              <a:rPr sz="700" i="1" kern="0" spc="-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quality strategy a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nd/or objectives are consistent with the organisation</a:t>
            </a:r>
            <a:r>
              <a:rPr sz="700" i="1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strategy and reflect customer</a:t>
            </a:r>
            <a:r>
              <a:rPr sz="700" i="1" kern="0" spc="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 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quality needs</a:t>
            </a:r>
            <a:endParaRPr sz="700" dirty="0">
              <a:latin typeface="Arial Narrow"/>
              <a:ea typeface="Arial Narrow"/>
              <a:cs typeface="Arial Narrow"/>
            </a:endParaRPr>
          </a:p>
          <a:p>
            <a:pPr algn="r" rtl="0" eaLnBrk="0">
              <a:lnSpc>
                <a:spcPts val="1041"/>
              </a:lnSpc>
              <a:tabLst/>
            </a:pP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.</a:t>
            </a:r>
            <a:r>
              <a:rPr sz="700" kern="0" spc="8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The adaptations and learni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ngs are reflected and made</a:t>
            </a:r>
            <a:r>
              <a:rPr sz="700" i="1" kern="0" spc="7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visible, e g in</a:t>
            </a:r>
            <a:r>
              <a:rPr sz="700" i="1" kern="0" spc="5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retrospectives</a:t>
            </a:r>
            <a:r>
              <a:rPr sz="700" i="1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by maintaining DoD</a:t>
            </a:r>
            <a:r>
              <a:rPr sz="700" i="1" kern="0" spc="5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and DoR</a:t>
            </a:r>
            <a:r>
              <a:rPr sz="700" i="1" kern="0" spc="5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criteria</a:t>
            </a:r>
            <a:endParaRPr sz="700" dirty="0">
              <a:latin typeface="Arial Narrow"/>
              <a:ea typeface="Arial Narrow"/>
              <a:cs typeface="Arial Narrow"/>
            </a:endParaRPr>
          </a:p>
          <a:p>
            <a:pPr marL="12700" algn="l" rtl="0" eaLnBrk="0">
              <a:lnSpc>
                <a:spcPct val="89000"/>
              </a:lnSpc>
              <a:spcBef>
                <a:spcPts val="459"/>
              </a:spcBef>
              <a:tabLst/>
            </a:pPr>
            <a:r>
              <a:rPr sz="700" b="1" kern="0" spc="4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Agile Work</a:t>
            </a:r>
            <a:r>
              <a:rPr sz="700" b="1" kern="0" spc="7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b="1" kern="0" spc="4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Products:</a:t>
            </a:r>
            <a:r>
              <a:rPr sz="700" b="1" kern="0" spc="3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Quality plan,</a:t>
            </a:r>
            <a:r>
              <a:rPr sz="700" kern="0" spc="-2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Agile quality strategy, Quality objectives,</a:t>
            </a:r>
            <a:r>
              <a:rPr sz="700" kern="0" spc="7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Meeting</a:t>
            </a:r>
            <a:r>
              <a:rPr sz="700" kern="0" spc="6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records</a:t>
            </a:r>
            <a:endParaRPr sz="700" dirty="0">
              <a:latin typeface="Arial Narrow"/>
              <a:ea typeface="Arial Narrow"/>
              <a:cs typeface="Arial Narrow"/>
            </a:endParaRPr>
          </a:p>
          <a:p>
            <a:pPr marL="15240" algn="l" rtl="0" eaLnBrk="0">
              <a:lnSpc>
                <a:spcPts val="1074"/>
              </a:lnSpc>
              <a:spcBef>
                <a:spcPts val="2"/>
              </a:spcBef>
              <a:tabLst/>
            </a:pPr>
            <a:r>
              <a:rPr sz="700" b="1" kern="0" spc="3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Supporting Agile</a:t>
            </a:r>
            <a:r>
              <a:rPr sz="700" b="1" kern="0" spc="7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b="1" kern="0" spc="3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Principles </a:t>
            </a:r>
            <a:r>
              <a:rPr sz="700" i="1" kern="0" spc="3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4,</a:t>
            </a:r>
            <a:r>
              <a:rPr sz="700" i="1" kern="0" spc="6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3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8,</a:t>
            </a:r>
            <a:r>
              <a:rPr sz="700" i="1" kern="0" spc="12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i="1" kern="0" spc="3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12</a:t>
            </a:r>
            <a:endParaRPr sz="700" dirty="0">
              <a:latin typeface="Arial Narrow"/>
              <a:ea typeface="Arial Narrow"/>
              <a:cs typeface="Arial Narrow"/>
            </a:endParaRPr>
          </a:p>
        </p:txBody>
      </p:sp>
      <p:sp>
        <p:nvSpPr>
          <p:cNvPr id="510" name="textbox 510"/>
          <p:cNvSpPr/>
          <p:nvPr/>
        </p:nvSpPr>
        <p:spPr>
          <a:xfrm>
            <a:off x="288012" y="396005"/>
            <a:ext cx="4968240" cy="137160"/>
          </a:xfrm>
          <a:prstGeom prst="rect">
            <a:avLst/>
          </a:prstGeom>
          <a:solidFill>
            <a:srgbClr val="015AAA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4000"/>
              </a:lnSpc>
              <a:tabLst/>
            </a:pPr>
            <a:endParaRPr sz="200" dirty="0">
              <a:latin typeface="Arial"/>
              <a:ea typeface="Arial"/>
              <a:cs typeface="Arial"/>
            </a:endParaRPr>
          </a:p>
          <a:p>
            <a:pPr marL="33655" algn="l" rtl="0" eaLnBrk="0">
              <a:lnSpc>
                <a:spcPct val="89000"/>
              </a:lnSpc>
              <a:spcBef>
                <a:spcPts val="1"/>
              </a:spcBef>
              <a:tabLst/>
            </a:pPr>
            <a:r>
              <a:rPr sz="700" b="1" kern="0" spc="40" dirty="0">
                <a:solidFill>
                  <a:srgbClr val="FFFFFF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AGL.3 with 8</a:t>
            </a:r>
            <a:r>
              <a:rPr sz="700" b="1" kern="0" spc="70" dirty="0">
                <a:solidFill>
                  <a:srgbClr val="FFFFFF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b="1" kern="0" spc="40" dirty="0">
                <a:solidFill>
                  <a:srgbClr val="FFFFFF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Ba</a:t>
            </a:r>
            <a:r>
              <a:rPr sz="700" b="1" kern="0" spc="30" dirty="0">
                <a:solidFill>
                  <a:srgbClr val="FFFFFF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se</a:t>
            </a:r>
            <a:r>
              <a:rPr sz="700" b="1" kern="0" spc="60" dirty="0">
                <a:solidFill>
                  <a:srgbClr val="FFFFFF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b="1" kern="0" spc="30" dirty="0">
                <a:solidFill>
                  <a:srgbClr val="FFFFFF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Practicesapt</a:t>
            </a:r>
            <a:endParaRPr sz="700" dirty="0">
              <a:latin typeface="Arial Narrow"/>
              <a:ea typeface="Arial Narrow"/>
              <a:cs typeface="Arial Narrow"/>
            </a:endParaRPr>
          </a:p>
        </p:txBody>
      </p:sp>
      <p:sp>
        <p:nvSpPr>
          <p:cNvPr id="512" name="textbox 512"/>
          <p:cNvSpPr/>
          <p:nvPr/>
        </p:nvSpPr>
        <p:spPr>
          <a:xfrm>
            <a:off x="2725682" y="3644904"/>
            <a:ext cx="2543175" cy="1727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09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tabLst/>
            </a:pPr>
            <a:r>
              <a:rPr sz="500" b="1" kern="0" spc="1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41                                  </a:t>
            </a:r>
            <a:r>
              <a:rPr sz="500" b="1" kern="0" spc="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                                                                             </a:t>
            </a:r>
            <a:r>
              <a:rPr sz="1000" u="sng" kern="0" spc="0" dirty="0">
                <a:solidFill>
                  <a:srgbClr val="0E3654">
                    <a:alpha val="100000"/>
                  </a:srgbClr>
                </a:solidFill>
                <a:latin typeface="Arial"/>
                <a:ea typeface="Arial"/>
                <a:cs typeface="Arial"/>
              </a:rPr>
              <a:t>intacs</a:t>
            </a:r>
            <a:r>
              <a:rPr sz="1000" u="sng" kern="0" spc="0" dirty="0">
                <a:solidFill>
                  <a:srgbClr val="0E3654">
                    <a:alpha val="100000"/>
                  </a:srgbClr>
                </a:solidFill>
                <a:latin typeface="Arial"/>
                <a:ea typeface="Arial"/>
                <a:cs typeface="Arial"/>
              </a:rPr>
              <a:t>.</a:t>
            </a:r>
            <a:r>
              <a:rPr sz="1000" u="sng" kern="0" spc="-170" dirty="0">
                <a:solidFill>
                  <a:srgbClr val="0E365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u="sng" kern="0" spc="0" dirty="0">
                <a:solidFill>
                  <a:srgbClr val="0E3654">
                    <a:alpha val="100000"/>
                  </a:srgbClr>
                </a:solidFill>
                <a:latin typeface="Arial"/>
                <a:ea typeface="Arial"/>
                <a:cs typeface="Arial"/>
              </a:rPr>
              <a:t>infoul</a:t>
            </a:r>
            <a:r>
              <a:rPr sz="1000" kern="0" spc="0" dirty="0">
                <a:solidFill>
                  <a:srgbClr val="0E3654">
                    <a:alpha val="100000"/>
                  </a:srgbClr>
                </a:solidFill>
                <a:latin typeface="Arial"/>
                <a:ea typeface="Arial"/>
                <a:cs typeface="Arial"/>
              </a:rPr>
              <a:t>al</a:t>
            </a:r>
            <a:endParaRPr sz="1000" dirty="0">
              <a:latin typeface="Arial"/>
              <a:ea typeface="Arial"/>
              <a:cs typeface="Arial"/>
            </a:endParaRPr>
          </a:p>
        </p:txBody>
      </p:sp>
      <p:sp>
        <p:nvSpPr>
          <p:cNvPr id="514" name="textbox 514"/>
          <p:cNvSpPr/>
          <p:nvPr/>
        </p:nvSpPr>
        <p:spPr>
          <a:xfrm>
            <a:off x="1194082" y="3500902"/>
            <a:ext cx="3164205" cy="1181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96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6000"/>
              </a:lnSpc>
              <a:tabLst/>
            </a:pPr>
            <a:r>
              <a:rPr sz="800" b="1" kern="0" spc="160" dirty="0">
                <a:solidFill>
                  <a:srgbClr val="808285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DRAFT -</a:t>
            </a:r>
            <a:r>
              <a:rPr sz="800" b="1" kern="0" spc="140" dirty="0">
                <a:solidFill>
                  <a:srgbClr val="808285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800" b="1" kern="0" spc="160" dirty="0">
                <a:solidFill>
                  <a:srgbClr val="808285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REA</a:t>
            </a:r>
            <a:r>
              <a:rPr sz="800" b="1" kern="0" spc="150" dirty="0">
                <a:solidFill>
                  <a:srgbClr val="808285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DY FOR</a:t>
            </a:r>
            <a:r>
              <a:rPr sz="800" b="1" kern="0" spc="140" dirty="0">
                <a:solidFill>
                  <a:srgbClr val="808285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800" b="1" kern="0" spc="150" dirty="0">
                <a:solidFill>
                  <a:srgbClr val="808285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PILOTING</a:t>
            </a:r>
            <a:r>
              <a:rPr sz="800" b="1" kern="0" spc="140" dirty="0">
                <a:solidFill>
                  <a:srgbClr val="808285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800" b="1" kern="0" spc="150" dirty="0">
                <a:solidFill>
                  <a:srgbClr val="808285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-</a:t>
            </a:r>
            <a:r>
              <a:rPr sz="800" b="1" kern="0" spc="140" dirty="0">
                <a:solidFill>
                  <a:srgbClr val="808285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800" b="1" kern="0" spc="150" dirty="0">
                <a:solidFill>
                  <a:srgbClr val="808285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FEEDBACK WELCOME</a:t>
            </a:r>
            <a:endParaRPr sz="800" dirty="0">
              <a:latin typeface="Arial Narrow"/>
              <a:ea typeface="Arial Narrow"/>
              <a:cs typeface="Arial Narrow"/>
            </a:endParaRPr>
          </a:p>
        </p:txBody>
      </p:sp>
      <p:sp>
        <p:nvSpPr>
          <p:cNvPr id="516" name="textbox 516"/>
          <p:cNvSpPr/>
          <p:nvPr/>
        </p:nvSpPr>
        <p:spPr>
          <a:xfrm>
            <a:off x="337985" y="673943"/>
            <a:ext cx="161925" cy="9461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56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5000"/>
              </a:lnSpc>
              <a:tabLst/>
            </a:pPr>
            <a:r>
              <a:rPr sz="600" b="1" kern="0" spc="30" dirty="0">
                <a:solidFill>
                  <a:srgbClr val="FFFFFF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BP8</a:t>
            </a:r>
            <a:endParaRPr sz="600" dirty="0">
              <a:latin typeface="Arial Narrow"/>
              <a:ea typeface="Arial Narrow"/>
              <a:cs typeface="Arial Narrow"/>
            </a:endParaRPr>
          </a:p>
        </p:txBody>
      </p:sp>
      <p:sp>
        <p:nvSpPr>
          <p:cNvPr id="518" name="textbox 518"/>
          <p:cNvSpPr/>
          <p:nvPr/>
        </p:nvSpPr>
        <p:spPr>
          <a:xfrm>
            <a:off x="5226288" y="3775564"/>
            <a:ext cx="41275" cy="419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26"/>
              </a:lnSpc>
              <a:tabLst/>
            </a:pPr>
            <a:r>
              <a:rPr sz="100" kern="0" spc="20" dirty="0">
                <a:solidFill>
                  <a:srgbClr val="0E3654">
                    <a:alpha val="100000"/>
                  </a:srgbClr>
                </a:solidFill>
                <a:latin typeface="Arial"/>
                <a:ea typeface="Arial"/>
                <a:cs typeface="Arial"/>
              </a:rPr>
              <a:t>M</a:t>
            </a:r>
            <a:endParaRPr sz="100" dirty="0"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textbox 520"/>
          <p:cNvSpPr/>
          <p:nvPr/>
        </p:nvSpPr>
        <p:spPr>
          <a:xfrm>
            <a:off x="278741" y="383304"/>
            <a:ext cx="4983480" cy="321754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90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5240" algn="l" rtl="0" eaLnBrk="0">
              <a:lnSpc>
                <a:spcPct val="88000"/>
              </a:lnSpc>
              <a:tabLst/>
            </a:pPr>
            <a:r>
              <a:rPr sz="800" b="1" kern="0" spc="5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Intacs™ working group Agile </a:t>
            </a:r>
            <a:r>
              <a:rPr sz="800" b="1" kern="0" spc="4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SPICE™</a:t>
            </a:r>
            <a:endParaRPr sz="800" dirty="0">
              <a:latin typeface="Arial Narrow"/>
              <a:ea typeface="Arial Narrow"/>
              <a:cs typeface="Arial Narrow"/>
            </a:endParaRPr>
          </a:p>
          <a:p>
            <a:pPr marL="15875" algn="l" rtl="0" eaLnBrk="0">
              <a:lnSpc>
                <a:spcPct val="88000"/>
              </a:lnSpc>
              <a:spcBef>
                <a:spcPts val="922"/>
              </a:spcBef>
              <a:tabLst/>
            </a:pPr>
            <a:r>
              <a:rPr sz="800" b="1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Lead</a:t>
            </a:r>
            <a:r>
              <a:rPr sz="800" b="1" kern="0" spc="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                            </a:t>
            </a:r>
            <a:r>
              <a:rPr sz="8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Christian Knüvener (</a:t>
            </a:r>
            <a:r>
              <a:rPr sz="8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  <a:hlinkClick xmlns:r="http://schemas.openxmlformats.org/officeDocument/2006/relationships" r:id="rId2" tooltip="">
                  <a:extLst>
                    <a:ext uri="{DAF060AB-1E55-43B9-8AAB-6FB025537F2F}">
                      <wpsdc:hlinkClr xmlns:wpsdc="http://www.wps.cn/officeDocument/2017/drawingmlCustomData" val="231F20"/>
                      <wpsdc:folHlinkClr xmlns:wpsdc="http://www.wps.cn/officeDocument/2017/drawingmlCustomData" val="231F20"/>
                      <wpsdc:hlinkUnderline xmlns:wpsdc="http://www.wps.cn/officeDocument/2017/drawingmlCustomData" val="0"/>
                    </a:ext>
                  </a:extLst>
                </a:hlinkClick>
              </a:rPr>
              <a:t>christian.knuevener@k</a:t>
            </a:r>
            <a:r>
              <a:rPr sz="8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  <a:hlinkClick xmlns:r="http://schemas.openxmlformats.org/officeDocument/2006/relationships" r:id="rId2" tooltip="">
                  <a:extLst>
                    <a:ext uri="{DAF060AB-1E55-43B9-8AAB-6FB025537F2F}">
                      <wpsdc:hlinkClr xmlns:wpsdc="http://www.wps.cn/officeDocument/2017/drawingmlCustomData" val="231F20"/>
                      <wpsdc:folHlinkClr xmlns:wpsdc="http://www.wps.cn/officeDocument/2017/drawingmlCustomData" val="231F20"/>
                      <wpsdc:hlinkUnderline xmlns:wpsdc="http://www.wps.cn/officeDocument/2017/drawingmlCustomData" val="0"/>
                    </a:ext>
                  </a:extLst>
                </a:hlinkClick>
              </a:rPr>
              <a:t>nuevenermackert.com</a:t>
            </a:r>
            <a:r>
              <a:rPr sz="8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)</a:t>
            </a:r>
            <a:endParaRPr sz="800" dirty="0">
              <a:latin typeface="Arial Narrow"/>
              <a:ea typeface="Arial Narrow"/>
              <a:cs typeface="Arial Narrow"/>
            </a:endParaRPr>
          </a:p>
          <a:p>
            <a:pPr marL="13334" algn="l" rtl="0" eaLnBrk="0">
              <a:lnSpc>
                <a:spcPct val="88000"/>
              </a:lnSpc>
              <a:spcBef>
                <a:spcPts val="922"/>
              </a:spcBef>
              <a:tabLst/>
            </a:pPr>
            <a:r>
              <a:rPr sz="800" b="1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Co-Lead                    </a:t>
            </a:r>
            <a:r>
              <a:rPr sz="8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Ch</a:t>
            </a:r>
            <a:r>
              <a:rPr sz="8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ristian Hertneck</a:t>
            </a:r>
            <a:r>
              <a:rPr sz="800" kern="0" spc="6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8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(</a:t>
            </a:r>
            <a:r>
              <a:rPr sz="8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  <a:hlinkClick xmlns:r="http://schemas.openxmlformats.org/officeDocument/2006/relationships" r:id="rId3" tooltip="">
                  <a:extLst>
                    <a:ext uri="{DAF060AB-1E55-43B9-8AAB-6FB025537F2F}">
                      <wpsdc:hlinkClr xmlns:wpsdc="http://www.wps.cn/officeDocument/2017/drawingmlCustomData" val="231F20"/>
                      <wpsdc:folHlinkClr xmlns:wpsdc="http://www.wps.cn/officeDocument/2017/drawingmlCustomData" val="231F20"/>
                      <wpsdc:hlinkUnderline xmlns:wpsdc="http://www.wps.cn/officeDocument/2017/drawingmlCustomData" val="0"/>
                    </a:ext>
                  </a:extLst>
                </a:hlinkClick>
              </a:rPr>
              <a:t>christian.hertneck@kuglermaag.com</a:t>
            </a:r>
            <a:r>
              <a:rPr sz="8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)</a:t>
            </a:r>
            <a:endParaRPr sz="800" dirty="0">
              <a:latin typeface="Arial Narrow"/>
              <a:ea typeface="Arial Narrow"/>
              <a:cs typeface="Arial Narrow"/>
            </a:endParaRPr>
          </a:p>
          <a:p>
            <a:pPr marL="15875" algn="l" rtl="0" eaLnBrk="0">
              <a:lnSpc>
                <a:spcPct val="89000"/>
              </a:lnSpc>
              <a:spcBef>
                <a:spcPts val="911"/>
              </a:spcBef>
              <a:tabLst/>
            </a:pPr>
            <a:r>
              <a:rPr sz="800" b="1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Extended Team        </a:t>
            </a:r>
            <a:r>
              <a:rPr sz="8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Alexander De</a:t>
            </a:r>
            <a:r>
              <a:rPr sz="8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8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Jong</a:t>
            </a:r>
            <a:r>
              <a:rPr sz="800" kern="0" spc="6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8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(KMC),</a:t>
            </a:r>
            <a:r>
              <a:rPr sz="800" kern="0" spc="-2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8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Annu</a:t>
            </a:r>
            <a:r>
              <a:rPr sz="800" kern="0" spc="6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8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George</a:t>
            </a:r>
            <a:r>
              <a:rPr sz="800" kern="0" spc="6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8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(</a:t>
            </a:r>
            <a:r>
              <a:rPr sz="8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Aptiv),</a:t>
            </a:r>
            <a:r>
              <a:rPr sz="800" kern="0" spc="5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8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Carola</a:t>
            </a:r>
            <a:r>
              <a:rPr sz="800" kern="0" spc="5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8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Schweizer</a:t>
            </a:r>
            <a:r>
              <a:rPr sz="800" kern="0" spc="5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8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(KMC),</a:t>
            </a:r>
            <a:r>
              <a:rPr sz="800" kern="0" spc="6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8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Cenk Yazer</a:t>
            </a:r>
            <a:r>
              <a:rPr sz="800" kern="0" spc="5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8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(KMC),</a:t>
            </a:r>
            <a:endParaRPr sz="800" dirty="0">
              <a:latin typeface="Arial Narrow"/>
              <a:ea typeface="Arial Narrow"/>
              <a:cs typeface="Arial Narrow"/>
            </a:endParaRPr>
          </a:p>
          <a:p>
            <a:pPr marL="927735" algn="l" rtl="0" eaLnBrk="0">
              <a:lnSpc>
                <a:spcPct val="89000"/>
              </a:lnSpc>
              <a:spcBef>
                <a:spcPts val="345"/>
              </a:spcBef>
              <a:tabLst/>
            </a:pPr>
            <a:r>
              <a:rPr sz="8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Claudia Salazar Dorn (Knüvener</a:t>
            </a:r>
            <a:r>
              <a:rPr sz="8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Mackert),</a:t>
            </a:r>
            <a:r>
              <a:rPr sz="800" kern="0" spc="7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8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Dominik</a:t>
            </a:r>
            <a:r>
              <a:rPr sz="800" kern="0" spc="8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8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Feurer (Porsche),</a:t>
            </a:r>
            <a:r>
              <a:rPr sz="800" kern="0" spc="8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8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Florian</a:t>
            </a:r>
            <a:r>
              <a:rPr sz="800" kern="0" spc="7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8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Kneis (KMC),</a:t>
            </a:r>
            <a:endParaRPr sz="800" dirty="0">
              <a:latin typeface="Arial Narrow"/>
              <a:ea typeface="Arial Narrow"/>
              <a:cs typeface="Arial Narrow"/>
            </a:endParaRPr>
          </a:p>
          <a:p>
            <a:pPr marL="930275" algn="l" rtl="0" eaLnBrk="0">
              <a:lnSpc>
                <a:spcPct val="88000"/>
              </a:lnSpc>
              <a:spcBef>
                <a:spcPts val="356"/>
              </a:spcBef>
              <a:tabLst/>
            </a:pPr>
            <a:r>
              <a:rPr sz="8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H.D.</a:t>
            </a:r>
            <a:r>
              <a:rPr sz="800" kern="0" spc="7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8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Müller,</a:t>
            </a:r>
            <a:r>
              <a:rPr sz="800" kern="0" spc="7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8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H</a:t>
            </a:r>
            <a:r>
              <a:rPr sz="8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endrik</a:t>
            </a:r>
            <a:r>
              <a:rPr sz="800" kern="0" spc="7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8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Meyl (MunichSafety),</a:t>
            </a:r>
            <a:r>
              <a:rPr sz="800" kern="0" spc="8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8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Klaus</a:t>
            </a:r>
            <a:r>
              <a:rPr sz="800" kern="0" spc="7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8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Hörmann (KMC),</a:t>
            </a:r>
            <a:r>
              <a:rPr sz="800" kern="0" spc="7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8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Le-Roy Graeff (Student),</a:t>
            </a:r>
            <a:endParaRPr sz="800" dirty="0">
              <a:latin typeface="Arial Narrow"/>
              <a:ea typeface="Arial Narrow"/>
              <a:cs typeface="Arial Narrow"/>
            </a:endParaRPr>
          </a:p>
          <a:p>
            <a:pPr marL="930275" algn="l" rtl="0" eaLnBrk="0">
              <a:lnSpc>
                <a:spcPct val="89000"/>
              </a:lnSpc>
              <a:spcBef>
                <a:spcPts val="345"/>
              </a:spcBef>
              <a:tabLst/>
            </a:pPr>
            <a:r>
              <a:rPr sz="8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Niclas</a:t>
            </a:r>
            <a:r>
              <a:rPr sz="800" kern="0" spc="7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8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Knapp (Bosch),</a:t>
            </a:r>
            <a:r>
              <a:rPr sz="800" kern="0" spc="7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8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Peter Petersen (Sharpen360),</a:t>
            </a:r>
            <a:r>
              <a:rPr sz="800" kern="0" spc="8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8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Reinhold Volk (KMC),</a:t>
            </a:r>
            <a:r>
              <a:rPr sz="800" kern="0" spc="7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8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Rajesh</a:t>
            </a:r>
            <a:r>
              <a:rPr sz="800" kern="0" spc="6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8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Ganji</a:t>
            </a:r>
            <a:r>
              <a:rPr sz="800" kern="0" spc="6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8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(ZF),</a:t>
            </a:r>
            <a:endParaRPr sz="800" dirty="0">
              <a:latin typeface="Arial Narrow"/>
              <a:ea typeface="Arial Narrow"/>
              <a:cs typeface="Arial Narrow"/>
            </a:endParaRPr>
          </a:p>
          <a:p>
            <a:pPr marL="927735" indent="2540" algn="l" rtl="0" eaLnBrk="0">
              <a:lnSpc>
                <a:spcPct val="119000"/>
              </a:lnSpc>
              <a:spcBef>
                <a:spcPts val="139"/>
              </a:spcBef>
              <a:tabLst/>
            </a:pPr>
            <a:r>
              <a:rPr sz="8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Rocio</a:t>
            </a:r>
            <a:r>
              <a:rPr sz="800" kern="0" spc="7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8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Rojas (KMC),</a:t>
            </a:r>
            <a:r>
              <a:rPr sz="800" kern="0" spc="8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8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Rüdiger Bayer (KnüvenerMacker</a:t>
            </a:r>
            <a:r>
              <a:rPr sz="8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t),</a:t>
            </a:r>
            <a:r>
              <a:rPr sz="800" kern="0" spc="7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8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Rüdiger Heimgärtner (KnüvenerMackert),</a:t>
            </a:r>
            <a:r>
              <a:rPr sz="800" kern="0" spc="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8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Sergej Weber (KMC), Stefan</a:t>
            </a:r>
            <a:r>
              <a:rPr sz="8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Weber (Continental), Stephan</a:t>
            </a:r>
            <a:r>
              <a:rPr sz="800" kern="0" spc="7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8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Müller (T-Systems), Tobias</a:t>
            </a:r>
            <a:r>
              <a:rPr sz="800" kern="0" spc="7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8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Maier</a:t>
            </a:r>
            <a:endParaRPr sz="800" dirty="0">
              <a:latin typeface="Arial Narrow"/>
              <a:ea typeface="Arial Narrow"/>
              <a:cs typeface="Arial Narrow"/>
            </a:endParaRPr>
          </a:p>
          <a:p>
            <a:pPr marL="929005" algn="l" rtl="0" eaLnBrk="0">
              <a:lnSpc>
                <a:spcPct val="88000"/>
              </a:lnSpc>
              <a:spcBef>
                <a:spcPts val="331"/>
              </a:spcBef>
              <a:tabLst/>
            </a:pPr>
            <a:r>
              <a:rPr sz="8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(MethodPark)</a:t>
            </a:r>
            <a:endParaRPr sz="800" dirty="0">
              <a:latin typeface="Arial Narrow"/>
              <a:ea typeface="Arial Narrow"/>
              <a:cs typeface="Arial Narrow"/>
            </a:endParaRPr>
          </a:p>
          <a:p>
            <a:pPr marL="15240" algn="l" rtl="0" eaLnBrk="0">
              <a:lnSpc>
                <a:spcPct val="89000"/>
              </a:lnSpc>
              <a:spcBef>
                <a:spcPts val="1154"/>
              </a:spcBef>
              <a:tabLst/>
            </a:pPr>
            <a:r>
              <a:rPr sz="700" b="1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Reviewers                     </a:t>
            </a:r>
            <a:r>
              <a:rPr sz="8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Achim</a:t>
            </a:r>
            <a:r>
              <a:rPr sz="800" kern="0" spc="6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8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G</a:t>
            </a:r>
            <a:r>
              <a:rPr sz="8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erber</a:t>
            </a:r>
            <a:r>
              <a:rPr sz="800" kern="0" spc="5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8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(KnüvenerMackert),</a:t>
            </a:r>
            <a:r>
              <a:rPr sz="800" kern="0" spc="-2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8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Alexander</a:t>
            </a:r>
            <a:r>
              <a:rPr sz="800" kern="0" spc="6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8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Mackert</a:t>
            </a:r>
            <a:r>
              <a:rPr sz="800" kern="0" spc="6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8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(KnüvenerMackert),</a:t>
            </a:r>
            <a:r>
              <a:rPr sz="800" kern="0" spc="7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8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Lars</a:t>
            </a:r>
            <a:r>
              <a:rPr sz="800" kern="0" spc="8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8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Dittmann</a:t>
            </a:r>
            <a:r>
              <a:rPr sz="800" kern="0" spc="6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8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(VW),</a:t>
            </a:r>
            <a:endParaRPr sz="800" dirty="0">
              <a:latin typeface="Arial Narrow"/>
              <a:ea typeface="Arial Narrow"/>
              <a:cs typeface="Arial Narrow"/>
            </a:endParaRPr>
          </a:p>
          <a:p>
            <a:pPr marL="927735" algn="l" rtl="0" eaLnBrk="0">
              <a:lnSpc>
                <a:spcPct val="88000"/>
              </a:lnSpc>
              <a:spcBef>
                <a:spcPts val="356"/>
              </a:spcBef>
              <a:tabLst/>
            </a:pPr>
            <a:r>
              <a:rPr sz="8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Stefan Web</a:t>
            </a:r>
            <a:r>
              <a:rPr sz="8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er (Continental)</a:t>
            </a:r>
            <a:endParaRPr sz="800" dirty="0">
              <a:latin typeface="Arial Narrow"/>
              <a:ea typeface="Arial Narrow"/>
              <a:cs typeface="Arial Narrow"/>
            </a:endParaRPr>
          </a:p>
          <a:p>
            <a:pPr marL="15875" algn="l" rtl="0" eaLnBrk="0">
              <a:lnSpc>
                <a:spcPct val="76000"/>
              </a:lnSpc>
              <a:spcBef>
                <a:spcPts val="1054"/>
              </a:spcBef>
              <a:tabLst/>
            </a:pPr>
            <a:r>
              <a:rPr sz="800" b="1" kern="0" spc="4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References</a:t>
            </a:r>
            <a:endParaRPr sz="800" dirty="0">
              <a:latin typeface="Arial Narrow"/>
              <a:ea typeface="Arial Narrow"/>
              <a:cs typeface="Arial Narrow"/>
            </a:endParaRPr>
          </a:p>
          <a:p>
            <a:pPr marL="14605" algn="l" rtl="0" eaLnBrk="0">
              <a:lnSpc>
                <a:spcPct val="90000"/>
              </a:lnSpc>
              <a:spcBef>
                <a:spcPts val="906"/>
              </a:spcBef>
              <a:tabLst/>
            </a:pP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[1] Clarifying</a:t>
            </a:r>
            <a:r>
              <a:rPr sz="700" kern="0" spc="7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Myths with</a:t>
            </a:r>
            <a:r>
              <a:rPr sz="700" kern="0" spc="7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Process</a:t>
            </a:r>
            <a:r>
              <a:rPr sz="700" kern="0" spc="7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Maturity</a:t>
            </a:r>
            <a:r>
              <a:rPr sz="700" kern="0" spc="6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Models vs.</a:t>
            </a:r>
            <a:r>
              <a:rPr sz="700" kern="0" spc="-1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Agile (Besemer,</a:t>
            </a:r>
            <a:r>
              <a:rPr sz="700" kern="0" spc="7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Karasch,</a:t>
            </a:r>
            <a:r>
              <a:rPr sz="700" kern="0" spc="7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Metz,</a:t>
            </a:r>
            <a:r>
              <a:rPr sz="700" kern="0" spc="7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Pfeffer), 2014:</a:t>
            </a:r>
            <a:endParaRPr sz="700" dirty="0">
              <a:latin typeface="Arial Narrow"/>
              <a:ea typeface="Arial Narrow"/>
              <a:cs typeface="Arial Narrow"/>
            </a:endParaRPr>
          </a:p>
          <a:p>
            <a:pPr marL="12700" algn="l" rtl="0" eaLnBrk="0">
              <a:lnSpc>
                <a:spcPct val="90000"/>
              </a:lnSpc>
              <a:spcBef>
                <a:spcPts val="244"/>
              </a:spcBef>
              <a:tabLst/>
            </a:pPr>
            <a:r>
              <a:rPr sz="700" b="1" i="1" kern="0" spc="4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  <a:hlinkClick xmlns:r="http://schemas.openxmlformats.org/officeDocument/2006/relationships" r:id="rId4" tooltip="">
                  <a:extLst>
                    <a:ext uri="{DAF060AB-1E55-43B9-8AAB-6FB025537F2F}">
                      <wpsdc:hlinkClr xmlns:wpsdc="http://www.wps.cn/officeDocument/2017/drawingmlCustomData" val="015AAA"/>
                      <wpsdc:folHlinkClr xmlns:wpsdc="http://www.wps.cn/officeDocument/2017/drawingmlCustomData" val="015AAA"/>
                      <wpsdc:hlinkUnderline xmlns:wpsdc="http://www.wps.cn/officeDocument/2017/drawingmlCustomData" val="0"/>
                    </a:ext>
                  </a:extLst>
                </a:hlinkClick>
              </a:rPr>
              <a:t>https://www.intacs.info/index.php/download.forms/download.directory/newsletter/465.white.paper.spice.and</a:t>
            </a:r>
            <a:r>
              <a:rPr sz="700" b="1" i="1" kern="0" spc="3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  <a:hlinkClick xmlns:r="http://schemas.openxmlformats.org/officeDocument/2006/relationships" r:id="rId4" tooltip="">
                  <a:extLst>
                    <a:ext uri="{DAF060AB-1E55-43B9-8AAB-6FB025537F2F}">
                      <wpsdc:hlinkClr xmlns:wpsdc="http://www.wps.cn/officeDocument/2017/drawingmlCustomData" val="015AAA"/>
                      <wpsdc:folHlinkClr xmlns:wpsdc="http://www.wps.cn/officeDocument/2017/drawingmlCustomData" val="015AAA"/>
                      <wpsdc:hlinkUnderline xmlns:wpsdc="http://www.wps.cn/officeDocument/2017/drawingmlCustomData" val="0"/>
                    </a:ext>
                  </a:extLst>
                </a:hlinkClick>
              </a:rPr>
              <a:t>.agile/file</a:t>
            </a:r>
            <a:endParaRPr sz="700" dirty="0">
              <a:latin typeface="Arial Narrow"/>
              <a:ea typeface="Arial Narrow"/>
              <a:cs typeface="Arial Narrow"/>
            </a:endParaRPr>
          </a:p>
          <a:p>
            <a:pPr marL="14605" algn="l" rtl="0" eaLnBrk="0">
              <a:lnSpc>
                <a:spcPct val="89000"/>
              </a:lnSpc>
              <a:spcBef>
                <a:spcPts val="811"/>
              </a:spcBef>
              <a:tabLst/>
            </a:pP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[2]</a:t>
            </a:r>
            <a:r>
              <a:rPr sz="700" kern="0" spc="-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Automotive SPICE</a:t>
            </a:r>
            <a:r>
              <a:rPr sz="700" kern="0" spc="7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Proc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ess</a:t>
            </a:r>
            <a:r>
              <a:rPr sz="700" kern="0" spc="-1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Assessment /</a:t>
            </a:r>
            <a:r>
              <a:rPr sz="700" kern="0" spc="7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Reference</a:t>
            </a:r>
            <a:r>
              <a:rPr sz="700" kern="0" spc="7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Model 3.1</a:t>
            </a:r>
            <a:endParaRPr sz="700" dirty="0">
              <a:latin typeface="Arial Narrow"/>
              <a:ea typeface="Arial Narrow"/>
              <a:cs typeface="Arial Narrow"/>
            </a:endParaRPr>
          </a:p>
          <a:p>
            <a:pPr marL="12700" algn="l" rtl="0" eaLnBrk="0">
              <a:lnSpc>
                <a:spcPct val="89000"/>
              </a:lnSpc>
              <a:spcBef>
                <a:spcPts val="252"/>
              </a:spcBef>
              <a:tabLst/>
            </a:pPr>
            <a:r>
              <a:rPr sz="700" b="1" i="1" kern="0" spc="4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  <a:hlinkClick xmlns:r="http://schemas.openxmlformats.org/officeDocument/2006/relationships" r:id="rId5" tooltip="">
                  <a:extLst>
                    <a:ext uri="{DAF060AB-1E55-43B9-8AAB-6FB025537F2F}">
                      <wpsdc:hlinkClr xmlns:wpsdc="http://www.wps.cn/officeDocument/2017/drawingmlCustomData" val="015AAA"/>
                      <wpsdc:folHlinkClr xmlns:wpsdc="http://www.wps.cn/officeDocument/2017/drawingmlCustomData" val="015AAA"/>
                      <wpsdc:hlinkUnderline xmlns:wpsdc="http://www.wps.cn/officeDocument/2017/drawingmlCustomData" val="0"/>
                    </a:ext>
                  </a:extLst>
                </a:hlinkClick>
              </a:rPr>
              <a:t>http://www.automotivespice.com/fileadmin/software.download/AutomotiveSPICE_PAM_31.pdf</a:t>
            </a:r>
            <a:endParaRPr sz="700" dirty="0">
              <a:latin typeface="Arial Narrow"/>
              <a:ea typeface="Arial Narrow"/>
              <a:cs typeface="Arial Narrow"/>
            </a:endParaRPr>
          </a:p>
          <a:p>
            <a:pPr algn="l" rtl="0" eaLnBrk="0">
              <a:lnSpc>
                <a:spcPct val="115000"/>
              </a:lnSpc>
              <a:tabLst/>
            </a:pPr>
            <a:endParaRPr sz="600" dirty="0">
              <a:latin typeface="Arial"/>
              <a:ea typeface="Arial"/>
              <a:cs typeface="Arial"/>
            </a:endParaRPr>
          </a:p>
          <a:p>
            <a:pPr marL="14605" algn="l" rtl="0" eaLnBrk="0">
              <a:lnSpc>
                <a:spcPct val="89000"/>
              </a:lnSpc>
              <a:spcBef>
                <a:spcPts val="2"/>
              </a:spcBef>
              <a:tabLst/>
            </a:pP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[3]</a:t>
            </a:r>
            <a:r>
              <a:rPr sz="700" kern="0" spc="-2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Agile</a:t>
            </a:r>
            <a:r>
              <a:rPr sz="700" kern="0" spc="7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Manifesto: </a:t>
            </a:r>
            <a:r>
              <a:rPr sz="700" b="1" i="1" kern="0" spc="4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  <a:hlinkClick xmlns:r="http://schemas.openxmlformats.org/officeDocument/2006/relationships" r:id="rId6" tooltip="">
                  <a:extLst>
                    <a:ext uri="{DAF060AB-1E55-43B9-8AAB-6FB025537F2F}">
                      <wpsdc:hlinkClr xmlns:wpsdc="http://www.wps.cn/officeDocument/2017/drawingmlCustomData" val="015AAA"/>
                      <wpsdc:folHlinkClr xmlns:wpsdc="http://www.wps.cn/officeDocument/2017/drawingmlCustomData" val="015AAA"/>
                      <wpsdc:hlinkUnderline xmlns:wpsdc="http://www.wps.cn/officeDocument/2017/drawingmlCustomData" val="0"/>
                    </a:ext>
                  </a:extLst>
                </a:hlinkClick>
              </a:rPr>
              <a:t>http</a:t>
            </a:r>
            <a:r>
              <a:rPr sz="700" b="1" i="1" kern="0" spc="3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  <a:hlinkClick xmlns:r="http://schemas.openxmlformats.org/officeDocument/2006/relationships" r:id="rId6" tooltip="">
                  <a:extLst>
                    <a:ext uri="{DAF060AB-1E55-43B9-8AAB-6FB025537F2F}">
                      <wpsdc:hlinkClr xmlns:wpsdc="http://www.wps.cn/officeDocument/2017/drawingmlCustomData" val="015AAA"/>
                      <wpsdc:folHlinkClr xmlns:wpsdc="http://www.wps.cn/officeDocument/2017/drawingmlCustomData" val="015AAA"/>
                      <wpsdc:hlinkUnderline xmlns:wpsdc="http://www.wps.cn/officeDocument/2017/drawingmlCustomData" val="0"/>
                    </a:ext>
                  </a:extLst>
                </a:hlinkClick>
              </a:rPr>
              <a:t>://agilemanifesto.org/principles.html</a:t>
            </a:r>
            <a:endParaRPr sz="700" dirty="0">
              <a:latin typeface="Arial Narrow"/>
              <a:ea typeface="Arial Narrow"/>
              <a:cs typeface="Arial Narrow"/>
            </a:endParaRPr>
          </a:p>
        </p:txBody>
      </p:sp>
      <p:sp>
        <p:nvSpPr>
          <p:cNvPr id="522" name="textbox 522"/>
          <p:cNvSpPr/>
          <p:nvPr/>
        </p:nvSpPr>
        <p:spPr>
          <a:xfrm>
            <a:off x="2725682" y="3644904"/>
            <a:ext cx="2543175" cy="1727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09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tabLst/>
            </a:pPr>
            <a:r>
              <a:rPr sz="500" b="1" kern="0" spc="1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42                                  </a:t>
            </a:r>
            <a:r>
              <a:rPr sz="500" b="1" kern="0" spc="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                                                                             </a:t>
            </a:r>
            <a:r>
              <a:rPr sz="1000" u="sng" kern="0" spc="0" dirty="0">
                <a:solidFill>
                  <a:srgbClr val="0E3654">
                    <a:alpha val="100000"/>
                  </a:srgbClr>
                </a:solidFill>
                <a:latin typeface="Arial"/>
                <a:ea typeface="Arial"/>
                <a:cs typeface="Arial"/>
              </a:rPr>
              <a:t>intacs</a:t>
            </a:r>
            <a:r>
              <a:rPr sz="1000" u="sng" kern="0" spc="0" dirty="0">
                <a:solidFill>
                  <a:srgbClr val="0E3654">
                    <a:alpha val="100000"/>
                  </a:srgbClr>
                </a:solidFill>
                <a:latin typeface="Arial"/>
                <a:ea typeface="Arial"/>
                <a:cs typeface="Arial"/>
              </a:rPr>
              <a:t>.</a:t>
            </a:r>
            <a:r>
              <a:rPr sz="1000" u="sng" kern="0" spc="-170" dirty="0">
                <a:solidFill>
                  <a:srgbClr val="0E365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u="sng" kern="0" spc="0" dirty="0">
                <a:solidFill>
                  <a:srgbClr val="0E3654">
                    <a:alpha val="100000"/>
                  </a:srgbClr>
                </a:solidFill>
                <a:latin typeface="Arial"/>
                <a:ea typeface="Arial"/>
                <a:cs typeface="Arial"/>
              </a:rPr>
              <a:t>infoul</a:t>
            </a:r>
            <a:r>
              <a:rPr sz="1000" kern="0" spc="0" dirty="0">
                <a:solidFill>
                  <a:srgbClr val="0E3654">
                    <a:alpha val="100000"/>
                  </a:srgbClr>
                </a:solidFill>
                <a:latin typeface="Arial"/>
                <a:ea typeface="Arial"/>
                <a:cs typeface="Arial"/>
              </a:rPr>
              <a:t>al</a:t>
            </a:r>
            <a:endParaRPr sz="1000" dirty="0">
              <a:latin typeface="Arial"/>
              <a:ea typeface="Arial"/>
              <a:cs typeface="Arial"/>
            </a:endParaRPr>
          </a:p>
        </p:txBody>
      </p:sp>
      <p:sp>
        <p:nvSpPr>
          <p:cNvPr id="524" name="textbox 524"/>
          <p:cNvSpPr/>
          <p:nvPr/>
        </p:nvSpPr>
        <p:spPr>
          <a:xfrm>
            <a:off x="5226288" y="3775564"/>
            <a:ext cx="41275" cy="419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26"/>
              </a:lnSpc>
              <a:tabLst/>
            </a:pPr>
            <a:r>
              <a:rPr sz="100" kern="0" spc="20" dirty="0">
                <a:solidFill>
                  <a:srgbClr val="0E3654">
                    <a:alpha val="100000"/>
                  </a:srgbClr>
                </a:solidFill>
                <a:latin typeface="Arial"/>
                <a:ea typeface="Arial"/>
                <a:cs typeface="Arial"/>
              </a:rPr>
              <a:t>M</a:t>
            </a:r>
            <a:endParaRPr sz="100" dirty="0"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textbox 526"/>
          <p:cNvSpPr/>
          <p:nvPr/>
        </p:nvSpPr>
        <p:spPr>
          <a:xfrm>
            <a:off x="275287" y="383304"/>
            <a:ext cx="4876165" cy="320230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90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tabLst/>
            </a:pPr>
            <a:r>
              <a:rPr sz="800" b="1" kern="0" spc="5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About</a:t>
            </a:r>
            <a:r>
              <a:rPr sz="800" b="1" kern="0" spc="9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800" b="1" kern="0" spc="5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inta</a:t>
            </a:r>
            <a:r>
              <a:rPr sz="800" b="1" kern="0" spc="4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cs™</a:t>
            </a:r>
            <a:endParaRPr sz="800" dirty="0">
              <a:latin typeface="Arial Narrow"/>
              <a:ea typeface="Arial Narrow"/>
              <a:cs typeface="Arial Narrow"/>
            </a:endParaRPr>
          </a:p>
          <a:p>
            <a:pPr marL="19050" algn="l" rtl="0" eaLnBrk="0">
              <a:lnSpc>
                <a:spcPct val="89000"/>
              </a:lnSpc>
              <a:spcBef>
                <a:spcPts val="792"/>
              </a:spcBef>
              <a:tabLst/>
            </a:pPr>
            <a:r>
              <a:rPr sz="800" b="1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intacs™ is an independent and legally</a:t>
            </a:r>
            <a:r>
              <a:rPr sz="800" b="1" kern="0" spc="6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800" b="1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registered</a:t>
            </a:r>
            <a:r>
              <a:rPr sz="800" b="1" kern="0" spc="7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800" b="1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non-profit</a:t>
            </a:r>
            <a:r>
              <a:rPr sz="800" b="1" kern="0" spc="5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800" b="1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or</a:t>
            </a:r>
            <a:r>
              <a:rPr sz="800" b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ganization.</a:t>
            </a:r>
            <a:r>
              <a:rPr sz="800" b="1" kern="0" spc="7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800" b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intacs works</a:t>
            </a:r>
            <a:r>
              <a:rPr sz="800" b="1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800" b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almost</a:t>
            </a:r>
            <a:r>
              <a:rPr sz="800" b="1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800" b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exclusively</a:t>
            </a:r>
            <a:endParaRPr sz="800" dirty="0">
              <a:latin typeface="Arial Narrow"/>
              <a:ea typeface="Arial Narrow"/>
              <a:cs typeface="Arial Narrow"/>
            </a:endParaRPr>
          </a:p>
          <a:p>
            <a:pPr marL="15875" indent="-3175" algn="l" rtl="0" eaLnBrk="0">
              <a:lnSpc>
                <a:spcPct val="106000"/>
              </a:lnSpc>
              <a:spcBef>
                <a:spcPts val="149"/>
              </a:spcBef>
              <a:tabLst/>
            </a:pPr>
            <a:r>
              <a:rPr sz="800" b="1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with volunteers and is open, transparent, global and multiling</a:t>
            </a:r>
            <a:r>
              <a:rPr sz="800" b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ual. The</a:t>
            </a:r>
            <a:r>
              <a:rPr sz="800" b="1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800" b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goal</a:t>
            </a:r>
            <a:r>
              <a:rPr sz="800" b="1" kern="0" spc="8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800" b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is</a:t>
            </a:r>
            <a:r>
              <a:rPr sz="800" b="1" kern="0" spc="2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800" b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to</a:t>
            </a:r>
            <a:r>
              <a:rPr sz="800" b="1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800" b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ensure</a:t>
            </a:r>
            <a:r>
              <a:rPr sz="800" b="1" kern="0" spc="8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800" b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high</a:t>
            </a:r>
            <a:r>
              <a:rPr sz="800" b="1" kern="0" spc="5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800" b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quality</a:t>
            </a:r>
            <a:r>
              <a:rPr sz="800" b="1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800" b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assessor</a:t>
            </a:r>
            <a:r>
              <a:rPr sz="800" b="1" kern="0" spc="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800" b="1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qualification for process assessments according to ISO/IE</a:t>
            </a:r>
            <a:r>
              <a:rPr sz="800" b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C</a:t>
            </a:r>
            <a:r>
              <a:rPr sz="800" b="1" kern="0" spc="7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800" b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15504 and 33002.</a:t>
            </a:r>
            <a:endParaRPr sz="800" dirty="0">
              <a:latin typeface="Arial Narrow"/>
              <a:ea typeface="Arial Narrow"/>
              <a:cs typeface="Arial Narrow"/>
            </a:endParaRPr>
          </a:p>
          <a:p>
            <a:pPr marL="13970" indent="5080" algn="l" rtl="0" eaLnBrk="0">
              <a:lnSpc>
                <a:spcPct val="106000"/>
              </a:lnSpc>
              <a:spcBef>
                <a:spcPts val="409"/>
              </a:spcBef>
              <a:tabLst/>
            </a:pPr>
            <a:r>
              <a:rPr sz="800" b="1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intacs™ was founded to improve assessments, to reduce variations in the</a:t>
            </a:r>
            <a:r>
              <a:rPr sz="800" b="1" kern="0" spc="5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800" b="1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quality </a:t>
            </a:r>
            <a:r>
              <a:rPr sz="800" b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of assessment</a:t>
            </a:r>
            <a:r>
              <a:rPr sz="800" b="1" kern="0" spc="7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800" b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results</a:t>
            </a:r>
            <a:r>
              <a:rPr sz="800" b="1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800" b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and</a:t>
            </a:r>
            <a:r>
              <a:rPr sz="800" b="1" kern="0" spc="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800" b="1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to improve their </a:t>
            </a:r>
            <a:r>
              <a:rPr sz="800" b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comparability.</a:t>
            </a:r>
            <a:endParaRPr sz="800" dirty="0">
              <a:latin typeface="Arial Narrow"/>
              <a:ea typeface="Arial Narrow"/>
              <a:cs typeface="Arial Narrow"/>
            </a:endParaRPr>
          </a:p>
          <a:p>
            <a:pPr marL="21590" algn="l" rtl="0" eaLnBrk="0">
              <a:lnSpc>
                <a:spcPct val="88000"/>
              </a:lnSpc>
              <a:spcBef>
                <a:spcPts val="736"/>
              </a:spcBef>
              <a:tabLst/>
            </a:pPr>
            <a:r>
              <a:rPr sz="8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In order to reach these</a:t>
            </a:r>
            <a:r>
              <a:rPr sz="800" kern="0" spc="6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8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goals,</a:t>
            </a:r>
            <a:r>
              <a:rPr sz="800" kern="0" spc="6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8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intacs™:</a:t>
            </a:r>
            <a:endParaRPr sz="800" dirty="0">
              <a:latin typeface="Arial Narrow"/>
              <a:ea typeface="Arial Narrow"/>
              <a:cs typeface="Arial Narrow"/>
            </a:endParaRPr>
          </a:p>
          <a:p>
            <a:pPr marL="125729" algn="l" rtl="0" eaLnBrk="0">
              <a:lnSpc>
                <a:spcPct val="89000"/>
              </a:lnSpc>
              <a:spcBef>
                <a:spcPts val="225"/>
              </a:spcBef>
              <a:tabLst/>
            </a:pPr>
            <a:r>
              <a:rPr sz="8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• sets training and</a:t>
            </a:r>
            <a:r>
              <a:rPr sz="8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certification standards for</a:t>
            </a:r>
            <a:r>
              <a:rPr sz="800" kern="0" spc="8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8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ISO/IEC</a:t>
            </a:r>
            <a:r>
              <a:rPr sz="800" kern="0" spc="9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8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15504 and 33002 assessors</a:t>
            </a:r>
            <a:endParaRPr sz="800" dirty="0">
              <a:latin typeface="Arial Narrow"/>
              <a:ea typeface="Arial Narrow"/>
              <a:cs typeface="Arial Narrow"/>
            </a:endParaRPr>
          </a:p>
          <a:p>
            <a:pPr marL="125729" algn="l" rtl="0" eaLnBrk="0">
              <a:lnSpc>
                <a:spcPct val="88000"/>
              </a:lnSpc>
              <a:spcBef>
                <a:spcPts val="236"/>
              </a:spcBef>
              <a:tabLst/>
            </a:pPr>
            <a:r>
              <a:rPr sz="8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• sets standards for mai</a:t>
            </a:r>
            <a:r>
              <a:rPr sz="8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ntaining assessor competence</a:t>
            </a:r>
            <a:endParaRPr sz="800" dirty="0">
              <a:latin typeface="Arial Narrow"/>
              <a:ea typeface="Arial Narrow"/>
              <a:cs typeface="Arial Narrow"/>
            </a:endParaRPr>
          </a:p>
          <a:p>
            <a:pPr marL="125729" algn="l" rtl="0" eaLnBrk="0">
              <a:lnSpc>
                <a:spcPct val="88000"/>
              </a:lnSpc>
              <a:spcBef>
                <a:spcPts val="235"/>
              </a:spcBef>
              <a:tabLst/>
            </a:pPr>
            <a:r>
              <a:rPr sz="8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• promotes assessment models</a:t>
            </a:r>
            <a:r>
              <a:rPr sz="8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and</a:t>
            </a:r>
            <a:r>
              <a:rPr sz="800" kern="0" spc="5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8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community</a:t>
            </a:r>
            <a:r>
              <a:rPr sz="800" kern="0" spc="6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8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interactions</a:t>
            </a:r>
            <a:endParaRPr sz="800" dirty="0">
              <a:latin typeface="Arial Narrow"/>
              <a:ea typeface="Arial Narrow"/>
              <a:cs typeface="Arial Narrow"/>
            </a:endParaRPr>
          </a:p>
          <a:p>
            <a:pPr marL="19050" algn="l" rtl="0" eaLnBrk="0">
              <a:lnSpc>
                <a:spcPct val="107000"/>
              </a:lnSpc>
              <a:spcBef>
                <a:spcPts val="413"/>
              </a:spcBef>
              <a:tabLst/>
            </a:pPr>
            <a:r>
              <a:rPr sz="800" b="1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intacs™ is accepted by the automotive industry and</a:t>
            </a:r>
            <a:r>
              <a:rPr sz="800" b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800" b="1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the VDA</a:t>
            </a:r>
            <a:r>
              <a:rPr sz="800" b="1" kern="0" spc="-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800" b="1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AK</a:t>
            </a:r>
            <a:r>
              <a:rPr sz="800" b="1" kern="0" spc="8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800" b="1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13</a:t>
            </a:r>
            <a:r>
              <a:rPr sz="800" b="1" kern="0" spc="6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800" b="1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(working group</a:t>
            </a:r>
            <a:r>
              <a:rPr sz="800" b="1" kern="0" spc="7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800" b="1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r</a:t>
            </a:r>
            <a:r>
              <a:rPr sz="800" b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esponsible for</a:t>
            </a:r>
            <a:r>
              <a:rPr sz="800" b="1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800" b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defining</a:t>
            </a:r>
            <a:r>
              <a:rPr sz="800" b="1" kern="0" spc="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800" b="1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process requirements for car manufacturers and sup</a:t>
            </a:r>
            <a:r>
              <a:rPr sz="800" b="1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pliers).</a:t>
            </a:r>
            <a:endParaRPr sz="800" dirty="0">
              <a:latin typeface="Arial Narrow"/>
              <a:ea typeface="Arial Narrow"/>
              <a:cs typeface="Arial Narrow"/>
            </a:endParaRPr>
          </a:p>
          <a:p>
            <a:pPr algn="l" rtl="0" eaLnBrk="0">
              <a:lnSpc>
                <a:spcPct val="13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9050" algn="l" rtl="0" eaLnBrk="0">
              <a:lnSpc>
                <a:spcPct val="76000"/>
              </a:lnSpc>
              <a:spcBef>
                <a:spcPts val="251"/>
              </a:spcBef>
              <a:tabLst/>
            </a:pPr>
            <a:r>
              <a:rPr sz="800" b="1" kern="0" spc="30" dirty="0">
                <a:solidFill>
                  <a:srgbClr val="015AAA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Benefits</a:t>
            </a:r>
            <a:endParaRPr sz="800" dirty="0">
              <a:latin typeface="Arial Narrow"/>
              <a:ea typeface="Arial Narrow"/>
              <a:cs typeface="Arial Narrow"/>
            </a:endParaRPr>
          </a:p>
          <a:p>
            <a:pPr marL="20320" algn="l" rtl="0" eaLnBrk="0">
              <a:lnSpc>
                <a:spcPct val="88000"/>
              </a:lnSpc>
              <a:spcBef>
                <a:spcPts val="643"/>
              </a:spcBef>
              <a:tabLst/>
            </a:pPr>
            <a:r>
              <a:rPr sz="8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For indiv</a:t>
            </a:r>
            <a:r>
              <a:rPr sz="8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iduals interested</a:t>
            </a:r>
            <a:r>
              <a:rPr sz="800" kern="0" spc="6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8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in</a:t>
            </a:r>
            <a:r>
              <a:rPr sz="800" kern="0" spc="7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8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becoming an</a:t>
            </a:r>
            <a:r>
              <a:rPr sz="8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8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assessor</a:t>
            </a:r>
            <a:endParaRPr sz="800" dirty="0">
              <a:latin typeface="Arial Narrow"/>
              <a:ea typeface="Arial Narrow"/>
              <a:cs typeface="Arial Narrow"/>
            </a:endParaRPr>
          </a:p>
          <a:p>
            <a:pPr marL="70485" indent="-52705" algn="l" rtl="0" eaLnBrk="0">
              <a:lnSpc>
                <a:spcPct val="135000"/>
              </a:lnSpc>
              <a:spcBef>
                <a:spcPts val="158"/>
              </a:spcBef>
              <a:tabLst/>
            </a:pPr>
            <a:r>
              <a:rPr sz="8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• You can be su</a:t>
            </a:r>
            <a:r>
              <a:rPr sz="8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re that you are trained by an</a:t>
            </a:r>
            <a:r>
              <a:rPr sz="800" kern="0" spc="5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8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accredited training</a:t>
            </a:r>
            <a:r>
              <a:rPr sz="800" kern="0" spc="6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8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provider with</a:t>
            </a:r>
            <a:r>
              <a:rPr sz="800" kern="0" spc="5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8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approved</a:t>
            </a:r>
            <a:r>
              <a:rPr sz="800" kern="0" spc="6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8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up-to-date training</a:t>
            </a:r>
            <a:r>
              <a:rPr sz="800" kern="0" spc="7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8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material</a:t>
            </a:r>
            <a:r>
              <a:rPr sz="800" kern="0" spc="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    </a:t>
            </a:r>
            <a:r>
              <a:rPr sz="8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reflecting </a:t>
            </a:r>
            <a:r>
              <a:rPr sz="8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the latest technical community</a:t>
            </a:r>
            <a:r>
              <a:rPr sz="800" kern="0" spc="6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8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knowledge.</a:t>
            </a:r>
            <a:endParaRPr sz="800" dirty="0">
              <a:latin typeface="Arial Narrow"/>
              <a:ea typeface="Arial Narrow"/>
              <a:cs typeface="Arial Narrow"/>
            </a:endParaRPr>
          </a:p>
          <a:p>
            <a:pPr marL="17780" algn="l" rtl="0" eaLnBrk="0">
              <a:lnSpc>
                <a:spcPct val="89000"/>
              </a:lnSpc>
              <a:spcBef>
                <a:spcPts val="486"/>
              </a:spcBef>
              <a:tabLst/>
            </a:pPr>
            <a:r>
              <a:rPr sz="8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• You have access to the list of these training</a:t>
            </a:r>
            <a:r>
              <a:rPr sz="800" kern="0" spc="6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8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providers and their</a:t>
            </a:r>
            <a:r>
              <a:rPr sz="800" kern="0" spc="6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8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instructo</a:t>
            </a:r>
            <a:r>
              <a:rPr sz="800" kern="0" spc="2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rs.</a:t>
            </a:r>
            <a:endParaRPr sz="800" dirty="0">
              <a:latin typeface="Arial Narrow"/>
              <a:ea typeface="Arial Narrow"/>
              <a:cs typeface="Arial Narrow"/>
            </a:endParaRPr>
          </a:p>
          <a:p>
            <a:pPr algn="l" rtl="0" eaLnBrk="0">
              <a:lnSpc>
                <a:spcPct val="117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67945" indent="-50165" algn="l" rtl="0" eaLnBrk="0">
              <a:lnSpc>
                <a:spcPct val="107000"/>
              </a:lnSpc>
              <a:spcBef>
                <a:spcPts val="2"/>
              </a:spcBef>
              <a:tabLst/>
            </a:pPr>
            <a:r>
              <a:rPr sz="8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• You can rely on instr</a:t>
            </a:r>
            <a:r>
              <a:rPr sz="8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uctors to be the</a:t>
            </a:r>
            <a:r>
              <a:rPr sz="800" kern="0" spc="6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8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most</a:t>
            </a:r>
            <a:r>
              <a:rPr sz="8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8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experienced</a:t>
            </a:r>
            <a:r>
              <a:rPr sz="8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8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assessors</a:t>
            </a:r>
            <a:r>
              <a:rPr sz="800" kern="0" spc="7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8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in the</a:t>
            </a:r>
            <a:r>
              <a:rPr sz="800" kern="0" spc="5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8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community who</a:t>
            </a:r>
            <a:r>
              <a:rPr sz="800" kern="0" spc="6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8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have</a:t>
            </a:r>
            <a:r>
              <a:rPr sz="8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8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extensive</a:t>
            </a:r>
            <a:r>
              <a:rPr sz="8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8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training</a:t>
            </a:r>
            <a:r>
              <a:rPr sz="800" kern="0" spc="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      </a:t>
            </a:r>
            <a:r>
              <a:rPr sz="8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experience</a:t>
            </a:r>
            <a:endParaRPr sz="800" dirty="0">
              <a:latin typeface="Arial Narrow"/>
              <a:ea typeface="Arial Narrow"/>
              <a:cs typeface="Arial Narrow"/>
            </a:endParaRPr>
          </a:p>
        </p:txBody>
      </p:sp>
      <p:sp>
        <p:nvSpPr>
          <p:cNvPr id="528" name="textbox 528"/>
          <p:cNvSpPr/>
          <p:nvPr/>
        </p:nvSpPr>
        <p:spPr>
          <a:xfrm>
            <a:off x="2725682" y="3644904"/>
            <a:ext cx="2543175" cy="1727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09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tabLst/>
            </a:pPr>
            <a:r>
              <a:rPr sz="500" b="1" kern="0" spc="1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43                                  </a:t>
            </a:r>
            <a:r>
              <a:rPr sz="500" b="1" kern="0" spc="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                                                                             </a:t>
            </a:r>
            <a:r>
              <a:rPr sz="1000" u="sng" kern="0" spc="0" dirty="0">
                <a:solidFill>
                  <a:srgbClr val="0E3654">
                    <a:alpha val="100000"/>
                  </a:srgbClr>
                </a:solidFill>
                <a:latin typeface="Arial"/>
                <a:ea typeface="Arial"/>
                <a:cs typeface="Arial"/>
              </a:rPr>
              <a:t>intacs</a:t>
            </a:r>
            <a:r>
              <a:rPr sz="1000" u="sng" kern="0" spc="0" dirty="0">
                <a:solidFill>
                  <a:srgbClr val="0E3654">
                    <a:alpha val="100000"/>
                  </a:srgbClr>
                </a:solidFill>
                <a:latin typeface="Arial"/>
                <a:ea typeface="Arial"/>
                <a:cs typeface="Arial"/>
              </a:rPr>
              <a:t>.</a:t>
            </a:r>
            <a:r>
              <a:rPr sz="1000" u="sng" kern="0" spc="-170" dirty="0">
                <a:solidFill>
                  <a:srgbClr val="0E365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u="sng" kern="0" spc="0" dirty="0">
                <a:solidFill>
                  <a:srgbClr val="0E3654">
                    <a:alpha val="100000"/>
                  </a:srgbClr>
                </a:solidFill>
                <a:latin typeface="Arial"/>
                <a:ea typeface="Arial"/>
                <a:cs typeface="Arial"/>
              </a:rPr>
              <a:t>infoul</a:t>
            </a:r>
            <a:r>
              <a:rPr sz="1000" kern="0" spc="0" dirty="0">
                <a:solidFill>
                  <a:srgbClr val="0E3654">
                    <a:alpha val="100000"/>
                  </a:srgbClr>
                </a:solidFill>
                <a:latin typeface="Arial"/>
                <a:ea typeface="Arial"/>
                <a:cs typeface="Arial"/>
              </a:rPr>
              <a:t>al</a:t>
            </a:r>
            <a:endParaRPr sz="1000" dirty="0">
              <a:latin typeface="Arial"/>
              <a:ea typeface="Arial"/>
              <a:cs typeface="Arial"/>
            </a:endParaRPr>
          </a:p>
        </p:txBody>
      </p:sp>
      <p:sp>
        <p:nvSpPr>
          <p:cNvPr id="530" name="textbox 530"/>
          <p:cNvSpPr/>
          <p:nvPr/>
        </p:nvSpPr>
        <p:spPr>
          <a:xfrm>
            <a:off x="5226288" y="3775564"/>
            <a:ext cx="41275" cy="419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26"/>
              </a:lnSpc>
              <a:tabLst/>
            </a:pPr>
            <a:r>
              <a:rPr sz="100" kern="0" spc="20" dirty="0">
                <a:solidFill>
                  <a:srgbClr val="0E3654">
                    <a:alpha val="100000"/>
                  </a:srgbClr>
                </a:solidFill>
                <a:latin typeface="Arial"/>
                <a:ea typeface="Arial"/>
                <a:cs typeface="Arial"/>
              </a:rPr>
              <a:t>M</a:t>
            </a:r>
            <a:endParaRPr sz="100" dirty="0"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textbox 532"/>
          <p:cNvSpPr/>
          <p:nvPr/>
        </p:nvSpPr>
        <p:spPr>
          <a:xfrm>
            <a:off x="628913" y="829609"/>
            <a:ext cx="3084830" cy="103123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5674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9685" algn="l" rtl="0" eaLnBrk="0">
              <a:lnSpc>
                <a:spcPct val="119000"/>
              </a:lnSpc>
              <a:tabLst/>
            </a:pPr>
            <a:r>
              <a:rPr sz="800" b="1" kern="0" spc="110" dirty="0">
                <a:solidFill>
                  <a:srgbClr val="0E3654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International Assessor Certification Scheme e.V. (intacs)</a:t>
            </a:r>
            <a:r>
              <a:rPr sz="800" b="1" kern="0" spc="0" dirty="0">
                <a:solidFill>
                  <a:srgbClr val="0E3654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800" b="1" kern="0" spc="110" dirty="0">
                <a:solidFill>
                  <a:srgbClr val="0E3654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intacs operation</a:t>
            </a:r>
            <a:endParaRPr sz="800" dirty="0">
              <a:latin typeface="Arial Narrow"/>
              <a:ea typeface="Arial Narrow"/>
              <a:cs typeface="Arial Narrow"/>
            </a:endParaRPr>
          </a:p>
          <a:p>
            <a:pPr marL="20955" algn="l" rtl="0" eaLnBrk="0">
              <a:lnSpc>
                <a:spcPct val="88000"/>
              </a:lnSpc>
              <a:spcBef>
                <a:spcPts val="839"/>
              </a:spcBef>
              <a:tabLst/>
            </a:pPr>
            <a:r>
              <a:rPr sz="800" kern="0" spc="0" dirty="0">
                <a:solidFill>
                  <a:srgbClr val="0E3654">
                    <a:alpha val="100000"/>
                  </a:srgbClr>
                </a:solidFill>
                <a:latin typeface="Arial"/>
                <a:ea typeface="Arial"/>
                <a:cs typeface="Arial"/>
              </a:rPr>
              <a:t>Herderstr</a:t>
            </a:r>
            <a:r>
              <a:rPr sz="800" kern="0" spc="60" dirty="0">
                <a:solidFill>
                  <a:srgbClr val="0E3654">
                    <a:alpha val="100000"/>
                  </a:srgbClr>
                </a:solidFill>
                <a:latin typeface="Arial"/>
                <a:ea typeface="Arial"/>
                <a:cs typeface="Arial"/>
              </a:rPr>
              <a:t>. 7</a:t>
            </a:r>
            <a:r>
              <a:rPr sz="800" kern="0" spc="40" dirty="0">
                <a:solidFill>
                  <a:srgbClr val="0E3654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</a:t>
            </a:r>
            <a:r>
              <a:rPr sz="800" kern="0" spc="60" dirty="0">
                <a:solidFill>
                  <a:srgbClr val="0E3654">
                    <a:alpha val="100000"/>
                  </a:srgbClr>
                </a:solidFill>
                <a:latin typeface="Arial"/>
                <a:ea typeface="Arial"/>
                <a:cs typeface="Arial"/>
              </a:rPr>
              <a:t>51147</a:t>
            </a:r>
            <a:r>
              <a:rPr sz="800" kern="0" spc="110" dirty="0">
                <a:solidFill>
                  <a:srgbClr val="0E365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800" kern="0" spc="60" dirty="0">
                <a:solidFill>
                  <a:srgbClr val="0E3654">
                    <a:alpha val="100000"/>
                  </a:srgbClr>
                </a:solidFill>
                <a:latin typeface="Arial"/>
                <a:ea typeface="Arial"/>
                <a:cs typeface="Arial"/>
              </a:rPr>
              <a:t>Kö</a:t>
            </a:r>
            <a:r>
              <a:rPr sz="800" kern="0" spc="0" dirty="0">
                <a:solidFill>
                  <a:srgbClr val="0E3654">
                    <a:alpha val="100000"/>
                  </a:srgbClr>
                </a:solidFill>
                <a:latin typeface="Arial"/>
                <a:ea typeface="Arial"/>
                <a:cs typeface="Arial"/>
              </a:rPr>
              <a:t>ln</a:t>
            </a:r>
            <a:endParaRPr sz="800" dirty="0">
              <a:latin typeface="Arial"/>
              <a:ea typeface="Arial"/>
              <a:cs typeface="Arial"/>
            </a:endParaRPr>
          </a:p>
          <a:p>
            <a:pPr marL="18415" algn="l" rtl="0" eaLnBrk="0">
              <a:lnSpc>
                <a:spcPct val="88000"/>
              </a:lnSpc>
              <a:spcBef>
                <a:spcPts val="235"/>
              </a:spcBef>
              <a:tabLst/>
            </a:pPr>
            <a:r>
              <a:rPr sz="800" kern="0" spc="60" dirty="0">
                <a:solidFill>
                  <a:srgbClr val="0E3654">
                    <a:alpha val="100000"/>
                  </a:srgbClr>
                </a:solidFill>
                <a:latin typeface="Arial"/>
                <a:ea typeface="Arial"/>
                <a:cs typeface="Arial"/>
              </a:rPr>
              <a:t>+49 (0)700 4682274</a:t>
            </a:r>
            <a:r>
              <a:rPr sz="800" kern="0" spc="50" dirty="0">
                <a:solidFill>
                  <a:srgbClr val="0E3654">
                    <a:alpha val="100000"/>
                  </a:srgbClr>
                </a:solidFill>
                <a:latin typeface="Arial"/>
                <a:ea typeface="Arial"/>
                <a:cs typeface="Arial"/>
              </a:rPr>
              <a:t>6</a:t>
            </a:r>
            <a:r>
              <a:rPr sz="800" kern="0" spc="70" dirty="0">
                <a:solidFill>
                  <a:srgbClr val="0E365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800" kern="0" spc="50" dirty="0">
                <a:solidFill>
                  <a:srgbClr val="0E3654">
                    <a:alpha val="100000"/>
                  </a:srgbClr>
                </a:solidFill>
                <a:latin typeface="Arial"/>
                <a:ea typeface="Arial"/>
                <a:cs typeface="Arial"/>
              </a:rPr>
              <a:t>(</a:t>
            </a:r>
            <a:r>
              <a:rPr sz="800" kern="0" spc="0" dirty="0">
                <a:solidFill>
                  <a:srgbClr val="0E3654">
                    <a:alpha val="100000"/>
                  </a:srgbClr>
                </a:solidFill>
                <a:latin typeface="Arial"/>
                <a:ea typeface="Arial"/>
                <a:cs typeface="Arial"/>
              </a:rPr>
              <a:t>intacsinfo</a:t>
            </a:r>
            <a:r>
              <a:rPr sz="800" kern="0" spc="50" dirty="0">
                <a:solidFill>
                  <a:srgbClr val="0E3654">
                    <a:alpha val="100000"/>
                  </a:srgbClr>
                </a:solidFill>
                <a:latin typeface="Arial"/>
                <a:ea typeface="Arial"/>
                <a:cs typeface="Arial"/>
              </a:rPr>
              <a:t>)</a:t>
            </a:r>
            <a:endParaRPr sz="8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6000"/>
              </a:lnSpc>
              <a:spcBef>
                <a:spcPts val="870"/>
              </a:spcBef>
              <a:tabLst/>
            </a:pPr>
            <a:r>
              <a:rPr sz="800" kern="0" spc="40" dirty="0">
                <a:solidFill>
                  <a:srgbClr val="0E3654">
                    <a:alpha val="100000"/>
                  </a:srgbClr>
                </a:solidFill>
                <a:latin typeface="Arial"/>
                <a:ea typeface="Arial"/>
                <a:cs typeface="Arial"/>
                <a:hlinkClick xmlns:r="http://schemas.openxmlformats.org/officeDocument/2006/relationships" r:id="rId2" tooltip="">
                  <a:extLst>
                    <a:ext uri="{DAF060AB-1E55-43B9-8AAB-6FB025537F2F}">
                      <wpsdc:hlinkClr xmlns:wpsdc="http://www.wps.cn/officeDocument/2017/drawingmlCustomData" val="0E3654"/>
                      <wpsdc:folHlinkClr xmlns:wpsdc="http://www.wps.cn/officeDocument/2017/drawingmlCustomData" val="0E3654"/>
                      <wpsdc:hlinkUnderline xmlns:wpsdc="http://www.wps.cn/officeDocument/2017/drawingmlCustomData" val="0"/>
                    </a:ext>
                  </a:extLst>
                </a:hlinkClick>
              </a:rPr>
              <a:t>www.intacs.in</a:t>
            </a:r>
            <a:r>
              <a:rPr sz="800" kern="0" spc="30" dirty="0">
                <a:solidFill>
                  <a:srgbClr val="0E3654">
                    <a:alpha val="100000"/>
                  </a:srgbClr>
                </a:solidFill>
                <a:latin typeface="Arial"/>
                <a:ea typeface="Arial"/>
                <a:cs typeface="Arial"/>
                <a:hlinkClick xmlns:r="http://schemas.openxmlformats.org/officeDocument/2006/relationships" r:id="rId2" tooltip="">
                  <a:extLst>
                    <a:ext uri="{DAF060AB-1E55-43B9-8AAB-6FB025537F2F}">
                      <wpsdc:hlinkClr xmlns:wpsdc="http://www.wps.cn/officeDocument/2017/drawingmlCustomData" val="0E3654"/>
                      <wpsdc:folHlinkClr xmlns:wpsdc="http://www.wps.cn/officeDocument/2017/drawingmlCustomData" val="0E3654"/>
                      <wpsdc:hlinkUnderline xmlns:wpsdc="http://www.wps.cn/officeDocument/2017/drawingmlCustomData" val="0"/>
                    </a:ext>
                  </a:extLst>
                </a:hlinkClick>
              </a:rPr>
              <a:t>fo</a:t>
            </a:r>
            <a:endParaRPr sz="800" dirty="0">
              <a:latin typeface="Arial"/>
              <a:ea typeface="Arial"/>
              <a:cs typeface="Arial"/>
            </a:endParaRPr>
          </a:p>
          <a:p>
            <a:pPr marL="15875" algn="l" rtl="0" eaLnBrk="0">
              <a:lnSpc>
                <a:spcPts val="1204"/>
              </a:lnSpc>
              <a:tabLst/>
            </a:pPr>
            <a:r>
              <a:rPr sz="800" kern="0" spc="40" dirty="0">
                <a:solidFill>
                  <a:srgbClr val="0E3654">
                    <a:alpha val="100000"/>
                  </a:srgbClr>
                </a:solidFill>
                <a:latin typeface="Arial"/>
                <a:ea typeface="Arial"/>
                <a:cs typeface="Arial"/>
                <a:hlinkClick xmlns:r="http://schemas.openxmlformats.org/officeDocument/2006/relationships" r:id="rId3" tooltip="">
                  <a:extLst>
                    <a:ext uri="{DAF060AB-1E55-43B9-8AAB-6FB025537F2F}">
                      <wpsdc:hlinkClr xmlns:wpsdc="http://www.wps.cn/officeDocument/2017/drawingmlCustomData" val="0E3654"/>
                      <wpsdc:folHlinkClr xmlns:wpsdc="http://www.wps.cn/officeDocument/2017/drawingmlCustomData" val="0E3654"/>
                      <wpsdc:hlinkUnderline xmlns:wpsdc="http://www.wps.cn/officeDocument/2017/drawingmlCustomData" val="0"/>
                    </a:ext>
                  </a:extLst>
                </a:hlinkClick>
              </a:rPr>
              <a:t>office@intacs</a:t>
            </a:r>
            <a:r>
              <a:rPr sz="800" kern="0" spc="30" dirty="0">
                <a:solidFill>
                  <a:srgbClr val="0E3654">
                    <a:alpha val="100000"/>
                  </a:srgbClr>
                </a:solidFill>
                <a:latin typeface="Arial"/>
                <a:ea typeface="Arial"/>
                <a:cs typeface="Arial"/>
                <a:hlinkClick xmlns:r="http://schemas.openxmlformats.org/officeDocument/2006/relationships" r:id="rId3" tooltip="">
                  <a:extLst>
                    <a:ext uri="{DAF060AB-1E55-43B9-8AAB-6FB025537F2F}">
                      <wpsdc:hlinkClr xmlns:wpsdc="http://www.wps.cn/officeDocument/2017/drawingmlCustomData" val="0E3654"/>
                      <wpsdc:folHlinkClr xmlns:wpsdc="http://www.wps.cn/officeDocument/2017/drawingmlCustomData" val="0E3654"/>
                      <wpsdc:hlinkUnderline xmlns:wpsdc="http://www.wps.cn/officeDocument/2017/drawingmlCustomData" val="0"/>
                    </a:ext>
                  </a:extLst>
                </a:hlinkClick>
              </a:rPr>
              <a:t>.info</a:t>
            </a:r>
            <a:endParaRPr sz="800" dirty="0">
              <a:latin typeface="Arial"/>
              <a:ea typeface="Arial"/>
              <a:cs typeface="Arial"/>
            </a:endParaRPr>
          </a:p>
        </p:txBody>
      </p:sp>
      <p:sp>
        <p:nvSpPr>
          <p:cNvPr id="534" name="textbox 534"/>
          <p:cNvSpPr/>
          <p:nvPr/>
        </p:nvSpPr>
        <p:spPr>
          <a:xfrm>
            <a:off x="282527" y="383306"/>
            <a:ext cx="1848485" cy="40703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25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1000"/>
              </a:lnSpc>
              <a:tabLst/>
            </a:pPr>
            <a:r>
              <a:rPr sz="2100" kern="0" spc="0" dirty="0">
                <a:solidFill>
                  <a:srgbClr val="0E3653">
                    <a:alpha val="100000"/>
                  </a:srgbClr>
                </a:solidFill>
                <a:latin typeface="Arial"/>
                <a:ea typeface="Arial"/>
                <a:cs typeface="Arial"/>
              </a:rPr>
              <a:t>intacs</a:t>
            </a:r>
            <a:r>
              <a:rPr sz="2100" kern="0" spc="120" dirty="0">
                <a:solidFill>
                  <a:srgbClr val="0E3654">
                    <a:alpha val="100000"/>
                  </a:srgbClr>
                </a:solidFill>
                <a:latin typeface="Arial"/>
                <a:ea typeface="Arial"/>
                <a:cs typeface="Arial"/>
              </a:rPr>
              <a:t>.</a:t>
            </a:r>
            <a:r>
              <a:rPr sz="2100" kern="0" spc="-390" dirty="0">
                <a:solidFill>
                  <a:srgbClr val="0E365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100" kern="0" spc="0" dirty="0">
                <a:solidFill>
                  <a:srgbClr val="0E3653">
                    <a:alpha val="100000"/>
                  </a:srgbClr>
                </a:solidFill>
                <a:latin typeface="Arial"/>
                <a:ea typeface="Arial"/>
                <a:cs typeface="Arial"/>
              </a:rPr>
              <a:t>infomnli</a:t>
            </a:r>
            <a:endParaRPr sz="21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19050" algn="l" rtl="0" eaLnBrk="0">
              <a:lnSpc>
                <a:spcPct val="82000"/>
              </a:lnSpc>
              <a:spcBef>
                <a:spcPts val="2"/>
              </a:spcBef>
              <a:tabLst/>
            </a:pPr>
            <a:r>
              <a:rPr sz="600" kern="0" spc="50" dirty="0">
                <a:solidFill>
                  <a:srgbClr val="0E3654">
                    <a:alpha val="100000"/>
                  </a:srgbClr>
                </a:solidFill>
                <a:latin typeface="Arial"/>
                <a:ea typeface="Arial"/>
                <a:cs typeface="Arial"/>
              </a:rPr>
              <a:t>International</a:t>
            </a:r>
            <a:r>
              <a:rPr sz="600" kern="0" spc="50" dirty="0">
                <a:solidFill>
                  <a:srgbClr val="0E365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600" kern="0" spc="50" dirty="0">
                <a:solidFill>
                  <a:srgbClr val="0E3654">
                    <a:alpha val="100000"/>
                  </a:srgbClr>
                </a:solidFill>
                <a:latin typeface="Arial"/>
                <a:ea typeface="Arial"/>
                <a:cs typeface="Arial"/>
              </a:rPr>
              <a:t>As</a:t>
            </a:r>
            <a:r>
              <a:rPr sz="600" kern="0" spc="40" dirty="0">
                <a:solidFill>
                  <a:srgbClr val="0E3654">
                    <a:alpha val="100000"/>
                  </a:srgbClr>
                </a:solidFill>
                <a:latin typeface="Arial"/>
                <a:ea typeface="Arial"/>
                <a:cs typeface="Arial"/>
              </a:rPr>
              <a:t>sessor</a:t>
            </a:r>
            <a:r>
              <a:rPr sz="600" kern="0" spc="40" dirty="0">
                <a:solidFill>
                  <a:srgbClr val="0E365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600" kern="0" spc="40" dirty="0">
                <a:solidFill>
                  <a:srgbClr val="0E3654">
                    <a:alpha val="100000"/>
                  </a:srgbClr>
                </a:solidFill>
                <a:latin typeface="Arial"/>
                <a:ea typeface="Arial"/>
                <a:cs typeface="Arial"/>
              </a:rPr>
              <a:t>certification</a:t>
            </a:r>
            <a:r>
              <a:rPr sz="600" kern="0" spc="70" dirty="0">
                <a:solidFill>
                  <a:srgbClr val="0E365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600" kern="0" spc="40" dirty="0">
                <a:solidFill>
                  <a:srgbClr val="0E3654">
                    <a:alpha val="100000"/>
                  </a:srgbClr>
                </a:solidFill>
                <a:latin typeface="Arial"/>
                <a:ea typeface="Arial"/>
                <a:cs typeface="Arial"/>
              </a:rPr>
              <a:t>schemeTM</a:t>
            </a:r>
            <a:endParaRPr sz="600" dirty="0">
              <a:latin typeface="Arial"/>
              <a:ea typeface="Arial"/>
              <a:cs typeface="Arial"/>
            </a:endParaRPr>
          </a:p>
        </p:txBody>
      </p:sp>
      <p:pic>
        <p:nvPicPr>
          <p:cNvPr id="536" name="picture 53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2053653" y="426344"/>
            <a:ext cx="61745" cy="222956"/>
          </a:xfrm>
          <a:prstGeom prst="rect">
            <a:avLst/>
          </a:prstGeom>
        </p:spPr>
      </p:pic>
      <p:sp>
        <p:nvSpPr>
          <p:cNvPr id="538" name="textbox 538"/>
          <p:cNvSpPr/>
          <p:nvPr/>
        </p:nvSpPr>
        <p:spPr>
          <a:xfrm>
            <a:off x="3061789" y="2205269"/>
            <a:ext cx="761365" cy="74104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44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6000"/>
              </a:lnSpc>
              <a:tabLst/>
            </a:pPr>
            <a:r>
              <a:rPr sz="800" kern="0" spc="8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VDAQMC</a:t>
            </a:r>
            <a:endParaRPr sz="800" dirty="0">
              <a:latin typeface="Arial Narrow"/>
              <a:ea typeface="Arial Narrow"/>
              <a:cs typeface="Arial Narrow"/>
            </a:endParaRPr>
          </a:p>
          <a:p>
            <a:pPr marL="19050" algn="l" rtl="0" eaLnBrk="0">
              <a:lnSpc>
                <a:spcPct val="115000"/>
              </a:lnSpc>
              <a:spcBef>
                <a:spcPts val="259"/>
              </a:spcBef>
              <a:tabLst/>
            </a:pPr>
            <a:r>
              <a:rPr sz="8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Behrenstraße 35</a:t>
            </a:r>
            <a:r>
              <a:rPr sz="800" kern="0" spc="1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8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D-10117</a:t>
            </a:r>
            <a:r>
              <a:rPr sz="800" kern="0" spc="11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800" kern="0" spc="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Berlin</a:t>
            </a:r>
            <a:endParaRPr sz="800" dirty="0">
              <a:latin typeface="Arial Narrow"/>
              <a:ea typeface="Arial Narrow"/>
              <a:cs typeface="Arial Narrow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12700" indent="5715" algn="l" rtl="0" eaLnBrk="0">
              <a:lnSpc>
                <a:spcPct val="107000"/>
              </a:lnSpc>
              <a:spcBef>
                <a:spcPts val="3"/>
              </a:spcBef>
              <a:tabLst/>
            </a:pPr>
            <a:r>
              <a:rPr sz="8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  <a:hlinkClick xmlns:r="http://schemas.openxmlformats.org/officeDocument/2006/relationships" r:id="rId5" tooltip="">
                  <a:extLst>
                    <a:ext uri="{DAF060AB-1E55-43B9-8AAB-6FB025537F2F}">
                      <wpsdc:hlinkClr xmlns:wpsdc="http://www.wps.cn/officeDocument/2017/drawingmlCustomData" val="231F20"/>
                      <wpsdc:folHlinkClr xmlns:wpsdc="http://www.wps.cn/officeDocument/2017/drawingmlCustomData" val="231F20"/>
                      <wpsdc:hlinkUnderline xmlns:wpsdc="http://www.wps.cn/officeDocument/2017/drawingmlCustomData" val="0"/>
                    </a:ext>
                  </a:extLst>
                </a:hlinkClick>
              </a:rPr>
              <a:t>info@vda-qm</a:t>
            </a:r>
            <a:r>
              <a:rPr sz="8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  <a:hlinkClick xmlns:r="http://schemas.openxmlformats.org/officeDocument/2006/relationships" r:id="rId5" tooltip="">
                  <a:extLst>
                    <a:ext uri="{DAF060AB-1E55-43B9-8AAB-6FB025537F2F}">
                      <wpsdc:hlinkClr xmlns:wpsdc="http://www.wps.cn/officeDocument/2017/drawingmlCustomData" val="231F20"/>
                      <wpsdc:folHlinkClr xmlns:wpsdc="http://www.wps.cn/officeDocument/2017/drawingmlCustomData" val="231F20"/>
                      <wpsdc:hlinkUnderline xmlns:wpsdc="http://www.wps.cn/officeDocument/2017/drawingmlCustomData" val="0"/>
                    </a:ext>
                  </a:extLst>
                </a:hlinkClick>
              </a:rPr>
              <a:t>c.de</a:t>
            </a:r>
            <a:r>
              <a:rPr sz="800" kern="0" spc="-1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8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  <a:hlinkClick xmlns:r="http://schemas.openxmlformats.org/officeDocument/2006/relationships" r:id="rId6" tooltip="">
                  <a:extLst>
                    <a:ext uri="{DAF060AB-1E55-43B9-8AAB-6FB025537F2F}">
                      <wpsdc:hlinkClr xmlns:wpsdc="http://www.wps.cn/officeDocument/2017/drawingmlCustomData" val="231F20"/>
                      <wpsdc:folHlinkClr xmlns:wpsdc="http://www.wps.cn/officeDocument/2017/drawingmlCustomData" val="231F20"/>
                      <wpsdc:hlinkUnderline xmlns:wpsdc="http://www.wps.cn/officeDocument/2017/drawingmlCustomData" val="0"/>
                    </a:ext>
                  </a:extLst>
                </a:hlinkClick>
              </a:rPr>
              <a:t>www.vda-qmc.d</a:t>
            </a:r>
            <a:r>
              <a:rPr sz="8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  <a:hlinkClick xmlns:r="http://schemas.openxmlformats.org/officeDocument/2006/relationships" r:id="rId6" tooltip="">
                  <a:extLst>
                    <a:ext uri="{DAF060AB-1E55-43B9-8AAB-6FB025537F2F}">
                      <wpsdc:hlinkClr xmlns:wpsdc="http://www.wps.cn/officeDocument/2017/drawingmlCustomData" val="231F20"/>
                      <wpsdc:folHlinkClr xmlns:wpsdc="http://www.wps.cn/officeDocument/2017/drawingmlCustomData" val="231F20"/>
                      <wpsdc:hlinkUnderline xmlns:wpsdc="http://www.wps.cn/officeDocument/2017/drawingmlCustomData" val="0"/>
                    </a:ext>
                  </a:extLst>
                </a:hlinkClick>
              </a:rPr>
              <a:t>e</a:t>
            </a:r>
            <a:endParaRPr sz="800" dirty="0">
              <a:latin typeface="Arial Narrow"/>
              <a:ea typeface="Arial Narrow"/>
              <a:cs typeface="Arial Narrow"/>
            </a:endParaRPr>
          </a:p>
        </p:txBody>
      </p:sp>
      <p:sp>
        <p:nvSpPr>
          <p:cNvPr id="540" name="textbox 540"/>
          <p:cNvSpPr/>
          <p:nvPr/>
        </p:nvSpPr>
        <p:spPr>
          <a:xfrm>
            <a:off x="1069099" y="2206526"/>
            <a:ext cx="718820" cy="73850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65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7780" algn="l" rtl="0" eaLnBrk="0">
              <a:lnSpc>
                <a:spcPct val="88000"/>
              </a:lnSpc>
              <a:tabLst/>
            </a:pPr>
            <a:r>
              <a:rPr sz="8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(ECQA)</a:t>
            </a:r>
            <a:endParaRPr sz="800" dirty="0">
              <a:latin typeface="Arial Narrow"/>
              <a:ea typeface="Arial Narrow"/>
              <a:cs typeface="Arial Narrow"/>
            </a:endParaRPr>
          </a:p>
          <a:p>
            <a:pPr marL="12700" indent="6985" algn="l" rtl="0" eaLnBrk="0">
              <a:lnSpc>
                <a:spcPct val="124000"/>
              </a:lnSpc>
              <a:spcBef>
                <a:spcPts val="7"/>
              </a:spcBef>
              <a:tabLst/>
            </a:pPr>
            <a:r>
              <a:rPr sz="8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Piaristenga</a:t>
            </a:r>
            <a:r>
              <a:rPr sz="800" kern="0" spc="2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sse</a:t>
            </a:r>
            <a:r>
              <a:rPr sz="800" kern="0" spc="9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800" kern="0" spc="2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1</a:t>
            </a:r>
            <a:r>
              <a:rPr sz="800" kern="0" spc="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800" kern="0" spc="7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A-3500</a:t>
            </a:r>
            <a:r>
              <a:rPr sz="800" kern="0" spc="6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800" kern="0" spc="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Krems    </a:t>
            </a:r>
            <a:r>
              <a:rPr sz="800" kern="0" spc="4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  <a:hlinkClick xmlns:r="http://schemas.openxmlformats.org/officeDocument/2006/relationships" r:id="rId7" tooltip="">
                  <a:extLst>
                    <a:ext uri="{DAF060AB-1E55-43B9-8AAB-6FB025537F2F}">
                      <wpsdc:hlinkClr xmlns:wpsdc="http://www.wps.cn/officeDocument/2017/drawingmlCustomData" val="231F20"/>
                      <wpsdc:folHlinkClr xmlns:wpsdc="http://www.wps.cn/officeDocument/2017/drawingmlCustomData" val="231F20"/>
                      <wpsdc:hlinkUnderline xmlns:wpsdc="http://www.wps.cn/officeDocument/2017/drawingmlCustomData" val="0"/>
                    </a:ext>
                  </a:extLst>
                </a:hlinkClick>
              </a:rPr>
              <a:t>info@ecqa.o</a:t>
            </a:r>
            <a:r>
              <a:rPr sz="8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  <a:hlinkClick xmlns:r="http://schemas.openxmlformats.org/officeDocument/2006/relationships" r:id="rId7" tooltip="">
                  <a:extLst>
                    <a:ext uri="{DAF060AB-1E55-43B9-8AAB-6FB025537F2F}">
                      <wpsdc:hlinkClr xmlns:wpsdc="http://www.wps.cn/officeDocument/2017/drawingmlCustomData" val="231F20"/>
                      <wpsdc:folHlinkClr xmlns:wpsdc="http://www.wps.cn/officeDocument/2017/drawingmlCustomData" val="231F20"/>
                      <wpsdc:hlinkUnderline xmlns:wpsdc="http://www.wps.cn/officeDocument/2017/drawingmlCustomData" val="0"/>
                    </a:ext>
                  </a:extLst>
                </a:hlinkClick>
              </a:rPr>
              <a:t>rg</a:t>
            </a:r>
            <a:r>
              <a:rPr sz="800" kern="0" spc="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 </a:t>
            </a:r>
            <a:r>
              <a:rPr sz="8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  <a:hlinkClick xmlns:r="http://schemas.openxmlformats.org/officeDocument/2006/relationships" r:id="rId8" tooltip="">
                  <a:extLst>
                    <a:ext uri="{DAF060AB-1E55-43B9-8AAB-6FB025537F2F}">
                      <wpsdc:hlinkClr xmlns:wpsdc="http://www.wps.cn/officeDocument/2017/drawingmlCustomData" val="231F20"/>
                      <wpsdc:folHlinkClr xmlns:wpsdc="http://www.wps.cn/officeDocument/2017/drawingmlCustomData" val="231F20"/>
                      <wpsdc:hlinkUnderline xmlns:wpsdc="http://www.wps.cn/officeDocument/2017/drawingmlCustomData" val="0"/>
                    </a:ext>
                  </a:extLst>
                </a:hlinkClick>
              </a:rPr>
              <a:t>www.ecqa.org</a:t>
            </a:r>
            <a:endParaRPr sz="800" dirty="0">
              <a:latin typeface="Arial Narrow"/>
              <a:ea typeface="Arial Narrow"/>
              <a:cs typeface="Arial Narrow"/>
            </a:endParaRPr>
          </a:p>
        </p:txBody>
      </p:sp>
      <p:sp>
        <p:nvSpPr>
          <p:cNvPr id="542" name="textbox 542"/>
          <p:cNvSpPr/>
          <p:nvPr/>
        </p:nvSpPr>
        <p:spPr>
          <a:xfrm>
            <a:off x="279273" y="3386007"/>
            <a:ext cx="2314575" cy="23558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39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9000"/>
              </a:lnSpc>
              <a:tabLst/>
            </a:pPr>
            <a:r>
              <a:rPr sz="700" b="1" kern="0" spc="30" dirty="0">
                <a:solidFill>
                  <a:srgbClr val="0E3654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Copyright</a:t>
            </a:r>
            <a:r>
              <a:rPr sz="700" b="1" kern="0" spc="140" dirty="0">
                <a:solidFill>
                  <a:srgbClr val="0E3654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b="1" kern="0" spc="30" dirty="0">
                <a:solidFill>
                  <a:srgbClr val="0E3654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Notice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2021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  <a:hlinkClick xmlns:r="http://schemas.openxmlformats.org/officeDocument/2006/relationships" r:id="rId9" tooltip="">
                  <a:extLst>
                    <a:ext uri="{DAF060AB-1E55-43B9-8AAB-6FB025537F2F}">
                      <wpsdc:hlinkClr xmlns:wpsdc="http://www.wps.cn/officeDocument/2017/drawingmlCustomData" val="231F20"/>
                      <wpsdc:folHlinkClr xmlns:wpsdc="http://www.wps.cn/officeDocument/2017/drawingmlCustomData" val="231F20"/>
                      <wpsdc:hlinkUnderline xmlns:wpsdc="http://www.wps.cn/officeDocument/2017/drawingmlCustomData" val="0"/>
                    </a:ext>
                  </a:extLst>
                </a:hlinkClick>
              </a:rPr>
              <a:t>by</a:t>
            </a:r>
            <a:r>
              <a:rPr sz="700" kern="0" spc="7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  <a:hlinkClick xmlns:r="http://schemas.openxmlformats.org/officeDocument/2006/relationships" r:id="rId9" tooltip="">
                  <a:extLst>
                    <a:ext uri="{DAF060AB-1E55-43B9-8AAB-6FB025537F2F}">
                      <wpsdc:hlinkClr xmlns:wpsdc="http://www.wps.cn/officeDocument/2017/drawingmlCustomData" val="231F20"/>
                      <wpsdc:folHlinkClr xmlns:wpsdc="http://www.wps.cn/officeDocument/2017/drawingmlCustomData" val="231F20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  <a:hlinkClick xmlns:r="http://schemas.openxmlformats.org/officeDocument/2006/relationships" r:id="rId9" tooltip="">
                  <a:extLst>
                    <a:ext uri="{DAF060AB-1E55-43B9-8AAB-6FB025537F2F}">
                      <wpsdc:hlinkClr xmlns:wpsdc="http://www.wps.cn/officeDocument/2017/drawingmlCustomData" val="231F20"/>
                      <wpsdc:folHlinkClr xmlns:wpsdc="http://www.wps.cn/officeDocument/2017/drawingmlCustomData" val="231F20"/>
                      <wpsdc:hlinkUnderline xmlns:wpsdc="http://www.wps.cn/officeDocument/2017/drawingmlCustomData" val="0"/>
                    </a:ext>
                  </a:extLst>
                </a:hlinkClick>
              </a:rPr>
              <a:t>intacs.info</a:t>
            </a:r>
            <a:endParaRPr sz="700" dirty="0">
              <a:latin typeface="Arial Narrow"/>
              <a:ea typeface="Arial Narrow"/>
              <a:cs typeface="Arial Narrow"/>
            </a:endParaRPr>
          </a:p>
          <a:p>
            <a:pPr marL="14605" algn="l" rtl="0" eaLnBrk="0">
              <a:lnSpc>
                <a:spcPct val="90000"/>
              </a:lnSpc>
              <a:spcBef>
                <a:spcPts val="143"/>
              </a:spcBef>
              <a:tabLst/>
            </a:pP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Photo: shutterstock;</a:t>
            </a:r>
            <a:r>
              <a:rPr sz="700" kern="0" spc="10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  <a:hlinkClick xmlns:r="http://schemas.openxmlformats.org/officeDocument/2006/relationships" r:id="rId10" tooltip="">
                  <a:extLst>
                    <a:ext uri="{DAF060AB-1E55-43B9-8AAB-6FB025537F2F}">
                      <wpsdc:hlinkClr xmlns:wpsdc="http://www.wps.cn/officeDocument/2017/drawingmlCustomData" val="231F20"/>
                      <wpsdc:folHlinkClr xmlns:wpsdc="http://www.wps.cn/officeDocument/2017/drawingmlCustomData" val="231F20"/>
                      <wpsdc:hlinkUnderline xmlns:wpsdc="http://www.wps.cn/officeDocument/2017/drawingmlCustomData" val="0"/>
                    </a:ext>
                  </a:extLst>
                </a:hlinkClick>
              </a:rPr>
              <a:t>Layout: Serife</a:t>
            </a:r>
            <a:r>
              <a:rPr sz="700" kern="0" spc="7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  <a:hlinkClick xmlns:r="http://schemas.openxmlformats.org/officeDocument/2006/relationships" r:id="rId10" tooltip="">
                  <a:extLst>
                    <a:ext uri="{DAF060AB-1E55-43B9-8AAB-6FB025537F2F}">
                      <wpsdc:hlinkClr xmlns:wpsdc="http://www.wps.cn/officeDocument/2017/drawingmlCustomData" val="231F20"/>
                      <wpsdc:folHlinkClr xmlns:wpsdc="http://www.wps.cn/officeDocument/2017/drawingmlCustomData" val="231F20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700" kern="0" spc="3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  <a:hlinkClick xmlns:r="http://schemas.openxmlformats.org/officeDocument/2006/relationships" r:id="rId10" tooltip="">
                  <a:extLst>
                    <a:ext uri="{DAF060AB-1E55-43B9-8AAB-6FB025537F2F}">
                      <wpsdc:hlinkClr xmlns:wpsdc="http://www.wps.cn/officeDocument/2017/drawingmlCustomData" val="231F20"/>
                      <wpsdc:folHlinkClr xmlns:wpsdc="http://www.wps.cn/officeDocument/2017/drawingmlCustomData" val="231F20"/>
                      <wpsdc:hlinkUnderline xmlns:wpsdc="http://www.wps.cn/officeDocument/2017/drawingmlCustomData" val="0"/>
                    </a:ext>
                  </a:extLst>
                </a:hlinkClick>
              </a:rPr>
              <a:t>Kittelberger-www.lavora.de</a:t>
            </a:r>
            <a:endParaRPr sz="700" dirty="0">
              <a:latin typeface="Arial Narrow"/>
              <a:ea typeface="Arial Narrow"/>
              <a:cs typeface="Arial Narrow"/>
            </a:endParaRPr>
          </a:p>
        </p:txBody>
      </p:sp>
      <p:pic>
        <p:nvPicPr>
          <p:cNvPr id="544" name="picture 544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21600000">
            <a:off x="288000" y="2219354"/>
            <a:ext cx="733532" cy="544520"/>
          </a:xfrm>
          <a:prstGeom prst="rect">
            <a:avLst/>
          </a:prstGeom>
        </p:spPr>
      </p:pic>
      <p:sp>
        <p:nvSpPr>
          <p:cNvPr id="546" name="textbox 546"/>
          <p:cNvSpPr/>
          <p:nvPr/>
        </p:nvSpPr>
        <p:spPr>
          <a:xfrm>
            <a:off x="2725682" y="3644904"/>
            <a:ext cx="2543175" cy="1727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09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tabLst/>
            </a:pPr>
            <a:r>
              <a:rPr sz="500" b="1" kern="0" spc="1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44                                  </a:t>
            </a:r>
            <a:r>
              <a:rPr sz="500" b="1" kern="0" spc="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                                                                             </a:t>
            </a:r>
            <a:r>
              <a:rPr sz="1000" u="sng" kern="0" spc="0" dirty="0">
                <a:solidFill>
                  <a:srgbClr val="0E3654">
                    <a:alpha val="100000"/>
                  </a:srgbClr>
                </a:solidFill>
                <a:latin typeface="Arial"/>
                <a:ea typeface="Arial"/>
                <a:cs typeface="Arial"/>
              </a:rPr>
              <a:t>intacs</a:t>
            </a:r>
            <a:r>
              <a:rPr sz="1000" u="sng" kern="0" spc="0" dirty="0">
                <a:solidFill>
                  <a:srgbClr val="0E3654">
                    <a:alpha val="100000"/>
                  </a:srgbClr>
                </a:solidFill>
                <a:latin typeface="Arial"/>
                <a:ea typeface="Arial"/>
                <a:cs typeface="Arial"/>
              </a:rPr>
              <a:t>.</a:t>
            </a:r>
            <a:r>
              <a:rPr sz="1000" u="sng" kern="0" spc="-170" dirty="0">
                <a:solidFill>
                  <a:srgbClr val="0E365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u="sng" kern="0" spc="0" dirty="0">
                <a:solidFill>
                  <a:srgbClr val="0E3654">
                    <a:alpha val="100000"/>
                  </a:srgbClr>
                </a:solidFill>
                <a:latin typeface="Arial"/>
                <a:ea typeface="Arial"/>
                <a:cs typeface="Arial"/>
              </a:rPr>
              <a:t>infoul</a:t>
            </a:r>
            <a:r>
              <a:rPr sz="1000" kern="0" spc="0" dirty="0">
                <a:solidFill>
                  <a:srgbClr val="0E3654">
                    <a:alpha val="100000"/>
                  </a:srgbClr>
                </a:solidFill>
                <a:latin typeface="Arial"/>
                <a:ea typeface="Arial"/>
                <a:cs typeface="Arial"/>
              </a:rPr>
              <a:t>al</a:t>
            </a:r>
            <a:endParaRPr sz="1000" dirty="0">
              <a:latin typeface="Arial"/>
              <a:ea typeface="Arial"/>
              <a:cs typeface="Arial"/>
            </a:endParaRPr>
          </a:p>
        </p:txBody>
      </p:sp>
      <p:pic>
        <p:nvPicPr>
          <p:cNvPr id="548" name="picture 548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 rot="21600000">
            <a:off x="1972799" y="2219355"/>
            <a:ext cx="961040" cy="347752"/>
          </a:xfrm>
          <a:prstGeom prst="rect">
            <a:avLst/>
          </a:prstGeom>
        </p:spPr>
      </p:pic>
      <p:sp>
        <p:nvSpPr>
          <p:cNvPr id="550" name="textbox 550"/>
          <p:cNvSpPr/>
          <p:nvPr/>
        </p:nvSpPr>
        <p:spPr>
          <a:xfrm>
            <a:off x="302481" y="2063023"/>
            <a:ext cx="1217295" cy="10604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71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5000"/>
              </a:lnSpc>
              <a:tabLst/>
            </a:pPr>
            <a:r>
              <a:rPr sz="700" kern="0" spc="40" dirty="0">
                <a:solidFill>
                  <a:srgbClr val="0E3654">
                    <a:alpha val="100000"/>
                  </a:srgbClr>
                </a:solidFill>
                <a:latin typeface="Arial"/>
                <a:ea typeface="Arial"/>
                <a:cs typeface="Arial"/>
              </a:rPr>
              <a:t>CERTIFICATION</a:t>
            </a:r>
            <a:r>
              <a:rPr sz="700" kern="0" spc="120" dirty="0">
                <a:solidFill>
                  <a:srgbClr val="0E365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700" kern="0" spc="40" dirty="0">
                <a:solidFill>
                  <a:srgbClr val="0E3654">
                    <a:alpha val="100000"/>
                  </a:srgbClr>
                </a:solidFill>
                <a:latin typeface="Arial"/>
                <a:ea typeface="Arial"/>
                <a:cs typeface="Arial"/>
              </a:rPr>
              <a:t>BODIES:</a:t>
            </a:r>
            <a:endParaRPr sz="700" dirty="0">
              <a:latin typeface="Arial"/>
              <a:ea typeface="Arial"/>
              <a:cs typeface="Arial"/>
            </a:endParaRPr>
          </a:p>
        </p:txBody>
      </p:sp>
      <p:pic>
        <p:nvPicPr>
          <p:cNvPr id="552" name="picture 552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 rot="21600000">
            <a:off x="287988" y="1601038"/>
            <a:ext cx="233576" cy="233574"/>
          </a:xfrm>
          <a:prstGeom prst="rect">
            <a:avLst/>
          </a:prstGeom>
        </p:spPr>
      </p:pic>
      <p:pic>
        <p:nvPicPr>
          <p:cNvPr id="554" name="picture 554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 rot="21600000">
            <a:off x="295227" y="1265283"/>
            <a:ext cx="239481" cy="188140"/>
          </a:xfrm>
          <a:prstGeom prst="rect">
            <a:avLst/>
          </a:prstGeom>
        </p:spPr>
      </p:pic>
      <p:pic>
        <p:nvPicPr>
          <p:cNvPr id="556" name="picture 556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 rot="21600000">
            <a:off x="295227" y="893975"/>
            <a:ext cx="205906" cy="182404"/>
          </a:xfrm>
          <a:prstGeom prst="rect">
            <a:avLst/>
          </a:prstGeom>
        </p:spPr>
      </p:pic>
      <p:sp>
        <p:nvSpPr>
          <p:cNvPr id="558" name="textbox 558"/>
          <p:cNvSpPr/>
          <p:nvPr/>
        </p:nvSpPr>
        <p:spPr>
          <a:xfrm>
            <a:off x="5226288" y="3775564"/>
            <a:ext cx="41275" cy="419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26"/>
              </a:lnSpc>
              <a:tabLst/>
            </a:pPr>
            <a:r>
              <a:rPr sz="100" kern="0" spc="20" dirty="0">
                <a:solidFill>
                  <a:srgbClr val="0E3654">
                    <a:alpha val="100000"/>
                  </a:srgbClr>
                </a:solidFill>
                <a:latin typeface="Arial"/>
                <a:ea typeface="Arial"/>
                <a:cs typeface="Arial"/>
              </a:rPr>
              <a:t>M</a:t>
            </a:r>
            <a:endParaRPr sz="100" dirty="0"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60" name="table 560"/>
          <p:cNvGraphicFramePr>
            <a:graphicFrameLocks noGrp="1"/>
          </p:cNvGraphicFramePr>
          <p:nvPr/>
        </p:nvGraphicFramePr>
        <p:xfrm>
          <a:off x="341995" y="716817"/>
          <a:ext cx="4859655" cy="2882899"/>
        </p:xfrm>
        <a:graphic>
          <a:graphicData uri="http://schemas.openxmlformats.org/drawingml/2006/table">
            <a:tbl>
              <a:tblPr/>
              <a:tblGrid>
                <a:gridCol w="4859655"/>
              </a:tblGrid>
              <a:tr h="18161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9395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395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034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9395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395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970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9395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395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034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9395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395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970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9395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395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034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9395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395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970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9395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395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970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9395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395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034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9395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395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970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9395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395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034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9395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395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970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9395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395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970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9395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395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034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9395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395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970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9395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395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161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9395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395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62" name="textbox 562"/>
          <p:cNvSpPr/>
          <p:nvPr/>
        </p:nvSpPr>
        <p:spPr>
          <a:xfrm>
            <a:off x="2725682" y="3644904"/>
            <a:ext cx="2543175" cy="1727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09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tabLst/>
            </a:pPr>
            <a:r>
              <a:rPr sz="500" b="1" kern="0" spc="1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45                                  </a:t>
            </a:r>
            <a:r>
              <a:rPr sz="500" b="1" kern="0" spc="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                                                                             </a:t>
            </a:r>
            <a:r>
              <a:rPr sz="1000" u="sng" kern="0" spc="0" dirty="0">
                <a:solidFill>
                  <a:srgbClr val="0E3654">
                    <a:alpha val="100000"/>
                  </a:srgbClr>
                </a:solidFill>
                <a:latin typeface="Arial"/>
                <a:ea typeface="Arial"/>
                <a:cs typeface="Arial"/>
              </a:rPr>
              <a:t>intacs</a:t>
            </a:r>
            <a:r>
              <a:rPr sz="1000" u="sng" kern="0" spc="0" dirty="0">
                <a:solidFill>
                  <a:srgbClr val="0E3654">
                    <a:alpha val="100000"/>
                  </a:srgbClr>
                </a:solidFill>
                <a:latin typeface="Arial"/>
                <a:ea typeface="Arial"/>
                <a:cs typeface="Arial"/>
              </a:rPr>
              <a:t>.</a:t>
            </a:r>
            <a:r>
              <a:rPr sz="1000" u="sng" kern="0" spc="-170" dirty="0">
                <a:solidFill>
                  <a:srgbClr val="0E365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u="sng" kern="0" spc="0" dirty="0">
                <a:solidFill>
                  <a:srgbClr val="0E3654">
                    <a:alpha val="100000"/>
                  </a:srgbClr>
                </a:solidFill>
                <a:latin typeface="Arial"/>
                <a:ea typeface="Arial"/>
                <a:cs typeface="Arial"/>
              </a:rPr>
              <a:t>infoul</a:t>
            </a:r>
            <a:r>
              <a:rPr sz="1000" kern="0" spc="0" dirty="0">
                <a:solidFill>
                  <a:srgbClr val="0E3654">
                    <a:alpha val="100000"/>
                  </a:srgbClr>
                </a:solidFill>
                <a:latin typeface="Arial"/>
                <a:ea typeface="Arial"/>
                <a:cs typeface="Arial"/>
              </a:rPr>
              <a:t>al</a:t>
            </a:r>
            <a:endParaRPr sz="1000" dirty="0">
              <a:latin typeface="Arial"/>
              <a:ea typeface="Arial"/>
              <a:cs typeface="Arial"/>
            </a:endParaRPr>
          </a:p>
        </p:txBody>
      </p:sp>
      <p:sp>
        <p:nvSpPr>
          <p:cNvPr id="564" name="textbox 564"/>
          <p:cNvSpPr/>
          <p:nvPr/>
        </p:nvSpPr>
        <p:spPr>
          <a:xfrm>
            <a:off x="5226288" y="3775564"/>
            <a:ext cx="41275" cy="419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26"/>
              </a:lnSpc>
              <a:tabLst/>
            </a:pPr>
            <a:r>
              <a:rPr sz="100" kern="0" spc="20" dirty="0">
                <a:solidFill>
                  <a:srgbClr val="0E3654">
                    <a:alpha val="100000"/>
                  </a:srgbClr>
                </a:solidFill>
                <a:latin typeface="Arial"/>
                <a:ea typeface="Arial"/>
                <a:cs typeface="Arial"/>
              </a:rPr>
              <a:t>M</a:t>
            </a:r>
            <a:endParaRPr sz="100" dirty="0"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66" name="table 566"/>
          <p:cNvGraphicFramePr>
            <a:graphicFrameLocks noGrp="1"/>
          </p:cNvGraphicFramePr>
          <p:nvPr/>
        </p:nvGraphicFramePr>
        <p:xfrm>
          <a:off x="341995" y="716817"/>
          <a:ext cx="4859655" cy="2882899"/>
        </p:xfrm>
        <a:graphic>
          <a:graphicData uri="http://schemas.openxmlformats.org/drawingml/2006/table">
            <a:tbl>
              <a:tblPr/>
              <a:tblGrid>
                <a:gridCol w="4859655"/>
              </a:tblGrid>
              <a:tr h="18161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9395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395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034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9395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395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970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9395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395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034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9395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395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970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9395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395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034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9395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395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970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9395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395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970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9395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395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034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9395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395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970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9395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395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034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9395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395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970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9395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395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970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9395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395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034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9395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395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970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9395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395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161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9395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395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68" name="textbox 568"/>
          <p:cNvSpPr/>
          <p:nvPr/>
        </p:nvSpPr>
        <p:spPr>
          <a:xfrm>
            <a:off x="2725682" y="3644904"/>
            <a:ext cx="2543175" cy="1727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09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tabLst/>
            </a:pPr>
            <a:r>
              <a:rPr sz="500" b="1" kern="0" spc="1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46                                  </a:t>
            </a:r>
            <a:r>
              <a:rPr sz="500" b="1" kern="0" spc="0" dirty="0">
                <a:solidFill>
                  <a:srgbClr val="231F20">
                    <a:alpha val="100000"/>
                  </a:srgbClr>
                </a:solidFill>
                <a:latin typeface="Arial Narrow"/>
                <a:ea typeface="Arial Narrow"/>
                <a:cs typeface="Arial Narrow"/>
              </a:rPr>
              <a:t>                                                                              </a:t>
            </a:r>
            <a:r>
              <a:rPr sz="1000" u="sng" kern="0" spc="0" dirty="0">
                <a:solidFill>
                  <a:srgbClr val="0E3654">
                    <a:alpha val="100000"/>
                  </a:srgbClr>
                </a:solidFill>
                <a:latin typeface="Arial"/>
                <a:ea typeface="Arial"/>
                <a:cs typeface="Arial"/>
              </a:rPr>
              <a:t>intacs</a:t>
            </a:r>
            <a:r>
              <a:rPr sz="1000" u="sng" kern="0" spc="0" dirty="0">
                <a:solidFill>
                  <a:srgbClr val="0E3654">
                    <a:alpha val="100000"/>
                  </a:srgbClr>
                </a:solidFill>
                <a:latin typeface="Arial"/>
                <a:ea typeface="Arial"/>
                <a:cs typeface="Arial"/>
              </a:rPr>
              <a:t>.</a:t>
            </a:r>
            <a:r>
              <a:rPr sz="1000" u="sng" kern="0" spc="-170" dirty="0">
                <a:solidFill>
                  <a:srgbClr val="0E365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u="sng" kern="0" spc="0" dirty="0">
                <a:solidFill>
                  <a:srgbClr val="0E3654">
                    <a:alpha val="100000"/>
                  </a:srgbClr>
                </a:solidFill>
                <a:latin typeface="Arial"/>
                <a:ea typeface="Arial"/>
                <a:cs typeface="Arial"/>
              </a:rPr>
              <a:t>infoul</a:t>
            </a:r>
            <a:r>
              <a:rPr sz="1000" kern="0" spc="0" dirty="0">
                <a:solidFill>
                  <a:srgbClr val="0E3654">
                    <a:alpha val="100000"/>
                  </a:srgbClr>
                </a:solidFill>
                <a:latin typeface="Arial"/>
                <a:ea typeface="Arial"/>
                <a:cs typeface="Arial"/>
              </a:rPr>
              <a:t>al</a:t>
            </a:r>
            <a:endParaRPr sz="1000" dirty="0">
              <a:latin typeface="Arial"/>
              <a:ea typeface="Arial"/>
              <a:cs typeface="Arial"/>
            </a:endParaRPr>
          </a:p>
        </p:txBody>
      </p:sp>
      <p:sp>
        <p:nvSpPr>
          <p:cNvPr id="570" name="textbox 570"/>
          <p:cNvSpPr/>
          <p:nvPr/>
        </p:nvSpPr>
        <p:spPr>
          <a:xfrm>
            <a:off x="5226288" y="3775564"/>
            <a:ext cx="41275" cy="419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26"/>
              </a:lnSpc>
              <a:tabLst/>
            </a:pPr>
            <a:r>
              <a:rPr sz="100" kern="0" spc="20" dirty="0">
                <a:solidFill>
                  <a:srgbClr val="0E3654">
                    <a:alpha val="100000"/>
                  </a:srgbClr>
                </a:solidFill>
                <a:latin typeface="Arial"/>
                <a:ea typeface="Arial"/>
                <a:cs typeface="Arial"/>
              </a:rPr>
              <a:t>M</a:t>
            </a:r>
            <a:endParaRPr sz="100" dirty="0"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2" name="picture 57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295732"/>
            <a:ext cx="5541264" cy="370027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satMod val="110000"/>
                <a:lum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satMod val="105000"/>
                <a:lum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shade val="94000"/>
              </a:schemeClr>
            </a:gs>
            <a:gs pos="50000">
              <a:schemeClr val="phClr">
                <a:lumMod val="110000"/>
                <a:satMod val="100000"/>
                <a:tint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ap:Properties xmlns:vt="http://schemas.openxmlformats.org/officeDocument/2006/docPropsVTypes" xmlns:ap="http://schemas.openxmlformats.org/officeDocument/2006/extended-properties">
  <ap:Application>PDF24 Creator</ap:Application>
</ap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2026-08-17T20:43:42Z</dcterms:creat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O">
    <vt:lpwstr>wqlLaW5nc29mdCBQREYgdG8gV1BTIDEyMA</vt:lpwstr>
  </property>
  <property fmtid="{D5CDD505-2E9C-101B-9397-08002B2CF9AE}" pid="3" name="Created">
    <vt:filetime>2026-08-30T23:57:16</vt:filetime>
  </property>
</Properties>
</file>